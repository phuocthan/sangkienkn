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0fef36f55d4448" /><Relationship Type="http://schemas.openxmlformats.org/officeDocument/2006/relationships/extended-properties" Target="/docProps/app.xml" Id="Rb5bb11e5973a45b0" /><Relationship Type="http://schemas.openxmlformats.org/officeDocument/2006/relationships/officeDocument" Target="/ppt/presentation.xml" Id="R3cef7774af3d41a0"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6eea57db405e4a8d"/>
  </p:sldMasterIdLst>
  <p:notesMasterIdLst>
    <p:notesMasterId xmlns:r="http://schemas.openxmlformats.org/officeDocument/2006/relationships" r:id="R5f3e90e346f44458"/>
  </p:notesMasterIdLst>
  <p:sldIdLst>
    <p:sldId xmlns:r="http://schemas.openxmlformats.org/officeDocument/2006/relationships" id="256" r:id="Rbf1b0fd236924e65"/>
    <p:sldId xmlns:r="http://schemas.openxmlformats.org/officeDocument/2006/relationships" id="257" r:id="R852dbf6a9b9b46f6"/>
    <p:sldId xmlns:r="http://schemas.openxmlformats.org/officeDocument/2006/relationships" id="258" r:id="R0c7679d577114117"/>
    <p:sldId xmlns:r="http://schemas.openxmlformats.org/officeDocument/2006/relationships" id="259" r:id="Rf23cc38188134cc8"/>
    <p:sldId xmlns:r="http://schemas.openxmlformats.org/officeDocument/2006/relationships" id="260" r:id="Rb44947f5aecb42a7"/>
    <p:sldId xmlns:r="http://schemas.openxmlformats.org/officeDocument/2006/relationships" id="261" r:id="R59b2d7c4523645fc"/>
    <p:sldId xmlns:r="http://schemas.openxmlformats.org/officeDocument/2006/relationships" id="262" r:id="R0873d7cb3b7342b0"/>
    <p:sldId xmlns:r="http://schemas.openxmlformats.org/officeDocument/2006/relationships" id="263" r:id="R410d045f5b794f0b"/>
    <p:sldId xmlns:r="http://schemas.openxmlformats.org/officeDocument/2006/relationships" id="264" r:id="R9bfccaad11cc4a8c"/>
  </p:sldIdLst>
  <p:sldSz cx="18288000" cy="10287000"/>
  <p:notesSz cx="6858000" cy="9144000"/>
  <p:embeddedFontLst>
    <p:embeddedFont>
      <p:font typeface="Aptos Bold"/>
      <p:regular xmlns:r="http://schemas.openxmlformats.org/officeDocument/2006/relationships" r:id="R0aaaff7849df48c1"/>
    </p:embeddedFont>
    <p:embeddedFont>
      <p:font typeface="Aptos Italics"/>
      <p:regular xmlns:r="http://schemas.openxmlformats.org/officeDocument/2006/relationships" r:id="R2ba54c89d96544c2"/>
    </p:embeddedFont>
    <p:embeddedFont>
      <p:font typeface="Museo RMIT VN Bold"/>
      <p:regular xmlns:r="http://schemas.openxmlformats.org/officeDocument/2006/relationships" r:id="Rba334a8e853040e4"/>
    </p:embeddedFont>
    <p:embeddedFont>
      <p:font typeface="Museo RMIT VN Light"/>
      <p:regular xmlns:r="http://schemas.openxmlformats.org/officeDocument/2006/relationships" r:id="R31aa1791e7424c8b"/>
    </p:embeddedFont>
  </p:embeddedFontLst>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df766f4bbee4112" /><Relationship Type="http://schemas.openxmlformats.org/officeDocument/2006/relationships/slideMaster" Target="/ppt/slideMasters/slideMaster1.xml" Id="R6eea57db405e4a8d" /><Relationship Type="http://schemas.openxmlformats.org/officeDocument/2006/relationships/notesMaster" Target="/ppt/notesMasters/notesMaster1.xml" Id="R5f3e90e346f44458" /><Relationship Type="http://schemas.openxmlformats.org/officeDocument/2006/relationships/presProps" Target="/ppt/presProps.xml" Id="R9619bde373764ba9" /><Relationship Type="http://schemas.openxmlformats.org/officeDocument/2006/relationships/viewProps" Target="/ppt/viewProps.xml" Id="R5b6c764d5da04a11" /><Relationship Type="http://schemas.openxmlformats.org/officeDocument/2006/relationships/tableStyles" Target="/ppt/tableStyles.xml" Id="Rbb3f60c75c2642f4" /><Relationship Type="http://schemas.openxmlformats.org/officeDocument/2006/relationships/font" Target="/ppt/fonts/font.dat" Id="R0aaaff7849df48c1" /><Relationship Type="http://schemas.openxmlformats.org/officeDocument/2006/relationships/font" Target="/ppt/fonts/font2.dat" Id="R2ba54c89d96544c2" /><Relationship Type="http://schemas.openxmlformats.org/officeDocument/2006/relationships/font" Target="/ppt/fonts/font3.dat" Id="Rba334a8e853040e4" /><Relationship Type="http://schemas.openxmlformats.org/officeDocument/2006/relationships/font" Target="/ppt/fonts/font4.dat" Id="R31aa1791e7424c8b" /><Relationship Type="http://schemas.openxmlformats.org/officeDocument/2006/relationships/slide" Target="/ppt/slides/slide1.xml" Id="Rbf1b0fd236924e65" /><Relationship Type="http://schemas.openxmlformats.org/officeDocument/2006/relationships/slide" Target="/ppt/slides/slide2.xml" Id="R852dbf6a9b9b46f6" /><Relationship Type="http://schemas.openxmlformats.org/officeDocument/2006/relationships/slide" Target="/ppt/slides/slide3.xml" Id="R0c7679d577114117" /><Relationship Type="http://schemas.openxmlformats.org/officeDocument/2006/relationships/slide" Target="/ppt/slides/slide4.xml" Id="Rf23cc38188134cc8" /><Relationship Type="http://schemas.openxmlformats.org/officeDocument/2006/relationships/slide" Target="/ppt/slides/slide5.xml" Id="Rb44947f5aecb42a7" /><Relationship Type="http://schemas.openxmlformats.org/officeDocument/2006/relationships/slide" Target="/ppt/slides/slide6.xml" Id="R59b2d7c4523645fc" /><Relationship Type="http://schemas.openxmlformats.org/officeDocument/2006/relationships/slide" Target="/ppt/slides/slide7.xml" Id="R0873d7cb3b7342b0" /><Relationship Type="http://schemas.openxmlformats.org/officeDocument/2006/relationships/slide" Target="/ppt/slides/slide8.xml" Id="R410d045f5b794f0b" /><Relationship Type="http://schemas.openxmlformats.org/officeDocument/2006/relationships/slide" Target="/ppt/slides/slide9.xml" Id="R9bfccaad11cc4a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f3ee658fdf4e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82c71cf7cb44ba" /><Relationship Type="http://schemas.openxmlformats.org/officeDocument/2006/relationships/notesMaster" Target="/ppt/notesMasters/notesMaster1.xml" Id="Re73048c4438945c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664ce0e7794db9" /><Relationship Type="http://schemas.openxmlformats.org/officeDocument/2006/relationships/notesMaster" Target="/ppt/notesMasters/notesMaster1.xml" Id="R540cc4e1cb4249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3bf0286eff48ed" /><Relationship Type="http://schemas.openxmlformats.org/officeDocument/2006/relationships/notesMaster" Target="/ppt/notesMasters/notesMaster1.xml" Id="Rcbab5dadbaa245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da7983da3340be" /><Relationship Type="http://schemas.openxmlformats.org/officeDocument/2006/relationships/notesMaster" Target="/ppt/notesMasters/notesMaster1.xml" Id="Rc4ea08644abc48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147c2dc8e6fa49fa" /><Relationship Type="http://schemas.openxmlformats.org/officeDocument/2006/relationships/notesMaster" Target="/ppt/notesMasters/notesMaster1.xml" Id="R11fb4d62f0f340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dcf43a33be468c" /><Relationship Type="http://schemas.openxmlformats.org/officeDocument/2006/relationships/notesMaster" Target="/ppt/notesMasters/notesMaster1.xml" Id="R9ff395a30e5742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6c107cf575438e" /><Relationship Type="http://schemas.openxmlformats.org/officeDocument/2006/relationships/notesMaster" Target="/ppt/notesMasters/notesMaster1.xml" Id="Rd007ad0783604c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903acd2b5c064dce" /><Relationship Type="http://schemas.openxmlformats.org/officeDocument/2006/relationships/notesMaster" Target="/ppt/notesMasters/notesMaster1.xml" Id="R5001058472b141fd" /></Relationships>
</file>

<file path=ppt/notesSlides/_rels/notesSlide9.xml.rels>&#65279;<?xml version="1.0" encoding="utf-8"?><Relationships xmlns="http://schemas.openxmlformats.org/package/2006/relationships"><Relationship Type="http://schemas.openxmlformats.org/officeDocument/2006/relationships/slide" Target="/ppt/slides/slide9.xml" Id="R0c5b02f6ceed418c" /><Relationship Type="http://schemas.openxmlformats.org/officeDocument/2006/relationships/notesMaster" Target="/ppt/notesMasters/notesMaster1.xml" Id="R3e6862830fc745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Tên, chức danh, đơn vị và email do tác giả Nguyễn Thị Thanh Phương cung cấp trong hội thoại ngày 12/10/2026. Nội dung báo cáo về dự án GreenEdu. Sử dụng trực tiếp mẫu “Mẫu Slide 2026.pptx”; giữ hệ thống nhận diện và phong cách của mẫu. Logo trường: public/assets/nguyen-khuyen-background.png.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Cấu trúc trình bày bám 9 slide của mẫu. Hình bên trái là minh họa tạo bằng ImageGen cho poster GreenEdu trước đó, không phải ảnh một hoạt động thực tế của lớp học. Nguồn nội dung: docs/requirements-original.md, docs/project-status.md và docs/session-handoff.md tại ngày 12/10/2026.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luồng được mô tả theo docs/learning.md, docs/student-levels.md và docs/group-activities.md. Tiến độ cây được tính theo từng chương; chưa cộng gộp thành điểm tổng của mọi chương. Ảnh là kết quả kiểm thử với tài khoản mẫu, không chứa minh chứng điểm số của học sinh thật. Nguồn ảnh: .local/notebook-shortcut-e2e-results/.../notebook-filter.png.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Bối cảnh nêu nhu cầu thiết kế và mục tiêu của dự án, không phải kết quả một khảo sát định lượng đã thực hiện. Nguồn: docs/requirements-original.md, docs/learning.md, docs/student-levels.md. Hình: tài sản dự án public/assets/knowledge-garden-v1.png.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hiện hỗ trợ quá trình xây dựng sản phẩm và tài liệu trong hội thoại: Codex cho phát triển phần mềm; ImageGen cho poster/minh họa. Không tuyên bố đã tích hợp gia sư AI chạy trong ứng dụng. Phân hệ Thần Rừng/gia sư AI là định hướng trong docs/requirements-original.md, chưa hoàn thành theo docs/project-status.md. Nhãn chủ đề là thông tin tham khảo của câu hỏi, không tạo thêm bài học. Nguồn: docs/question-bank.md. Ảnh import Word là kết quả kiểm thử riêng, .local/topic-e2e-results/.../topic-word-preview.png; chỉ cắt vùng giao diện để tăng khả năng đọc. Giáo viên cần kiểm duyệt câu hỏi trước khi dùng với lớp.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quy mô 47 học sinh, 4 chương/26 bài: docs/session-handoff.md và docs/project-status.md ngày 12/10/2026. 47 là số tài khoản đã cấp, không khẳng định 47 học sinh đã học thường xuyên hoặc đạt hiệu quả. Quy mô nội dung Vật lý chính thức không tính bài bổ sung thử nghiệm. Ứng dụng Railway: https://greenedu.up.railway.app/. Theo docs/dev-railway.md, frontend local làm việc với API Railway; một số thay đổi backend trong checkout chưa được triển khai Railway. Ảnh .local/fenced-garden-crowd-desktop.png sử dụng tên và tiến độ mẫu của ca kiểm thử, không phải sản phẩm hoặc điểm của học sinh thật.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Đầu ra chức năng: docs/question-bank.md, docs/learning.md, docs/group-activities.md và docs/project-status.md. Bộ 50 câu Bài 1 Dao động điều hòa có 10 nhãn chủ đề đã được tạo trong đợt làm việc trước; ảnh là trang đầu file Word được render, .local/bai-1-questions/final-1500-01.png. Phân biệt kiểm thử chức năng với đánh giá hiệu quả giáo dục. Chưa có khảo sát trước/sau, phản hồi định lượng hay dữ liệu điểm số cho phép kết luận tác động học tập; không dùng các tỷ lệ kỳ vọng trong đề án gốc làm kết quả thực tế. Không khẳng định bộ câu hỏi đã được nhập vào 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docs/question-bank.md, docs/learning.md, docs/project-status.md. Cân bằng theo nhãn chủ đề đã có mã và kiểm thử; mức hiện diện trên Railway phụ thuộc triển khai backend, không suy diễn từ code local thành chức năng production. Kế hoạch đo hiệu quả là đề xuất đánh giá tiếp theo, chưa phải kết quả. Các cảnh báo chống gian lận và gia sư AI cần hoàn thiện; không tuyên bố chức năng bảo đảm chống gian lận đầy đủ. Khả năng nhân rộng là định hướng, cần giáo viên kiểm duyệt ngân hàng phù hợp môn/lớp.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Đường dẫn công khai của ứng dụng: https://greenedu.up.railway.app/. Ứng dụng yêu cầu tài khoản được cấp. Email tác giả do người dùng cung cấp ngày 12/10/2026. Poster: artifacts/posters/greenedu-hoc-sinh-qr-lon.png và bản PDF A3 trong cùng thư mục. QR: artifacts/posters/greenedu-qr.png đã tạo cho URL này. Bộ câu hỏi và tài liệu dự án được lưu cục bộ; chưa có đường dẫn thư mục công khai. Các tài liệu tham chiếu: docs/question-bank.md, docs/learning.md, docs/group-activities.md, docs/student-levels.md, docs/project-status.md và docs/session-handoff.md. Không đưa đường dẫn chia sẻ giả.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aeb218c746407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483935a21834f9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0100c541ed1492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864b22f41ec4d4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440ecfc8188491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feeb3768db844a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eb361a14c464be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1f1ff916121416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0f3dfd51a054f4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ffe2a2e768c4b3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278808b64524199"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D1FB28A-B57A-4B13-ACD6-76EC29EA811B}"/>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E8D01E42-E7F5-46D0-B157-D8149A66089B}"/>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1A74B748-8BA8-4F88-9DC7-83C6BFF7F30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10/2/2026</a:t>
            </a:fld>
            <a:endParaRPr/>
          </a:p>
        </p:txBody>
      </p:sp>
      <p:sp>
        <p:nvSpPr>
          <p:cNvPr id="5" name="Footer Placeholder 4">
            <a:extLst xmlns:a="http://schemas.openxmlformats.org/drawingml/2006/main">
              <a:ext uri="{FF2B5EF4-FFF2-40B4-BE49-F238E27FC236}">
                <a16:creationId xmlns:a16="http://schemas.microsoft.com/office/drawing/2014/main" id="{0D231DD6-7341-4E07-A8ED-DB1D74DB284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C0F5119-914F-4280-9809-6E13DCE3CE6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1E15598-AAFC-4346-A73E-B4AEE378C45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1051EC04-F484-4645-8429-771E1A7F7A2E}"/>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43AE53A-7D23-4189-A7A5-18AE77697C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10/2/2026</a:t>
            </a:fld>
            <a:endParaRPr/>
          </a:p>
        </p:txBody>
      </p:sp>
      <p:sp>
        <p:nvSpPr>
          <p:cNvPr id="5" name="Footer Placeholder 4">
            <a:extLst xmlns:a="http://schemas.openxmlformats.org/drawingml/2006/main">
              <a:ext uri="{FF2B5EF4-FFF2-40B4-BE49-F238E27FC236}">
                <a16:creationId xmlns:a16="http://schemas.microsoft.com/office/drawing/2014/main" id="{DFE05D5E-E531-41DA-A9EB-B5AC6D69F44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18F4C78-97B4-4982-8C92-CA54C635597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53D2AFC-FC2C-4F27-9DE3-65BAF09B431A}"/>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3E68883F-F559-45C2-B014-E34CC561EED0}"/>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B9960EB2-C1B1-491F-8623-01DAD5CB6D7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10/2/2026</a:t>
            </a:fld>
            <a:endParaRPr/>
          </a:p>
        </p:txBody>
      </p:sp>
      <p:sp>
        <p:nvSpPr>
          <p:cNvPr id="5" name="Footer Placeholder 4">
            <a:extLst xmlns:a="http://schemas.openxmlformats.org/drawingml/2006/main">
              <a:ext uri="{FF2B5EF4-FFF2-40B4-BE49-F238E27FC236}">
                <a16:creationId xmlns:a16="http://schemas.microsoft.com/office/drawing/2014/main" id="{A7F94034-08C2-4265-B421-2A2358392F4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0B36CDE-5540-4425-8E78-F9D885154A8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82F355A-8F64-4F86-8B00-420817989D1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D53A1CBA-B29E-4DB6-B270-C6A36AB90A01}"/>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BB58ED2A-8A14-4EDA-A593-E7A4F2C266F8}"/>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3CE507C3-7C7B-4EA7-9958-1E7587288B7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10/2/2026</a:t>
            </a:fld>
            <a:endParaRPr/>
          </a:p>
        </p:txBody>
      </p:sp>
      <p:sp>
        <p:nvSpPr>
          <p:cNvPr id="6" name="Footer Placeholder 5">
            <a:extLst xmlns:a="http://schemas.openxmlformats.org/drawingml/2006/main">
              <a:ext uri="{FF2B5EF4-FFF2-40B4-BE49-F238E27FC236}">
                <a16:creationId xmlns:a16="http://schemas.microsoft.com/office/drawing/2014/main" id="{E90F69C6-10AE-430B-ADBB-42A3F9634FC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AFB0F94-5068-424C-8D00-D771409F611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B8AF469-2C6A-4D92-949D-1651B3B3FFE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2BC20DBB-C028-43D2-A563-AD0486664D78}"/>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01A130E-76E3-4AA3-8FCC-C89D56FD6268}"/>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8FB808C4-E64F-4462-B285-646AA17B672D}"/>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B953D698-93FB-458D-B8EF-5B83F6A317E4}"/>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696362C5-4465-4D6F-8B68-9C8435840B6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10/2/2026</a:t>
            </a:fld>
            <a:endParaRPr/>
          </a:p>
        </p:txBody>
      </p:sp>
      <p:sp>
        <p:nvSpPr>
          <p:cNvPr id="8" name="Footer Placeholder 7">
            <a:extLst xmlns:a="http://schemas.openxmlformats.org/drawingml/2006/main">
              <a:ext uri="{FF2B5EF4-FFF2-40B4-BE49-F238E27FC236}">
                <a16:creationId xmlns:a16="http://schemas.microsoft.com/office/drawing/2014/main" id="{55973F05-8AA8-4C8A-8B4A-4F59A1D8AEE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3B5C09BC-FB1C-411B-9248-B9EB7244E74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CA3116D-08DB-47D6-81A3-2EA19BF9FA9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5A46C917-11EA-4853-95FB-B802FBE5DF2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10/2/2026</a:t>
            </a:fld>
            <a:endParaRPr/>
          </a:p>
        </p:txBody>
      </p:sp>
      <p:sp>
        <p:nvSpPr>
          <p:cNvPr id="4" name="Footer Placeholder 3">
            <a:extLst xmlns:a="http://schemas.openxmlformats.org/drawingml/2006/main">
              <a:ext uri="{FF2B5EF4-FFF2-40B4-BE49-F238E27FC236}">
                <a16:creationId xmlns:a16="http://schemas.microsoft.com/office/drawing/2014/main" id="{1DF43A44-A79A-4906-AB46-0D2608C374B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8FBB6364-5212-426C-852E-445A9900D5C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0DC57AF-AB28-4BB2-85C9-3CDFDA85B80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10/2/2026</a:t>
            </a:fld>
            <a:endParaRPr/>
          </a:p>
        </p:txBody>
      </p:sp>
      <p:sp>
        <p:nvSpPr>
          <p:cNvPr id="3" name="Footer Placeholder 2">
            <a:extLst xmlns:a="http://schemas.openxmlformats.org/drawingml/2006/main">
              <a:ext uri="{FF2B5EF4-FFF2-40B4-BE49-F238E27FC236}">
                <a16:creationId xmlns:a16="http://schemas.microsoft.com/office/drawing/2014/main" id="{F8DDB0F6-6730-436B-A957-AFC47CDED25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1E2BD50D-EA4D-4C24-A7EB-B1109284498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7F247CB-9545-4501-85C0-5568AAC12AD1}"/>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FF8142C2-82FF-479A-B489-8BA7AE7965F1}"/>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0FB300DF-91BC-471E-AF59-28870AEF904E}"/>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2AEA42F5-C7C2-49CF-80CB-D4E0EE42F9A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10/2/2026</a:t>
            </a:fld>
            <a:endParaRPr/>
          </a:p>
        </p:txBody>
      </p:sp>
      <p:sp>
        <p:nvSpPr>
          <p:cNvPr id="6" name="Footer Placeholder 5">
            <a:extLst xmlns:a="http://schemas.openxmlformats.org/drawingml/2006/main">
              <a:ext uri="{FF2B5EF4-FFF2-40B4-BE49-F238E27FC236}">
                <a16:creationId xmlns:a16="http://schemas.microsoft.com/office/drawing/2014/main" id="{A6459991-CD30-4DE8-B2C2-EF67D7729D9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A53422E-2327-4216-8940-3CFF339B910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4A49F11-4C51-4406-B5E1-FB5CE03DBF4E}"/>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7B7B3AA6-F58E-4FE8-B9E4-1D5F482A1F9C}"/>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C67AB6E7-C34D-45C0-B8C7-467CC1838BA5}"/>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6A4B2395-6E45-43AA-A9FB-A71D003E354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10/2/2026</a:t>
            </a:fld>
            <a:endParaRPr/>
          </a:p>
        </p:txBody>
      </p:sp>
      <p:sp>
        <p:nvSpPr>
          <p:cNvPr id="6" name="Footer Placeholder 5">
            <a:extLst xmlns:a="http://schemas.openxmlformats.org/drawingml/2006/main">
              <a:ext uri="{FF2B5EF4-FFF2-40B4-BE49-F238E27FC236}">
                <a16:creationId xmlns:a16="http://schemas.microsoft.com/office/drawing/2014/main" id="{FADB0C8C-9017-4780-BE25-9E5A0655BC7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322BD4D-9D96-495F-90A3-C67494B128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B9AC3F5-CD92-493D-8716-21398996E69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CB9BEDB1-8BEF-45E2-AE17-A29A1C395293}"/>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A6F55157-004C-49A5-9ED6-EC3464ED097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10/2/2026</a:t>
            </a:fld>
            <a:endParaRPr/>
          </a:p>
        </p:txBody>
      </p:sp>
      <p:sp>
        <p:nvSpPr>
          <p:cNvPr id="5" name="Footer Placeholder 4">
            <a:extLst xmlns:a="http://schemas.openxmlformats.org/drawingml/2006/main">
              <a:ext uri="{FF2B5EF4-FFF2-40B4-BE49-F238E27FC236}">
                <a16:creationId xmlns:a16="http://schemas.microsoft.com/office/drawing/2014/main" id="{B8E51B8D-918E-4722-A2B1-9A6524FF8F6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6DC139E-A97E-4106-8C95-CED23EBCA11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B124250-A150-4F49-A4FB-C7C5C413F433}"/>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B192B579-B5B1-4078-BB78-307A8EB7C014}"/>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369E379-5D16-4F07-8A23-62B62F2A829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10/2/2026</a:t>
            </a:fld>
            <a:endParaRPr/>
          </a:p>
        </p:txBody>
      </p:sp>
      <p:sp>
        <p:nvSpPr>
          <p:cNvPr id="5" name="Footer Placeholder 4">
            <a:extLst xmlns:a="http://schemas.openxmlformats.org/drawingml/2006/main">
              <a:ext uri="{FF2B5EF4-FFF2-40B4-BE49-F238E27FC236}">
                <a16:creationId xmlns:a16="http://schemas.microsoft.com/office/drawing/2014/main" id="{C29F3CCA-7ED3-478C-A1AF-EA3297B943D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1C4E431-4E35-469F-AD76-76DFC4C6CA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b4158fdf8a4aa6" /><Relationship Type="http://schemas.openxmlformats.org/officeDocument/2006/relationships/slideLayout" Target="/ppt/slideLayouts/slideLayout1.xml" Id="R85f9b42d34c34126" /><Relationship Type="http://schemas.openxmlformats.org/officeDocument/2006/relationships/slideLayout" Target="/ppt/slideLayouts/slideLayout2.xml" Id="R157d608c01164f06" /><Relationship Type="http://schemas.openxmlformats.org/officeDocument/2006/relationships/slideLayout" Target="/ppt/slideLayouts/slideLayout3.xml" Id="R85bbee820f04423c" /><Relationship Type="http://schemas.openxmlformats.org/officeDocument/2006/relationships/slideLayout" Target="/ppt/slideLayouts/slideLayout4.xml" Id="Rd4cad38d5b4840f4" /><Relationship Type="http://schemas.openxmlformats.org/officeDocument/2006/relationships/slideLayout" Target="/ppt/slideLayouts/slideLayout5.xml" Id="Rd492fe8eb2c64cd6" /><Relationship Type="http://schemas.openxmlformats.org/officeDocument/2006/relationships/slideLayout" Target="/ppt/slideLayouts/slideLayout6.xml" Id="R1ae46acd7eee48ad" /><Relationship Type="http://schemas.openxmlformats.org/officeDocument/2006/relationships/slideLayout" Target="/ppt/slideLayouts/slideLayout7.xml" Id="R629091e1880a47df" /><Relationship Type="http://schemas.openxmlformats.org/officeDocument/2006/relationships/slideLayout" Target="/ppt/slideLayouts/slideLayout8.xml" Id="R0d2313b9b0f54e62" /><Relationship Type="http://schemas.openxmlformats.org/officeDocument/2006/relationships/slideLayout" Target="/ppt/slideLayouts/slideLayout9.xml" Id="Re952959b74ab4b43" /><Relationship Type="http://schemas.openxmlformats.org/officeDocument/2006/relationships/slideLayout" Target="/ppt/slideLayouts/slideLayout10.xml" Id="Rda79646bedbb4368" /><Relationship Type="http://schemas.openxmlformats.org/officeDocument/2006/relationships/slideLayout" Target="/ppt/slideLayouts/slideLayout11.xml" Id="R0e96583caf3e4f18"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8EF9C20E-F2E6-46A7-8A32-70CC42B76B60}"/>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7EA3AB5-C2E9-4D1E-874A-E1681780BCE2}"/>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5AE78E1-C257-4F21-ABE9-8BCCCE8D728E}"/>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10/2/2026</a:t>
            </a:fld>
            <a:endParaRPr/>
          </a:p>
        </p:txBody>
      </p:sp>
      <p:sp>
        <p:nvSpPr>
          <p:cNvPr id="5" name="Footer Placeholder 4">
            <a:extLst xmlns:a="http://schemas.openxmlformats.org/drawingml/2006/main">
              <a:ext uri="{FF2B5EF4-FFF2-40B4-BE49-F238E27FC236}">
                <a16:creationId xmlns:a16="http://schemas.microsoft.com/office/drawing/2014/main" id="{DBBA6A6A-E139-4774-A1B4-29241BA335DA}"/>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16C59A3-7354-41C5-848F-3C63A351F147}"/>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5f9b42d34c34126"/>
    <p:sldLayoutId xmlns:r="http://schemas.openxmlformats.org/officeDocument/2006/relationships" id="2147483650" r:id="R157d608c01164f06"/>
    <p:sldLayoutId xmlns:r="http://schemas.openxmlformats.org/officeDocument/2006/relationships" id="2147483651" r:id="R85bbee820f04423c"/>
    <p:sldLayoutId xmlns:r="http://schemas.openxmlformats.org/officeDocument/2006/relationships" id="2147483652" r:id="Rd4cad38d5b4840f4"/>
    <p:sldLayoutId xmlns:r="http://schemas.openxmlformats.org/officeDocument/2006/relationships" id="2147483653" r:id="Rd492fe8eb2c64cd6"/>
    <p:sldLayoutId xmlns:r="http://schemas.openxmlformats.org/officeDocument/2006/relationships" id="2147483654" r:id="R1ae46acd7eee48ad"/>
    <p:sldLayoutId xmlns:r="http://schemas.openxmlformats.org/officeDocument/2006/relationships" id="2147483655" r:id="R629091e1880a47df"/>
    <p:sldLayoutId xmlns:r="http://schemas.openxmlformats.org/officeDocument/2006/relationships" id="2147483656" r:id="R0d2313b9b0f54e62"/>
    <p:sldLayoutId xmlns:r="http://schemas.openxmlformats.org/officeDocument/2006/relationships" id="2147483657" r:id="Re952959b74ab4b43"/>
    <p:sldLayoutId xmlns:r="http://schemas.openxmlformats.org/officeDocument/2006/relationships" id="2147483658" r:id="Rda79646bedbb4368"/>
    <p:sldLayoutId xmlns:r="http://schemas.openxmlformats.org/officeDocument/2006/relationships" id="2147483659" r:id="R0e96583caf3e4f18"/>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9a79696d90f944b0" /><Relationship Type="http://schemas.openxmlformats.org/officeDocument/2006/relationships/image" Target="/ppt/media/image.png" Id="R766b1f7aab244eab" /><Relationship Type="http://schemas.openxmlformats.org/officeDocument/2006/relationships/image" Target="/ppt/media/image2.png" Id="Ra985702fbcec4ef6" /><Relationship Type="http://schemas.openxmlformats.org/officeDocument/2006/relationships/image" Target="/ppt/media/image3.png" Id="Rb3d16f6e00034f08" /><Relationship Type="http://schemas.openxmlformats.org/officeDocument/2006/relationships/image" Target="/ppt/media/image4.png" Id="R9653631e1f9d410d" /><Relationship Type="http://schemas.openxmlformats.org/officeDocument/2006/relationships/image" Target="/ppt/media/image5.png" Id="R6d5d1fd7a80a4372" /><Relationship Type="http://schemas.openxmlformats.org/officeDocument/2006/relationships/notesSlide" Target="/ppt/notesSlides/notesSlide1.xml" Id="Rfdfbc08e20c742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eb9614ad75314888" /><Relationship Type="http://schemas.openxmlformats.org/officeDocument/2006/relationships/image" Target="/ppt/media/image6.png" Id="Rde3c5c3286ae45d4" /><Relationship Type="http://schemas.openxmlformats.org/officeDocument/2006/relationships/image" Target="/ppt/media/image7.png" Id="Rde49bdcb935c49f8" /><Relationship Type="http://schemas.openxmlformats.org/officeDocument/2006/relationships/notesSlide" Target="/ppt/notesSlides/notesSlide2.xml" Id="Rede838a7141346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6916c85d67ed4c1e" /><Relationship Type="http://schemas.openxmlformats.org/officeDocument/2006/relationships/image" Target="/ppt/media/image8.png" Id="Rd78011560d7e44ab" /><Relationship Type="http://schemas.openxmlformats.org/officeDocument/2006/relationships/image" Target="/ppt/media/image9.png" Id="R0f739982b6024fd8" /><Relationship Type="http://schemas.openxmlformats.org/officeDocument/2006/relationships/notesSlide" Target="/ppt/notesSlides/notesSlide3.xml" Id="R8bdd8607f0ca4a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6dade0b5db05431c" /><Relationship Type="http://schemas.openxmlformats.org/officeDocument/2006/relationships/image" Target="/ppt/media/image8.png" Id="R042df55767d64426" /><Relationship Type="http://schemas.openxmlformats.org/officeDocument/2006/relationships/image" Target="/ppt/media/image10.png" Id="R0c37d860d32f4d3d" /><Relationship Type="http://schemas.openxmlformats.org/officeDocument/2006/relationships/notesSlide" Target="/ppt/notesSlides/notesSlide4.xml" Id="R44ee670c71a04f0a"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e7da18f4b9b84f91" /><Relationship Type="http://schemas.openxmlformats.org/officeDocument/2006/relationships/image" Target="/ppt/media/image11.png" Id="R670d92bfc90e4170" /><Relationship Type="http://schemas.openxmlformats.org/officeDocument/2006/relationships/image" Target="/ppt/media/image12.png" Id="R20cfb608f4654996" /><Relationship Type="http://schemas.openxmlformats.org/officeDocument/2006/relationships/notesSlide" Target="/ppt/notesSlides/notesSlide5.xml" Id="R948d1221500145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c09c76a9ea6c4b9e" /><Relationship Type="http://schemas.openxmlformats.org/officeDocument/2006/relationships/image" Target="/ppt/media/image11.png" Id="R6aeacf10cd684f37" /><Relationship Type="http://schemas.openxmlformats.org/officeDocument/2006/relationships/image" Target="/ppt/media/image13.png" Id="R7b47363132334f78" /><Relationship Type="http://schemas.openxmlformats.org/officeDocument/2006/relationships/notesSlide" Target="/ppt/notesSlides/notesSlide6.xml" Id="Ra6fb4617644549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f3d88d7012b842e4" /><Relationship Type="http://schemas.openxmlformats.org/officeDocument/2006/relationships/image" Target="/ppt/media/image8.png" Id="R4fb197c2a840426c" /><Relationship Type="http://schemas.openxmlformats.org/officeDocument/2006/relationships/image" Target="/ppt/media/image14.png" Id="R216b473fc0ad4a7a" /><Relationship Type="http://schemas.openxmlformats.org/officeDocument/2006/relationships/notesSlide" Target="/ppt/notesSlides/notesSlide7.xml" Id="R51a359ea7ae34d5d"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ae01fab8da0b4378" /><Relationship Type="http://schemas.openxmlformats.org/officeDocument/2006/relationships/image" Target="/ppt/media/image11.png" Id="R7e8a4b946cec4950" /><Relationship Type="http://schemas.openxmlformats.org/officeDocument/2006/relationships/notesSlide" Target="/ppt/notesSlides/notesSlide8.xml" Id="R504fafa0108844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f137fb720a6849b5" /><Relationship Type="http://schemas.openxmlformats.org/officeDocument/2006/relationships/image" Target="/ppt/media/image8.png" Id="R29a7548c47444dd2" /><Relationship Type="http://schemas.openxmlformats.org/officeDocument/2006/relationships/hyperlink" Target="https://greenedu.up.railway.app/" TargetMode="External" Id="Rf5ef77eeede04f2b" /><Relationship Type="http://schemas.openxmlformats.org/officeDocument/2006/relationships/image" Target="/ppt/media/image15.png" Id="R95fdcb974e594cce" /><Relationship Type="http://schemas.openxmlformats.org/officeDocument/2006/relationships/hyperlink" Target="mailto:thanhphuong.0402@gmail.com" TargetMode="External" Id="R19746e0bc0684cc5" /><Relationship Type="http://schemas.openxmlformats.org/officeDocument/2006/relationships/notesSlide" Target="/ppt/notesSlides/notesSlide9.xml" Id="Ra0403a5d435c450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0211CB18-6888-4FFE-B333-A66D5A29F881}"/>
              </a:ext>
            </a:extLst>
          </p:cNvPr>
          <p:cNvSpPr>
            <a:spLocks xmlns:a="http://schemas.openxmlformats.org/drawingml/2006/main" noGrp="1"/>
          </p:cNvSpPr>
          <p:nvPr/>
        </p:nvSpPr>
        <p:spPr>
          <a:xfrm xmlns:a="http://schemas.openxmlformats.org/drawingml/2006/main">
            <a:off x="1028700" y="6245707"/>
            <a:ext cx="16230600" cy="3012805"/>
          </a:xfrm>
          <a:custGeom xmlns:a="http://schemas.openxmlformats.org/drawingml/2006/main">
            <a:rect l="l" t="t" r="r" b="b"/>
            <a:pathLst>
              <a:path w="16230600" h="3012805">
                <a:moveTo>
                  <a:pt x="0" y="0"/>
                </a:moveTo>
                <a:lnTo>
                  <a:pt x="16230600" y="0"/>
                </a:lnTo>
                <a:lnTo>
                  <a:pt x="16230600" y="3012806"/>
                </a:lnTo>
                <a:lnTo>
                  <a:pt x="0" y="3012806"/>
                </a:lnTo>
                <a:lnTo>
                  <a:pt x="0" y="0"/>
                </a:lnTo>
                <a:close/>
              </a:path>
            </a:pathLst>
          </a:custGeom>
          <a:blipFill xmlns:a="http://schemas.openxmlformats.org/drawingml/2006/main">
            <a:blip xmlns:r="http://schemas.openxmlformats.org/officeDocument/2006/relationships" r:embed="R766b1f7aab244eab"/>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2DA8D066-00A0-46FD-8E9A-C0AFF230B89C}"/>
              </a:ext>
            </a:extLst>
          </p:cNvPr>
          <p:cNvSpPr>
            <a:spLocks xmlns:a="http://schemas.openxmlformats.org/drawingml/2006/main" noGrp="1"/>
          </p:cNvSpPr>
          <p:nvPr/>
        </p:nvSpPr>
        <p:spPr>
          <a:xfrm xmlns:a="http://schemas.openxmlformats.org/drawingml/2006/main" rot="0" flipH="0" flipV="0">
            <a:off x="3048000" y="6581775"/>
            <a:ext cx="5048250" cy="328676"/>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ctr">
              <a:defRPr sz="2400" b="1" i="0">
                <a:solidFill>
                  <a:srgbClr val="FFFFFF"/>
                </a:solidFill>
                <a:latin typeface="Museo RMIT VN Bold"/>
                <a:ea typeface="Museo RMIT VN Bold"/>
                <a:cs typeface="Museo RMIT VN Bold"/>
              </a:defRPr>
            </a:defPPr>
          </a:lstStyle>
          <a:p xmlns:a="http://schemas.openxmlformats.org/drawingml/2006/main">
            <a:pPr algn="ctr">
              <a:lnSpc>
                <a:spcPts val="2588"/>
              </a:lnSpc>
              <a:buNone/>
              <a:defRPr sz="2400" b="1" i="0">
                <a:solidFill>
                  <a:srgbClr val="FFFFFF"/>
                </a:solidFill>
                <a:latin typeface="Museo RMIT VN Bold"/>
                <a:ea typeface="Museo RMIT VN Bold"/>
                <a:cs typeface="Museo RMIT VN Bold"/>
              </a:defRPr>
            </a:pPr>
            <a:r>
              <a:rPr sz="2400" b="1" i="0" spc="79">
                <a:solidFill>
                  <a:srgbClr val="FFFFFF"/>
                </a:solidFill>
                <a:latin typeface="Museo RMIT VN Bold"/>
                <a:ea typeface="Museo RMIT VN Bold"/>
                <a:cs typeface="Museo RMIT VN Bold"/>
              </a:rPr>
              <a:t>Giáo viên thực hiện</a:t>
            </a:r>
          </a:p>
        </p:txBody>
      </p:sp>
      <p:sp>
        <p:nvSpPr>
          <p:cNvPr id="5" name="TextBox 5">
            <a:extLst xmlns:a="http://schemas.openxmlformats.org/drawingml/2006/main">
              <a:ext uri="{FF2B5EF4-FFF2-40B4-BE49-F238E27FC236}">
                <a16:creationId xmlns:a16="http://schemas.microsoft.com/office/drawing/2014/main" id="{2A1B5B73-FCF9-4927-A5E0-170B45D90546}"/>
              </a:ext>
            </a:extLst>
          </p:cNvPr>
          <p:cNvSpPr>
            <a:spLocks xmlns:a="http://schemas.openxmlformats.org/drawingml/2006/main" noGrp="1"/>
          </p:cNvSpPr>
          <p:nvPr/>
        </p:nvSpPr>
        <p:spPr>
          <a:xfrm xmlns:a="http://schemas.openxmlformats.org/drawingml/2006/main" rot="0" flipH="0" flipV="0">
            <a:off x="2857500" y="8420100"/>
            <a:ext cx="5476875" cy="328676"/>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ctr">
              <a:defRPr sz="2700" b="0" i="0">
                <a:solidFill>
                  <a:srgbClr val="FFEA00"/>
                </a:solidFill>
                <a:latin typeface="Museo RMIT VN Light"/>
                <a:ea typeface="Museo RMIT VN Light"/>
                <a:cs typeface="Museo RMIT VN Light"/>
              </a:defRPr>
            </a:defPPr>
          </a:lstStyle>
          <a:p xmlns:a="http://schemas.openxmlformats.org/drawingml/2006/main">
            <a:pPr algn="ctr">
              <a:lnSpc>
                <a:spcPts val="2588"/>
              </a:lnSpc>
              <a:buNone/>
              <a:defRPr sz="2700" b="0" i="0">
                <a:solidFill>
                  <a:srgbClr val="FFEA00"/>
                </a:solidFill>
                <a:latin typeface="Museo RMIT VN Light"/>
                <a:ea typeface="Museo RMIT VN Light"/>
                <a:cs typeface="Museo RMIT VN Light"/>
              </a:defRPr>
            </a:pPr>
            <a:r>
              <a:rPr sz="2700" b="0" i="0">
                <a:solidFill>
                  <a:srgbClr val="FFEA00"/>
                </a:solidFill>
                <a:latin typeface="Museo RMIT VN Light"/>
                <a:ea typeface="Museo RMIT VN Light"/>
                <a:cs typeface="Museo RMIT VN Light"/>
              </a:rPr>
              <a:t>Nguyễn Thị Thanh Phương</a:t>
            </a:r>
          </a:p>
        </p:txBody>
      </p:sp>
      <p:sp>
        <p:nvSpPr>
          <p:cNvPr id="8" name="Freeform 8">
            <a:extLst xmlns:a="http://schemas.openxmlformats.org/drawingml/2006/main">
              <a:ext uri="{FF2B5EF4-FFF2-40B4-BE49-F238E27FC236}">
                <a16:creationId xmlns:a16="http://schemas.microsoft.com/office/drawing/2014/main" id="{10470C73-B24C-4899-8DAE-858334642DD8}"/>
              </a:ext>
            </a:extLst>
          </p:cNvPr>
          <p:cNvSpPr>
            <a:spLocks xmlns:a="http://schemas.openxmlformats.org/drawingml/2006/main" noGrp="1"/>
          </p:cNvSpPr>
          <p:nvPr/>
        </p:nvSpPr>
        <p:spPr>
          <a:xfrm xmlns:a="http://schemas.openxmlformats.org/drawingml/2006/main">
            <a:off x="589229" y="5696988"/>
            <a:ext cx="1654581" cy="1854195"/>
          </a:xfrm>
          <a:custGeom xmlns:a="http://schemas.openxmlformats.org/drawingml/2006/main">
            <a:rect l="l" t="t" r="r" b="b"/>
            <a:pathLst>
              <a:path w="1654581" h="1854195">
                <a:moveTo>
                  <a:pt x="0" y="0"/>
                </a:moveTo>
                <a:lnTo>
                  <a:pt x="1654581" y="0"/>
                </a:lnTo>
                <a:lnTo>
                  <a:pt x="1654581" y="1854195"/>
                </a:lnTo>
                <a:lnTo>
                  <a:pt x="0" y="1854195"/>
                </a:lnTo>
                <a:lnTo>
                  <a:pt x="0" y="0"/>
                </a:lnTo>
                <a:close/>
              </a:path>
            </a:pathLst>
          </a:custGeom>
          <a:blipFill xmlns:a="http://schemas.openxmlformats.org/drawingml/2006/main">
            <a:blip xmlns:r="http://schemas.openxmlformats.org/officeDocument/2006/relationships" r:embed="Ra985702fbcec4ef6"/>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9" name="Freeform 9">
            <a:extLst xmlns:a="http://schemas.openxmlformats.org/drawingml/2006/main">
              <a:ext uri="{FF2B5EF4-FFF2-40B4-BE49-F238E27FC236}">
                <a16:creationId xmlns:a16="http://schemas.microsoft.com/office/drawing/2014/main" id="{A7EA9C9F-A2D7-4A63-8DA3-905FDB94CD49}"/>
              </a:ext>
            </a:extLst>
          </p:cNvPr>
          <p:cNvSpPr>
            <a:spLocks xmlns:a="http://schemas.openxmlformats.org/drawingml/2006/main" noGrp="1"/>
          </p:cNvSpPr>
          <p:nvPr/>
        </p:nvSpPr>
        <p:spPr>
          <a:xfrm xmlns:a="http://schemas.openxmlformats.org/drawingml/2006/main">
            <a:off x="0" y="0"/>
            <a:ext cx="18288000" cy="2880360"/>
          </a:xfrm>
          <a:custGeom xmlns:a="http://schemas.openxmlformats.org/drawingml/2006/main">
            <a:rect l="l" t="t" r="r" b="b"/>
            <a:pathLst>
              <a:path w="18288000" h="2880360">
                <a:moveTo>
                  <a:pt x="0" y="0"/>
                </a:moveTo>
                <a:lnTo>
                  <a:pt x="18288000" y="0"/>
                </a:lnTo>
                <a:lnTo>
                  <a:pt x="18288000" y="2880360"/>
                </a:lnTo>
                <a:lnTo>
                  <a:pt x="0" y="2880360"/>
                </a:lnTo>
                <a:lnTo>
                  <a:pt x="0" y="0"/>
                </a:lnTo>
                <a:close/>
              </a:path>
            </a:pathLst>
          </a:custGeom>
          <a:blipFill xmlns:a="http://schemas.openxmlformats.org/drawingml/2006/main">
            <a:blip xmlns:r="http://schemas.openxmlformats.org/officeDocument/2006/relationships" r:embed="Rb3d16f6e00034f08"/>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10" name="Freeform 10">
            <a:extLst xmlns:a="http://schemas.openxmlformats.org/drawingml/2006/main">
              <a:ext uri="{FF2B5EF4-FFF2-40B4-BE49-F238E27FC236}">
                <a16:creationId xmlns:a16="http://schemas.microsoft.com/office/drawing/2014/main" id="{EB56A0E3-5059-4DD1-96FB-413930831D19}"/>
              </a:ext>
            </a:extLst>
          </p:cNvPr>
          <p:cNvSpPr>
            <a:spLocks xmlns:a="http://schemas.openxmlformats.org/drawingml/2006/main" noGrp="1"/>
          </p:cNvSpPr>
          <p:nvPr/>
        </p:nvSpPr>
        <p:spPr>
          <a:xfrm xmlns:a="http://schemas.openxmlformats.org/drawingml/2006/main">
            <a:off x="0" y="0"/>
            <a:ext cx="18288000" cy="2880360"/>
          </a:xfrm>
          <a:custGeom xmlns:a="http://schemas.openxmlformats.org/drawingml/2006/main">
            <a:rect l="l" t="t" r="r" b="b"/>
            <a:pathLst>
              <a:path w="18288000" h="2880360">
                <a:moveTo>
                  <a:pt x="0" y="0"/>
                </a:moveTo>
                <a:lnTo>
                  <a:pt x="18288000" y="0"/>
                </a:lnTo>
                <a:lnTo>
                  <a:pt x="18288000" y="2880360"/>
                </a:lnTo>
                <a:lnTo>
                  <a:pt x="0" y="2880360"/>
                </a:lnTo>
                <a:lnTo>
                  <a:pt x="0" y="0"/>
                </a:lnTo>
                <a:close/>
              </a:path>
            </a:pathLst>
          </a:custGeom>
          <a:blipFill xmlns:a="http://schemas.openxmlformats.org/drawingml/2006/main">
            <a:blip xmlns:r="http://schemas.openxmlformats.org/officeDocument/2006/relationships" r:embed="R9653631e1f9d410d"/>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11" name="TextBox 11">
            <a:extLst xmlns:a="http://schemas.openxmlformats.org/drawingml/2006/main">
              <a:ext uri="{FF2B5EF4-FFF2-40B4-BE49-F238E27FC236}">
                <a16:creationId xmlns:a16="http://schemas.microsoft.com/office/drawing/2014/main" id="{B5A59BC7-3869-49D2-AFA8-7735092D3F4D}"/>
              </a:ext>
            </a:extLst>
          </p:cNvPr>
          <p:cNvSpPr>
            <a:spLocks xmlns:a="http://schemas.openxmlformats.org/drawingml/2006/main" noGrp="1"/>
          </p:cNvSpPr>
          <p:nvPr/>
        </p:nvSpPr>
        <p:spPr>
          <a:xfrm xmlns:a="http://schemas.openxmlformats.org/drawingml/2006/main">
            <a:off x="1028700" y="3952875"/>
            <a:ext cx="16230600" cy="966597"/>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6453" b="1" i="0">
                <a:solidFill>
                  <a:srgbClr val="000054"/>
                </a:solidFill>
                <a:latin typeface="Aptos Bold"/>
                <a:ea typeface="Aptos Bold"/>
                <a:cs typeface="Aptos Bold"/>
              </a:defRPr>
            </a:defPPr>
          </a:lstStyle>
          <a:p xmlns:a="http://schemas.openxmlformats.org/drawingml/2006/main">
            <a:pPr algn="l">
              <a:lnSpc>
                <a:spcPts val="7611"/>
              </a:lnSpc>
              <a:buNone/>
              <a:defRPr sz="6453" b="1" i="0">
                <a:solidFill>
                  <a:srgbClr val="000054"/>
                </a:solidFill>
                <a:latin typeface="Aptos Bold"/>
                <a:ea typeface="Aptos Bold"/>
                <a:cs typeface="Aptos Bold"/>
              </a:defRPr>
            </a:pPr>
            <a:r>
              <a:rPr sz="6453" b="1" i="0" spc="-322">
                <a:solidFill>
                  <a:srgbClr val="000054"/>
                </a:solidFill>
                <a:latin typeface="Aptos Bold"/>
                <a:ea typeface="Aptos Bold"/>
                <a:cs typeface="Aptos Bold"/>
              </a:rPr>
              <a:t>GREENEDU</a:t>
            </a:r>
          </a:p>
        </p:txBody>
      </p:sp>
      <p:sp>
        <p:nvSpPr>
          <p:cNvPr id="12" name="TextBox 12">
            <a:extLst xmlns:a="http://schemas.openxmlformats.org/drawingml/2006/main">
              <a:ext uri="{FF2B5EF4-FFF2-40B4-BE49-F238E27FC236}">
                <a16:creationId xmlns:a16="http://schemas.microsoft.com/office/drawing/2014/main" id="{B2A5D3EE-41D9-48A9-9701-06D1EC340FD3}"/>
              </a:ext>
            </a:extLst>
          </p:cNvPr>
          <p:cNvSpPr>
            <a:spLocks xmlns:a="http://schemas.openxmlformats.org/drawingml/2006/main" noGrp="1"/>
          </p:cNvSpPr>
          <p:nvPr/>
        </p:nvSpPr>
        <p:spPr>
          <a:xfrm xmlns:a="http://schemas.openxmlformats.org/drawingml/2006/main">
            <a:off x="8395049" y="6718649"/>
            <a:ext cx="7905750" cy="68567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2499" b="1" i="0">
                <a:solidFill>
                  <a:srgbClr val="FFFFFF"/>
                </a:solidFill>
                <a:latin typeface="Aptos Bold"/>
                <a:ea typeface="Aptos Bold"/>
                <a:cs typeface="Aptos Bold"/>
              </a:defRPr>
            </a:defPPr>
          </a:lstStyle>
          <a:p xmlns:a="http://schemas.openxmlformats.org/drawingml/2006/main">
            <a:pPr algn="l">
              <a:lnSpc>
                <a:spcPts val="2999"/>
              </a:lnSpc>
              <a:buNone/>
              <a:defRPr sz="2499" b="1" i="0">
                <a:solidFill>
                  <a:srgbClr val="FFFFFF"/>
                </a:solidFill>
                <a:latin typeface="Aptos Bold"/>
                <a:ea typeface="Aptos Bold"/>
                <a:cs typeface="Aptos Bold"/>
              </a:defRPr>
            </a:pPr>
            <a:r>
              <a:rPr sz="2499" b="1" i="0" spc="92">
                <a:solidFill>
                  <a:srgbClr val="FFFFFF"/>
                </a:solidFill>
                <a:latin typeface="Aptos Bold"/>
                <a:ea typeface="Aptos Bold"/>
                <a:cs typeface="Aptos Bold"/>
              </a:rPr>
              <a:t>Đơn vị công tác:</a:t>
            </a:r>
          </a:p>
          <a:p xmlns:a="http://schemas.openxmlformats.org/drawingml/2006/main">
            <a:pPr algn="l">
              <a:lnSpc>
                <a:spcPts val="2400"/>
              </a:lnSpc>
              <a:buNone/>
              <a:defRPr sz="2499" b="1" i="0">
                <a:solidFill>
                  <a:srgbClr val="FFFFFF"/>
                </a:solidFill>
                <a:latin typeface="Aptos Bold"/>
                <a:ea typeface="Aptos Bold"/>
                <a:cs typeface="Aptos Bold"/>
              </a:defRPr>
            </a:pPr>
            <a:r>
              <a:rPr sz="2499" b="1" i="0" spc="74">
                <a:solidFill>
                  <a:srgbClr val="FFFFFF"/>
                </a:solidFill>
                <a:latin typeface="Aptos Bold"/>
                <a:ea typeface="Aptos Bold"/>
                <a:cs typeface="Aptos Bold"/>
              </a:rPr>
              <a:t>Trường THPT Nguyễn Khuyến</a:t>
            </a:r>
          </a:p>
        </p:txBody>
      </p:sp>
      <p:sp>
        <p:nvSpPr>
          <p:cNvPr id="13" name="TextBox 13">
            <a:extLst xmlns:a="http://schemas.openxmlformats.org/drawingml/2006/main">
              <a:ext uri="{FF2B5EF4-FFF2-40B4-BE49-F238E27FC236}">
                <a16:creationId xmlns:a16="http://schemas.microsoft.com/office/drawing/2014/main" id="{BAC65FDA-47A7-495F-8E70-6559F85811D7}"/>
              </a:ext>
            </a:extLst>
          </p:cNvPr>
          <p:cNvSpPr>
            <a:spLocks xmlns:a="http://schemas.openxmlformats.org/drawingml/2006/main" noGrp="1"/>
          </p:cNvSpPr>
          <p:nvPr/>
        </p:nvSpPr>
        <p:spPr>
          <a:xfrm xmlns:a="http://schemas.openxmlformats.org/drawingml/2006/main">
            <a:off x="8395049" y="8021764"/>
            <a:ext cx="7905750" cy="68567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2499" b="1" i="0">
                <a:solidFill>
                  <a:srgbClr val="FFFFFF"/>
                </a:solidFill>
                <a:latin typeface="Aptos Bold"/>
                <a:ea typeface="Aptos Bold"/>
                <a:cs typeface="Aptos Bold"/>
              </a:defRPr>
            </a:defPPr>
          </a:lstStyle>
          <a:p xmlns:a="http://schemas.openxmlformats.org/drawingml/2006/main">
            <a:pPr marL="0" lvl="0" indent="0" algn="l">
              <a:lnSpc>
                <a:spcPts val="2999"/>
              </a:lnSpc>
              <a:spcBef>
                <a:spcPct val="0"/>
              </a:spcBef>
              <a:buNone/>
              <a:defRPr sz="2499" b="1" i="0">
                <a:solidFill>
                  <a:srgbClr val="FFFFFF"/>
                </a:solidFill>
                <a:latin typeface="Aptos Bold"/>
                <a:ea typeface="Aptos Bold"/>
                <a:cs typeface="Aptos Bold"/>
              </a:defRPr>
            </a:pPr>
            <a:r>
              <a:rPr sz="2499" b="1" i="0" u="none" strike="noStrike">
                <a:solidFill>
                  <a:srgbClr val="FFFFFF"/>
                </a:solidFill>
                <a:latin typeface="Aptos Bold"/>
                <a:ea typeface="Aptos Bold"/>
                <a:cs typeface="Aptos Bold"/>
              </a:rPr>
              <a:t>Email:</a:t>
            </a:r>
          </a:p>
          <a:p xmlns:a="http://schemas.openxmlformats.org/drawingml/2006/main">
            <a:pPr marL="0" lvl="0" indent="0" algn="l">
              <a:lnSpc>
                <a:spcPts val="2400"/>
              </a:lnSpc>
              <a:spcBef>
                <a:spcPct val="0"/>
              </a:spcBef>
              <a:buNone/>
              <a:defRPr sz="2499" b="1" i="0">
                <a:solidFill>
                  <a:srgbClr val="FFFFFF"/>
                </a:solidFill>
                <a:latin typeface="Aptos Bold"/>
                <a:ea typeface="Aptos Bold"/>
                <a:cs typeface="Aptos Bold"/>
              </a:defRPr>
            </a:pPr>
            <a:r>
              <a:rPr sz="2499" b="1" i="0" u="none" strike="noStrike">
                <a:solidFill>
                  <a:srgbClr val="FFFFFF"/>
                </a:solidFill>
                <a:latin typeface="Aptos Bold"/>
                <a:ea typeface="Aptos Bold"/>
                <a:cs typeface="Aptos Bold"/>
              </a:rPr>
              <a:t>thanhphuong.0402@gmail.com</a:t>
            </a:r>
          </a:p>
        </p:txBody>
      </p:sp>
      <p:sp>
        <p:nvSpPr>
          <p:cNvPr id="14" name="GreenEdu Khu vườn kiến thức cho học sinh">
            <a:extLst xmlns:a="http://schemas.openxmlformats.org/drawingml/2006/main">
              <a:ext uri="{FF2B5EF4-FFF2-40B4-BE49-F238E27FC236}">
                <a16:creationId xmlns:a16="http://schemas.microsoft.com/office/drawing/2014/main" id="{D1DD5DC1-FD04-45F6-9110-EAFA56B2FB3F}"/>
              </a:ext>
            </a:extLst>
          </p:cNvPr>
          <p:cNvSpPr>
            <a:spLocks xmlns:a="http://schemas.openxmlformats.org/drawingml/2006/main" noGrp="1"/>
          </p:cNvSpPr>
          <p:nvPr/>
        </p:nvSpPr>
        <p:spPr>
          <a:xfrm xmlns:a="http://schemas.openxmlformats.org/drawingml/2006/main">
            <a:off x="1028700" y="5143500"/>
            <a:ext cx="162306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i="0">
                <a:solidFill>
                  <a:srgbClr val="000054"/>
                </a:solidFill>
                <a:latin typeface="Aptos Bold"/>
                <a:ea typeface="Aptos Bold"/>
                <a:cs typeface="Aptos Bold"/>
              </a:defRPr>
            </a:defPPr>
          </a:lstStyle>
          <a:p xmlns:a="http://schemas.openxmlformats.org/drawingml/2006/main">
            <a:pPr algn="l">
              <a:defRPr sz="3675" b="1" i="0">
                <a:solidFill>
                  <a:srgbClr val="000054"/>
                </a:solidFill>
                <a:latin typeface="Aptos Bold"/>
                <a:ea typeface="Aptos Bold"/>
                <a:cs typeface="Aptos Bold"/>
              </a:defRPr>
            </a:pPr>
            <a:r>
              <a:rPr sz="3675" b="1" i="0">
                <a:solidFill>
                  <a:srgbClr val="000054"/>
                </a:solidFill>
                <a:latin typeface="Aptos Bold"/>
                <a:ea typeface="Aptos Bold"/>
                <a:cs typeface="Aptos Bold"/>
              </a:rPr>
              <a:t>Khu vườn kiến thức cho học sinh</a:t>
            </a:r>
          </a:p>
        </p:txBody>
      </p:sp>
      <p:pic>
        <p:nvPicPr>
          <p:cNvPr id="15" name="">
            <a:extLst xmlns:a="http://schemas.openxmlformats.org/drawingml/2006/main">
              <a:ext uri="{FF2B5EF4-FFF2-40B4-BE49-F238E27FC236}">
                <a16:creationId xmlns:a16="http://schemas.microsoft.com/office/drawing/2014/main" id="{9D9FF819-B527-4130-80B3-5E7012289743}"/>
              </a:ext>
            </a:extLst>
          </p:cNvPr>
          <p:cNvPicPr>
            <a:picLocks xmlns:a="http://schemas.openxmlformats.org/drawingml/2006/main" noChangeAspect="1"/>
          </p:cNvPicPr>
          <p:nvPr/>
        </p:nvPicPr>
        <p:blipFill>
          <a:blip xmlns:r="http://schemas.openxmlformats.org/officeDocument/2006/relationships" xmlns:a="http://schemas.openxmlformats.org/drawingml/2006/main" r:embed="R6d5d1fd7a80a4372"/>
          <a:stretch xmlns:a="http://schemas.openxmlformats.org/drawingml/2006/main"/>
        </p:blipFill>
        <p:spPr>
          <a:xfrm xmlns:a="http://schemas.openxmlformats.org/drawingml/2006/main">
            <a:off x="5029200" y="7067550"/>
            <a:ext cx="1333500" cy="1333500"/>
          </a:xfrm>
          <a:prstGeom xmlns:a="http://schemas.openxmlformats.org/drawingml/2006/main" prst="diamond">
            <a:avLst/>
          </a:prstGeom>
        </p:spPr>
      </p:pic>
      <p:sp>
        <p:nvSpPr>
          <p:cNvPr id="16" name="GreenEdu Giáo viên Vật lý">
            <a:extLst xmlns:a="http://schemas.openxmlformats.org/drawingml/2006/main">
              <a:ext uri="{FF2B5EF4-FFF2-40B4-BE49-F238E27FC236}">
                <a16:creationId xmlns:a16="http://schemas.microsoft.com/office/drawing/2014/main" id="{2B6192A1-8A46-4FE9-AB06-9640DFC04168}"/>
              </a:ext>
            </a:extLst>
          </p:cNvPr>
          <p:cNvSpPr>
            <a:spLocks xmlns:a="http://schemas.openxmlformats.org/drawingml/2006/main" noGrp="1"/>
          </p:cNvSpPr>
          <p:nvPr/>
        </p:nvSpPr>
        <p:spPr>
          <a:xfrm xmlns:a="http://schemas.openxmlformats.org/drawingml/2006/main">
            <a:off x="3048000" y="8905875"/>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0" i="0">
                <a:solidFill>
                  <a:srgbClr val="FFFFFF"/>
                </a:solidFill>
                <a:latin typeface="Aptos"/>
                <a:ea typeface="Aptos"/>
                <a:cs typeface="Aptos"/>
              </a:defRPr>
            </a:defPPr>
          </a:lstStyle>
          <a:p xmlns:a="http://schemas.openxmlformats.org/drawingml/2006/main">
            <a:pPr algn="ctr">
              <a:defRPr sz="2100" b="0" i="0">
                <a:solidFill>
                  <a:srgbClr val="FFFFFF"/>
                </a:solidFill>
                <a:latin typeface="Aptos"/>
                <a:ea typeface="Aptos"/>
                <a:cs typeface="Aptos"/>
              </a:defRPr>
            </a:pPr>
            <a:r>
              <a:rPr sz="2100" b="0" i="0">
                <a:solidFill>
                  <a:srgbClr val="FFFFFF"/>
                </a:solidFill>
                <a:latin typeface="Aptos"/>
                <a:ea typeface="Aptos"/>
                <a:cs typeface="Aptos"/>
              </a:rPr>
              <a:t>Giáo viên Vật lý</a:t>
            </a:r>
          </a:p>
        </p:txBody>
      </p:sp>
    </p:spTree>
    <p:extLst>
      <p:ext uri="{BB962C8B-B14F-4D97-AF65-F5344CB8AC3E}">
        <p14:creationId xmlns:p14="http://schemas.microsoft.com/office/powerpoint/2010/main" val="178116322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309CDC66-1D94-4171-B443-A723F1B33E50}"/>
              </a:ext>
            </a:extLst>
          </p:cNvPr>
          <p:cNvSpPr>
            <a:spLocks xmlns:a="http://schemas.openxmlformats.org/drawingml/2006/main" noGrp="1"/>
          </p:cNvSpPr>
          <p:nvPr/>
        </p:nvSpPr>
        <p:spPr>
          <a:xfrm xmlns:a="http://schemas.openxmlformats.org/drawingml/2006/main" flipV="1">
            <a:off x="714375" y="9182100"/>
            <a:ext cx="16868775" cy="0"/>
          </a:xfrm>
          <a:prstGeom xmlns:a="http://schemas.openxmlformats.org/drawingml/2006/main" prst="line">
            <a:avLst/>
          </a:prstGeom>
          <a:ln xmlns:a="http://schemas.openxmlformats.org/drawingml/2006/main" w="38100" cap="flat">
            <a:solidFill>
              <a:srgbClr val="E61E2A"/>
            </a:solidFill>
            <a:prstDash val="solid"/>
            <a:headEnd type="none" w="sm" len="sm"/>
            <a:tailEnd type="none" w="sm" len="sm"/>
          </a:ln>
        </p:spPr>
        <p:txBody>
          <a:bodyPr xmlns:a="http://schemas.openxmlformats.org/drawingml/2006/main"/>
          <a:lstStyle xmlns:a="http://schemas.openxmlformats.org/drawingml/2006/main"/>
          <a:p xmlns:a="http://schemas.openxmlformats.org/drawingml/2006/main">
            <a:endParaRPr/>
          </a:p>
        </p:txBody>
      </p:sp>
      <p:sp>
        <p:nvSpPr>
          <p:cNvPr id="3" name="Freeform 3">
            <a:extLst xmlns:a="http://schemas.openxmlformats.org/drawingml/2006/main">
              <a:ext uri="{FF2B5EF4-FFF2-40B4-BE49-F238E27FC236}">
                <a16:creationId xmlns:a16="http://schemas.microsoft.com/office/drawing/2014/main" id="{7EAF33CC-77FA-4D25-90E5-2AF5AF83F51B}"/>
              </a:ext>
            </a:extLst>
          </p:cNvPr>
          <p:cNvSpPr>
            <a:spLocks xmlns:a="http://schemas.openxmlformats.org/drawingml/2006/main" noGrp="1"/>
          </p:cNvSpPr>
          <p:nvPr/>
        </p:nvSpPr>
        <p:spPr>
          <a:xfrm xmlns:a="http://schemas.openxmlformats.org/drawingml/2006/main">
            <a:off x="0" y="0"/>
            <a:ext cx="9144000" cy="10287000"/>
          </a:xfrm>
          <a:custGeom xmlns:a="http://schemas.openxmlformats.org/drawingml/2006/main">
            <a:rect l="l" t="t" r="r" b="b"/>
            <a:pathLst>
              <a:path w="9144000" h="10287000">
                <a:moveTo>
                  <a:pt x="0" y="0"/>
                </a:moveTo>
                <a:lnTo>
                  <a:pt x="9144000" y="0"/>
                </a:lnTo>
                <a:lnTo>
                  <a:pt x="9144000" y="10287000"/>
                </a:lnTo>
                <a:lnTo>
                  <a:pt x="0" y="10287000"/>
                </a:lnTo>
                <a:lnTo>
                  <a:pt x="0" y="0"/>
                </a:lnTo>
                <a:close/>
              </a:path>
            </a:pathLst>
          </a:custGeom>
          <a:blipFill xmlns:a="http://schemas.openxmlformats.org/drawingml/2006/main">
            <a:blip xmlns:r="http://schemas.openxmlformats.org/officeDocument/2006/relationships" r:embed="Rde3c5c3286ae45d4"/>
            <a:stretch>
              <a:fillRect l="0" t="0" r="-100000" b="0"/>
            </a:stretch>
          </a:blipFill>
        </p:spPr>
        <p:txBody>
          <a:bodyPr xmlns:a="http://schemas.openxmlformats.org/drawingml/2006/main"/>
          <a:lstStyle xmlns:a="http://schemas.openxmlformats.org/drawingml/2006/main"/>
          <a:p xmlns:a="http://schemas.openxmlformats.org/drawingml/2006/main">
            <a:endParaRPr/>
          </a:p>
        </p:txBody>
      </p:sp>
      <p:sp>
        <p:nvSpPr>
          <p:cNvPr id="5" name="Freeform 5">
            <a:extLst xmlns:a="http://schemas.openxmlformats.org/drawingml/2006/main">
              <a:ext uri="{FF2B5EF4-FFF2-40B4-BE49-F238E27FC236}">
                <a16:creationId xmlns:a16="http://schemas.microsoft.com/office/drawing/2014/main" id="{A70E5809-51D5-441C-B158-DF093C3B3692}"/>
              </a:ext>
            </a:extLst>
          </p:cNvPr>
          <p:cNvSpPr>
            <a:spLocks xmlns:a="http://schemas.openxmlformats.org/drawingml/2006/main" noGrp="1"/>
          </p:cNvSpPr>
          <p:nvPr/>
        </p:nvSpPr>
        <p:spPr>
          <a:xfrm xmlns:a="http://schemas.openxmlformats.org/drawingml/2006/main" rot="0" flipH="0" flipV="0">
            <a:off x="1028700" y="1028700"/>
            <a:ext cx="6952685" cy="8153400"/>
          </a:xfrm>
          <a:custGeom xmlns:a="http://schemas.openxmlformats.org/drawingml/2006/main">
            <a:rect l="l" t="t" r="r" b="b"/>
            <a:pathLst>
              <a:path w="1831160" h="2147398">
                <a:moveTo>
                  <a:pt x="0" y="0"/>
                </a:moveTo>
                <a:lnTo>
                  <a:pt x="1831160" y="0"/>
                </a:lnTo>
                <a:lnTo>
                  <a:pt x="1831160" y="2147398"/>
                </a:lnTo>
                <a:lnTo>
                  <a:pt x="0" y="2147398"/>
                </a:lnTo>
                <a:close/>
              </a:path>
            </a:pathLst>
          </a:cu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a:endParaRPr/>
          </a:p>
        </p:txBody>
      </p:sp>
      <p:sp>
        <p:nvSpPr>
          <p:cNvPr id="7" name="TextBox 7">
            <a:extLst xmlns:a="http://schemas.openxmlformats.org/drawingml/2006/main">
              <a:ext uri="{FF2B5EF4-FFF2-40B4-BE49-F238E27FC236}">
                <a16:creationId xmlns:a16="http://schemas.microsoft.com/office/drawing/2014/main" id="{394E01D0-0B80-4784-B644-E9B4FAC44B5E}"/>
              </a:ext>
            </a:extLst>
          </p:cNvPr>
          <p:cNvSpPr>
            <a:spLocks xmlns:a="http://schemas.openxmlformats.org/drawingml/2006/main" noGrp="1"/>
          </p:cNvSpPr>
          <p:nvPr/>
        </p:nvSpPr>
        <p:spPr>
          <a:xfrm xmlns:a="http://schemas.openxmlformats.org/drawingml/2006/main">
            <a:off x="9976485" y="895350"/>
            <a:ext cx="7606665" cy="87147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4477" b="1" i="0">
                <a:solidFill>
                  <a:srgbClr val="000054"/>
                </a:solidFill>
                <a:latin typeface="Aptos Bold"/>
                <a:ea typeface="Aptos Bold"/>
                <a:cs typeface="Aptos Bold"/>
              </a:defRPr>
            </a:defPPr>
          </a:lstStyle>
          <a:p xmlns:a="http://schemas.openxmlformats.org/drawingml/2006/main">
            <a:pPr marL="0" lvl="0" indent="0" algn="l">
              <a:lnSpc>
                <a:spcPts val="6862"/>
              </a:lnSpc>
              <a:spcBef>
                <a:spcPct val="0"/>
              </a:spcBef>
              <a:buNone/>
              <a:defRPr sz="4477" b="1" i="0">
                <a:solidFill>
                  <a:srgbClr val="000054"/>
                </a:solidFill>
                <a:latin typeface="Aptos Bold"/>
                <a:ea typeface="Aptos Bold"/>
                <a:cs typeface="Aptos Bold"/>
              </a:defRPr>
            </a:pPr>
            <a:r>
              <a:rPr sz="4477" b="1" i="0" spc="-223">
                <a:solidFill>
                  <a:srgbClr val="000054"/>
                </a:solidFill>
                <a:latin typeface="Aptos Bold"/>
                <a:ea typeface="Aptos Bold"/>
                <a:cs typeface="Aptos Bold"/>
              </a:rPr>
              <a:t>DÀN Ý TRÌNH BÀY</a:t>
            </a:r>
          </a:p>
        </p:txBody>
      </p:sp>
      <p:sp>
        <p:nvSpPr>
          <p:cNvPr id="8" name="TextBox 8">
            <a:extLst xmlns:a="http://schemas.openxmlformats.org/drawingml/2006/main">
              <a:ext uri="{FF2B5EF4-FFF2-40B4-BE49-F238E27FC236}">
                <a16:creationId xmlns:a16="http://schemas.microsoft.com/office/drawing/2014/main" id="{D1A4A89D-931F-4295-8FFB-2AE2DB04EC51}"/>
              </a:ext>
            </a:extLst>
          </p:cNvPr>
          <p:cNvSpPr>
            <a:spLocks xmlns:a="http://schemas.openxmlformats.org/drawingml/2006/main" noGrp="1"/>
          </p:cNvSpPr>
          <p:nvPr/>
        </p:nvSpPr>
        <p:spPr>
          <a:xfrm xmlns:a="http://schemas.openxmlformats.org/drawingml/2006/main">
            <a:off x="10693948" y="9428646"/>
            <a:ext cx="6889202" cy="62742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54"/>
              </a:lnSpc>
              <a:buNone/>
            </a:pPr>
            <a:r>
              <a:rPr sz="2600" b="1" spc="96">
                <a:solidFill>
                  <a:srgbClr val="000054"/>
                </a:solidFill>
                <a:latin typeface="Aptos Bold"/>
                <a:ea typeface="Aptos Bold"/>
                <a:cs typeface="Aptos Bold"/>
              </a:rPr>
              <a:t>Giải Thưởng Tiên Phong Ứng Dụng AI Trong Giáo Dục Việt Nam 2026</a:t>
            </a:r>
          </a:p>
        </p:txBody>
      </p:sp>
      <p:sp>
        <p:nvSpPr>
          <p:cNvPr id="9" name="TextBox 9">
            <a:extLst xmlns:a="http://schemas.openxmlformats.org/drawingml/2006/main">
              <a:ext uri="{FF2B5EF4-FFF2-40B4-BE49-F238E27FC236}">
                <a16:creationId xmlns:a16="http://schemas.microsoft.com/office/drawing/2014/main" id="{D49EB633-2DFB-4BCA-A2D9-45402E3482CA}"/>
              </a:ext>
            </a:extLst>
          </p:cNvPr>
          <p:cNvSpPr>
            <a:spLocks xmlns:a="http://schemas.openxmlformats.org/drawingml/2006/main" noGrp="1"/>
          </p:cNvSpPr>
          <p:nvPr/>
        </p:nvSpPr>
        <p:spPr>
          <a:xfrm xmlns:a="http://schemas.openxmlformats.org/drawingml/2006/main">
            <a:off x="9972675" y="2257425"/>
            <a:ext cx="7191375" cy="416397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3026" b="0" i="0">
                <a:solidFill>
                  <a:srgbClr val="000054"/>
                </a:solidFill>
                <a:latin typeface="Aptos"/>
                <a:ea typeface="Aptos"/>
                <a:cs typeface="Aptos"/>
              </a:defRPr>
            </a:defPPr>
          </a:lstStyle>
          <a:p xmlns:a="http://schemas.openxmlformats.org/drawingml/2006/main">
            <a:pPr marL="292100" indent="-152400" algn="l">
              <a:spcAft>
                <a:spcPts val="2200"/>
              </a:spcAft>
              <a:buChar char="•"/>
              <a:defRPr sz="3026" b="0" i="0">
                <a:solidFill>
                  <a:srgbClr val="000054"/>
                </a:solidFill>
                <a:latin typeface="Aptos"/>
                <a:ea typeface="Aptos"/>
                <a:cs typeface="Aptos"/>
              </a:defRPr>
            </a:pPr>
            <a:r>
              <a:rPr sz="3026" b="0" i="0">
                <a:solidFill>
                  <a:srgbClr val="000054"/>
                </a:solidFill>
                <a:latin typeface="Aptos"/>
                <a:ea typeface="Aptos"/>
                <a:cs typeface="Aptos"/>
              </a:rPr>
              <a:t>Bối cảnh dạy học Vật lý</a:t>
            </a:r>
          </a:p>
          <a:p xmlns:a="http://schemas.openxmlformats.org/drawingml/2006/main">
            <a:pPr marL="292100" indent="-152400" algn="l">
              <a:spcAft>
                <a:spcPts val="2200"/>
              </a:spcAft>
              <a:buChar char="•"/>
              <a:defRPr sz="3026" b="0" i="0">
                <a:solidFill>
                  <a:srgbClr val="000054"/>
                </a:solidFill>
                <a:latin typeface="Aptos"/>
                <a:ea typeface="Aptos"/>
                <a:cs typeface="Aptos"/>
              </a:defRPr>
            </a:pPr>
            <a:r>
              <a:rPr sz="3026" b="0" i="0">
                <a:solidFill>
                  <a:srgbClr val="000054"/>
                </a:solidFill>
                <a:latin typeface="Aptos"/>
                <a:ea typeface="Aptos"/>
                <a:cs typeface="Aptos"/>
              </a:rPr>
              <a:t>Mô hình học tập GreenEdu</a:t>
            </a:r>
          </a:p>
          <a:p xmlns:a="http://schemas.openxmlformats.org/drawingml/2006/main">
            <a:pPr marL="292100" indent="-152400" algn="l">
              <a:spcAft>
                <a:spcPts val="2200"/>
              </a:spcAft>
              <a:buChar char="•"/>
              <a:defRPr sz="3026" b="0" i="0">
                <a:solidFill>
                  <a:srgbClr val="000054"/>
                </a:solidFill>
                <a:latin typeface="Aptos"/>
                <a:ea typeface="Aptos"/>
                <a:cs typeface="Aptos"/>
              </a:defRPr>
            </a:pPr>
            <a:r>
              <a:rPr sz="3026" b="0" i="0">
                <a:solidFill>
                  <a:srgbClr val="000054"/>
                </a:solidFill>
                <a:latin typeface="Aptos"/>
                <a:ea typeface="Aptos"/>
                <a:cs typeface="Aptos"/>
              </a:rPr>
              <a:t>Vai trò AI và kiểm duyệt</a:t>
            </a:r>
          </a:p>
          <a:p xmlns:a="http://schemas.openxmlformats.org/drawingml/2006/main">
            <a:pPr marL="292100" indent="-152400" algn="l">
              <a:spcAft>
                <a:spcPts val="2200"/>
              </a:spcAft>
              <a:buChar char="•"/>
              <a:defRPr sz="3026" b="0" i="0">
                <a:solidFill>
                  <a:srgbClr val="000054"/>
                </a:solidFill>
                <a:latin typeface="Aptos"/>
                <a:ea typeface="Aptos"/>
                <a:cs typeface="Aptos"/>
              </a:defRPr>
            </a:pPr>
            <a:r>
              <a:rPr sz="3026" b="0" i="0">
                <a:solidFill>
                  <a:srgbClr val="000054"/>
                </a:solidFill>
                <a:latin typeface="Aptos"/>
                <a:ea typeface="Aptos"/>
                <a:cs typeface="Aptos"/>
              </a:rPr>
              <a:t>Triển khai tại lớp 11/2</a:t>
            </a:r>
          </a:p>
          <a:p xmlns:a="http://schemas.openxmlformats.org/drawingml/2006/main">
            <a:pPr marL="292100" indent="-152400" algn="l">
              <a:spcAft>
                <a:spcPts val="2200"/>
              </a:spcAft>
              <a:buChar char="•"/>
              <a:defRPr sz="3026" b="0" i="0">
                <a:solidFill>
                  <a:srgbClr val="000054"/>
                </a:solidFill>
                <a:latin typeface="Aptos"/>
                <a:ea typeface="Aptos"/>
                <a:cs typeface="Aptos"/>
              </a:defRPr>
            </a:pPr>
            <a:r>
              <a:rPr sz="3026" b="0" i="0">
                <a:solidFill>
                  <a:srgbClr val="000054"/>
                </a:solidFill>
                <a:latin typeface="Aptos"/>
                <a:ea typeface="Aptos"/>
                <a:cs typeface="Aptos"/>
              </a:rPr>
              <a:t>Minh chứng và đánh giá</a:t>
            </a:r>
          </a:p>
          <a:p xmlns:a="http://schemas.openxmlformats.org/drawingml/2006/main">
            <a:pPr marL="292100" indent="-152400" algn="l">
              <a:spcAft>
                <a:spcPts val="2200"/>
              </a:spcAft>
              <a:buChar char="•"/>
              <a:defRPr sz="3026" b="0" i="0">
                <a:solidFill>
                  <a:srgbClr val="000054"/>
                </a:solidFill>
                <a:latin typeface="Aptos"/>
                <a:ea typeface="Aptos"/>
                <a:cs typeface="Aptos"/>
              </a:defRPr>
            </a:pPr>
            <a:r>
              <a:rPr sz="3026" b="0" i="0">
                <a:solidFill>
                  <a:srgbClr val="000054"/>
                </a:solidFill>
                <a:latin typeface="Aptos"/>
                <a:ea typeface="Aptos"/>
                <a:cs typeface="Aptos"/>
              </a:rPr>
              <a:t>Hướng phát triển</a:t>
            </a:r>
          </a:p>
        </p:txBody>
      </p:sp>
      <p:pic>
        <p:nvPicPr>
          <p:cNvPr id="10" name="">
            <a:extLst xmlns:a="http://schemas.openxmlformats.org/drawingml/2006/main">
              <a:ext uri="{FF2B5EF4-FFF2-40B4-BE49-F238E27FC236}">
                <a16:creationId xmlns:a16="http://schemas.microsoft.com/office/drawing/2014/main" id="{1E80D34E-F99D-4F20-A539-383FE4F26A72}"/>
              </a:ext>
            </a:extLst>
          </p:cNvPr>
          <p:cNvPicPr>
            <a:picLocks xmlns:a="http://schemas.openxmlformats.org/drawingml/2006/main" noChangeAspect="1"/>
          </p:cNvPicPr>
          <p:nvPr/>
        </p:nvPicPr>
        <p:blipFill>
          <a:blip xmlns:r="http://schemas.openxmlformats.org/officeDocument/2006/relationships" xmlns:a="http://schemas.openxmlformats.org/drawingml/2006/main" r:embed="Rde49bdcb935c49f8"/>
          <a:stretch xmlns:a="http://schemas.openxmlformats.org/drawingml/2006/main"/>
        </p:blipFill>
        <p:spPr>
          <a:xfrm xmlns:a="http://schemas.openxmlformats.org/drawingml/2006/main">
            <a:off x="1123950" y="2674938"/>
            <a:ext cx="6762750" cy="4508500"/>
          </a:xfrm>
          <a:prstGeom xmlns:a="http://schemas.openxmlformats.org/drawingml/2006/main" prst="rect">
            <a:avLst/>
          </a:prstGeom>
        </p:spPr>
      </p:pic>
      <p:sp>
        <p:nvSpPr>
          <p:cNvPr id="11" name="GreenEdu Học tập gắn với&#10;khu vườn kiến th">
            <a:extLst xmlns:a="http://schemas.openxmlformats.org/drawingml/2006/main">
              <a:ext uri="{FF2B5EF4-FFF2-40B4-BE49-F238E27FC236}">
                <a16:creationId xmlns:a16="http://schemas.microsoft.com/office/drawing/2014/main" id="{3FD0F4B8-D8F5-485C-8C7D-BB0BBA4C8EBC}"/>
              </a:ext>
            </a:extLst>
          </p:cNvPr>
          <p:cNvSpPr>
            <a:spLocks xmlns:a="http://schemas.openxmlformats.org/drawingml/2006/main" noGrp="1"/>
          </p:cNvSpPr>
          <p:nvPr/>
        </p:nvSpPr>
        <p:spPr>
          <a:xfrm xmlns:a="http://schemas.openxmlformats.org/drawingml/2006/main">
            <a:off x="1476375" y="7620000"/>
            <a:ext cx="6143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700" b="1" i="0">
                <a:solidFill>
                  <a:srgbClr val="000054"/>
                </a:solidFill>
                <a:latin typeface="Aptos"/>
                <a:ea typeface="Aptos"/>
                <a:cs typeface="Aptos"/>
              </a:defRPr>
            </a:defPPr>
          </a:lstStyle>
          <a:p xmlns:a="http://schemas.openxmlformats.org/drawingml/2006/main">
            <a:pPr algn="ctr">
              <a:defRPr sz="2700" b="1" i="0">
                <a:solidFill>
                  <a:srgbClr val="000054"/>
                </a:solidFill>
                <a:latin typeface="Aptos"/>
                <a:ea typeface="Aptos"/>
                <a:cs typeface="Aptos"/>
              </a:defRPr>
            </a:pPr>
            <a:r>
              <a:rPr sz="2700" b="1" i="0">
                <a:solidFill>
                  <a:srgbClr val="000054"/>
                </a:solidFill>
                <a:latin typeface="Aptos"/>
                <a:ea typeface="Aptos"/>
                <a:cs typeface="Aptos"/>
              </a:rPr>
              <a:t>Học tập gắn với</a:t>
            </a:r>
          </a:p>
          <a:p xmlns:a="http://schemas.openxmlformats.org/drawingml/2006/main">
            <a:pPr algn="ctr">
              <a:defRPr sz="2700" b="1" i="0">
                <a:solidFill>
                  <a:srgbClr val="000054"/>
                </a:solidFill>
                <a:latin typeface="Aptos"/>
                <a:ea typeface="Aptos"/>
                <a:cs typeface="Aptos"/>
              </a:defRPr>
            </a:pPr>
            <a:r>
              <a:rPr sz="2700" b="1" i="0">
                <a:solidFill>
                  <a:srgbClr val="000054"/>
                </a:solidFill>
                <a:latin typeface="Aptos"/>
                <a:ea typeface="Aptos"/>
                <a:cs typeface="Aptos"/>
              </a:rPr>
              <a:t>khu vườn kiến thức</a:t>
            </a:r>
          </a:p>
        </p:txBody>
      </p:sp>
    </p:spTree>
    <p:extLst>
      <p:ext uri="{BB962C8B-B14F-4D97-AF65-F5344CB8AC3E}">
        <p14:creationId xmlns:p14="http://schemas.microsoft.com/office/powerpoint/2010/main" val="178219757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F21F6844-21F2-4FC2-9F3E-242ADDC98B9C}"/>
              </a:ext>
            </a:extLst>
          </p:cNvPr>
          <p:cNvSpPr>
            <a:spLocks xmlns:a="http://schemas.openxmlformats.org/drawingml/2006/main" noGrp="1"/>
          </p:cNvSpPr>
          <p:nvPr/>
        </p:nvSpPr>
        <p:spPr>
          <a:xfrm xmlns:a="http://schemas.openxmlformats.org/drawingml/2006/main">
            <a:off x="0" y="8919749"/>
            <a:ext cx="18288000" cy="1367251"/>
          </a:xfrm>
          <a:custGeom xmlns:a="http://schemas.openxmlformats.org/drawingml/2006/main">
            <a:rect l="l" t="t" r="r" b="b"/>
            <a:pathLst>
              <a:path w="18288000" h="1367251">
                <a:moveTo>
                  <a:pt x="0" y="0"/>
                </a:moveTo>
                <a:lnTo>
                  <a:pt x="18288000" y="0"/>
                </a:lnTo>
                <a:lnTo>
                  <a:pt x="18288000" y="1367251"/>
                </a:lnTo>
                <a:lnTo>
                  <a:pt x="0" y="1367251"/>
                </a:lnTo>
                <a:lnTo>
                  <a:pt x="0" y="0"/>
                </a:lnTo>
                <a:close/>
              </a:path>
            </a:pathLst>
          </a:custGeom>
          <a:blipFill xmlns:a="http://schemas.openxmlformats.org/drawingml/2006/main">
            <a:blip xmlns:r="http://schemas.openxmlformats.org/officeDocument/2006/relationships" r:embed="Rd78011560d7e44ab"/>
            <a:stretch>
              <a:fillRect l="0" t="-652385" r="0" b="0"/>
            </a:stretch>
          </a:blipFill>
        </p:spPr>
        <p:txBody>
          <a:bodyPr xmlns:a="http://schemas.openxmlformats.org/drawingml/2006/main"/>
          <a:lstStyle xmlns:a="http://schemas.openxmlformats.org/drawingml/2006/main"/>
          <a:p xmlns:a="http://schemas.openxmlformats.org/drawingml/2006/main">
            <a:endParaRPr/>
          </a:p>
        </p:txBody>
      </p:sp>
      <p:sp>
        <p:nvSpPr>
          <p:cNvPr id="3" name="TextBox 3">
            <a:extLst xmlns:a="http://schemas.openxmlformats.org/drawingml/2006/main">
              <a:ext uri="{FF2B5EF4-FFF2-40B4-BE49-F238E27FC236}">
                <a16:creationId xmlns:a16="http://schemas.microsoft.com/office/drawing/2014/main" id="{B7A27179-2040-40F3-BB35-C36DE6EE7777}"/>
              </a:ext>
            </a:extLst>
          </p:cNvPr>
          <p:cNvSpPr>
            <a:spLocks xmlns:a="http://schemas.openxmlformats.org/drawingml/2006/main" noGrp="1"/>
          </p:cNvSpPr>
          <p:nvPr/>
        </p:nvSpPr>
        <p:spPr>
          <a:xfrm xmlns:a="http://schemas.openxmlformats.org/drawingml/2006/main">
            <a:off x="882777" y="1005650"/>
            <a:ext cx="16478250" cy="87147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4477" b="1" i="0">
                <a:solidFill>
                  <a:srgbClr val="000054"/>
                </a:solidFill>
                <a:latin typeface="Aptos Bold"/>
                <a:ea typeface="Aptos Bold"/>
                <a:cs typeface="Aptos Bold"/>
              </a:defRPr>
            </a:defPPr>
          </a:lstStyle>
          <a:p xmlns:a="http://schemas.openxmlformats.org/drawingml/2006/main">
            <a:pPr marL="0" lvl="0" indent="0" algn="l">
              <a:lnSpc>
                <a:spcPts val="6862"/>
              </a:lnSpc>
              <a:spcBef>
                <a:spcPct val="0"/>
              </a:spcBef>
              <a:buNone/>
              <a:defRPr sz="4477" b="1" i="0">
                <a:solidFill>
                  <a:srgbClr val="000054"/>
                </a:solidFill>
                <a:latin typeface="Aptos Bold"/>
                <a:ea typeface="Aptos Bold"/>
                <a:cs typeface="Aptos Bold"/>
              </a:defRPr>
            </a:pPr>
            <a:r>
              <a:rPr sz="4477" b="1" i="0" spc="-223">
                <a:solidFill>
                  <a:srgbClr val="000054"/>
                </a:solidFill>
                <a:latin typeface="Aptos Bold"/>
                <a:ea typeface="Aptos Bold"/>
                <a:cs typeface="Aptos Bold"/>
              </a:rPr>
              <a:t>MÔ HÌNH HỌC TẬP GREENEDU</a:t>
            </a:r>
          </a:p>
        </p:txBody>
      </p:sp>
      <p:sp>
        <p:nvSpPr>
          <p:cNvPr id="4" name="TextBox 4">
            <a:extLst xmlns:a="http://schemas.openxmlformats.org/drawingml/2006/main">
              <a:ext uri="{FF2B5EF4-FFF2-40B4-BE49-F238E27FC236}">
                <a16:creationId xmlns:a16="http://schemas.microsoft.com/office/drawing/2014/main" id="{DC5314D1-430A-44D6-BFA3-6C9D2033BD9F}"/>
              </a:ext>
            </a:extLst>
          </p:cNvPr>
          <p:cNvSpPr>
            <a:spLocks xmlns:a="http://schemas.openxmlformats.org/drawingml/2006/main" noGrp="1"/>
          </p:cNvSpPr>
          <p:nvPr/>
        </p:nvSpPr>
        <p:spPr>
          <a:xfrm xmlns:a="http://schemas.openxmlformats.org/drawingml/2006/main">
            <a:off x="904875" y="2333625"/>
            <a:ext cx="8096250" cy="4066337"/>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3026" b="0" i="0">
                <a:solidFill>
                  <a:srgbClr val="000054"/>
                </a:solidFill>
                <a:latin typeface="Aptos"/>
                <a:ea typeface="Aptos"/>
                <a:cs typeface="Aptos"/>
              </a:defRPr>
            </a:defPPr>
          </a:lstStyle>
          <a:p xmlns:a="http://schemas.openxmlformats.org/drawingml/2006/main">
            <a:pPr marL="292100" indent="-152400" algn="l">
              <a:spcAft>
                <a:spcPts val="2200"/>
              </a:spcAft>
              <a:buChar char="•"/>
              <a:defRPr sz="3026" b="0" i="0">
                <a:solidFill>
                  <a:srgbClr val="000054"/>
                </a:solidFill>
                <a:latin typeface="Aptos"/>
                <a:ea typeface="Aptos"/>
                <a:cs typeface="Aptos"/>
              </a:defRPr>
            </a:pPr>
            <a:r>
              <a:rPr sz="3026" b="0" i="0">
                <a:solidFill>
                  <a:srgbClr val="000054"/>
                </a:solidFill>
                <a:latin typeface="Aptos"/>
                <a:ea typeface="Aptos"/>
                <a:cs typeface="Aptos"/>
              </a:rPr>
              <a:t>Luyện tập theo bài và chương.</a:t>
            </a:r>
          </a:p>
          <a:p xmlns:a="http://schemas.openxmlformats.org/drawingml/2006/main">
            <a:pPr marL="292100" indent="-152400" algn="l">
              <a:spcAft>
                <a:spcPts val="2200"/>
              </a:spcAft>
              <a:buChar char="•"/>
              <a:defRPr sz="3026" b="0" i="0">
                <a:solidFill>
                  <a:srgbClr val="000054"/>
                </a:solidFill>
                <a:latin typeface="Aptos"/>
                <a:ea typeface="Aptos"/>
                <a:cs typeface="Aptos"/>
              </a:defRPr>
            </a:pPr>
            <a:r>
              <a:rPr sz="3026" b="0" i="0">
                <a:solidFill>
                  <a:srgbClr val="000054"/>
                </a:solidFill>
                <a:latin typeface="Aptos"/>
                <a:ea typeface="Aptos"/>
                <a:cs typeface="Aptos"/>
              </a:rPr>
              <a:t>Câu làm sai vào Sổ tay để học sinh làm lại, khắc phục.</a:t>
            </a:r>
          </a:p>
          <a:p xmlns:a="http://schemas.openxmlformats.org/drawingml/2006/main">
            <a:pPr marL="292100" indent="-152400" algn="l">
              <a:spcAft>
                <a:spcPts val="2200"/>
              </a:spcAft>
              <a:buChar char="•"/>
              <a:defRPr sz="3026" b="0" i="0">
                <a:solidFill>
                  <a:srgbClr val="000054"/>
                </a:solidFill>
                <a:latin typeface="Aptos"/>
                <a:ea typeface="Aptos"/>
                <a:cs typeface="Aptos"/>
              </a:defRPr>
            </a:pPr>
            <a:r>
              <a:rPr sz="3026" b="0" i="0">
                <a:solidFill>
                  <a:srgbClr val="000054"/>
                </a:solidFill>
                <a:latin typeface="Aptos"/>
                <a:ea typeface="Aptos"/>
                <a:cs typeface="Aptos"/>
              </a:rPr>
              <a:t>Cây kiến thức tăng cấp theo thời gian học của từng chương.</a:t>
            </a:r>
          </a:p>
          <a:p xmlns:a="http://schemas.openxmlformats.org/drawingml/2006/main">
            <a:pPr marL="292100" indent="-152400" algn="l">
              <a:spcAft>
                <a:spcPts val="2200"/>
              </a:spcAft>
              <a:buChar char="•"/>
              <a:defRPr sz="3026" b="0" i="0">
                <a:solidFill>
                  <a:srgbClr val="000054"/>
                </a:solidFill>
                <a:latin typeface="Aptos"/>
                <a:ea typeface="Aptos"/>
                <a:cs typeface="Aptos"/>
              </a:defRPr>
            </a:pPr>
            <a:r>
              <a:rPr sz="3026" b="0" i="0">
                <a:solidFill>
                  <a:srgbClr val="000054"/>
                </a:solidFill>
                <a:latin typeface="Aptos"/>
                <a:ea typeface="Aptos"/>
                <a:cs typeface="Aptos"/>
              </a:rPr>
              <a:t>Ôn tập, kiểm tra và hoạt động nhóm trong cùng tài khoản.</a:t>
            </a:r>
          </a:p>
        </p:txBody>
      </p:sp>
      <p:pic>
        <p:nvPicPr>
          <p:cNvPr id="5" name="">
            <a:extLst xmlns:a="http://schemas.openxmlformats.org/drawingml/2006/main">
              <a:ext uri="{FF2B5EF4-FFF2-40B4-BE49-F238E27FC236}">
                <a16:creationId xmlns:a16="http://schemas.microsoft.com/office/drawing/2014/main" id="{7A8FBFBD-D949-4CAF-81AE-802384320679}"/>
              </a:ext>
            </a:extLst>
          </p:cNvPr>
          <p:cNvPicPr>
            <a:picLocks xmlns:a="http://schemas.openxmlformats.org/drawingml/2006/main" noChangeAspect="1"/>
          </p:cNvPicPr>
          <p:nvPr/>
        </p:nvPicPr>
        <p:blipFill>
          <a:blip xmlns:r="http://schemas.openxmlformats.org/officeDocument/2006/relationships" xmlns:a="http://schemas.openxmlformats.org/drawingml/2006/main" r:embed="R0f739982b6024fd8"/>
          <a:stretch xmlns:a="http://schemas.openxmlformats.org/drawingml/2006/main"/>
        </p:blipFill>
        <p:spPr>
          <a:xfrm xmlns:a="http://schemas.openxmlformats.org/drawingml/2006/main">
            <a:off x="9810750" y="2334022"/>
            <a:ext cx="7239000" cy="5142706"/>
          </a:xfrm>
          <a:prstGeom xmlns:a="http://schemas.openxmlformats.org/drawingml/2006/main" prst="rect">
            <a:avLst/>
          </a:prstGeom>
        </p:spPr>
      </p:pic>
      <p:sp>
        <p:nvSpPr>
          <p:cNvPr id="6" name="GreenEdu Ảnh giao diện từ môi trường thử ">
            <a:extLst xmlns:a="http://schemas.openxmlformats.org/drawingml/2006/main">
              <a:ext uri="{FF2B5EF4-FFF2-40B4-BE49-F238E27FC236}">
                <a16:creationId xmlns:a16="http://schemas.microsoft.com/office/drawing/2014/main" id="{127020F0-7B55-4DD4-BE9E-25EF74C6D5DA}"/>
              </a:ext>
            </a:extLst>
          </p:cNvPr>
          <p:cNvSpPr>
            <a:spLocks xmlns:a="http://schemas.openxmlformats.org/drawingml/2006/main" noGrp="1"/>
          </p:cNvSpPr>
          <p:nvPr/>
        </p:nvSpPr>
        <p:spPr>
          <a:xfrm xmlns:a="http://schemas.openxmlformats.org/drawingml/2006/main">
            <a:off x="9810750" y="7581900"/>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0" i="0">
                <a:solidFill>
                  <a:srgbClr val="000054"/>
                </a:solidFill>
                <a:latin typeface="Aptos"/>
                <a:ea typeface="Aptos"/>
                <a:cs typeface="Aptos"/>
              </a:defRPr>
            </a:defPPr>
          </a:lstStyle>
          <a:p xmlns:a="http://schemas.openxmlformats.org/drawingml/2006/main">
            <a:pPr algn="ctr">
              <a:defRPr sz="2025" b="0" i="0">
                <a:solidFill>
                  <a:srgbClr val="000054"/>
                </a:solidFill>
                <a:latin typeface="Aptos"/>
                <a:ea typeface="Aptos"/>
                <a:cs typeface="Aptos"/>
              </a:defRPr>
            </a:pPr>
            <a:r>
              <a:rPr sz="2025" b="0" i="0">
                <a:solidFill>
                  <a:srgbClr val="000054"/>
                </a:solidFill>
                <a:latin typeface="Aptos"/>
                <a:ea typeface="Aptos"/>
                <a:cs typeface="Aptos"/>
              </a:rPr>
              <a:t>Ảnh giao diện từ môi trường thử nghiệm</a:t>
            </a:r>
          </a:p>
        </p:txBody>
      </p:sp>
      <p:sp>
        <p:nvSpPr>
          <p:cNvPr id="7" name="GreenEdu Mục tiêu: duy trì tự học và sửa ">
            <a:extLst xmlns:a="http://schemas.openxmlformats.org/drawingml/2006/main">
              <a:ext uri="{FF2B5EF4-FFF2-40B4-BE49-F238E27FC236}">
                <a16:creationId xmlns:a16="http://schemas.microsoft.com/office/drawing/2014/main" id="{57750E2E-4201-4D48-A11F-2F12CD45BC2F}"/>
              </a:ext>
            </a:extLst>
          </p:cNvPr>
          <p:cNvSpPr>
            <a:spLocks xmlns:a="http://schemas.openxmlformats.org/drawingml/2006/main" noGrp="1"/>
          </p:cNvSpPr>
          <p:nvPr/>
        </p:nvSpPr>
        <p:spPr>
          <a:xfrm xmlns:a="http://schemas.openxmlformats.org/drawingml/2006/main">
            <a:off x="904875" y="8258175"/>
            <a:ext cx="1647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i="0">
                <a:solidFill>
                  <a:srgbClr val="000054"/>
                </a:solidFill>
                <a:latin typeface="Aptos"/>
                <a:ea typeface="Aptos"/>
                <a:cs typeface="Aptos"/>
              </a:defRPr>
            </a:defPPr>
          </a:lstStyle>
          <a:p xmlns:a="http://schemas.openxmlformats.org/drawingml/2006/main">
            <a:pPr algn="l">
              <a:defRPr sz="2400" b="1" i="0">
                <a:solidFill>
                  <a:srgbClr val="000054"/>
                </a:solidFill>
                <a:latin typeface="Aptos"/>
                <a:ea typeface="Aptos"/>
                <a:cs typeface="Aptos"/>
              </a:defRPr>
            </a:pPr>
            <a:r>
              <a:rPr sz="2400" b="1" i="0">
                <a:solidFill>
                  <a:srgbClr val="000054"/>
                </a:solidFill>
                <a:latin typeface="Aptos"/>
                <a:ea typeface="Aptos"/>
                <a:cs typeface="Aptos"/>
              </a:rPr>
              <a:t>Mục tiêu: duy trì tự học và sửa sai có ghi nhận.</a:t>
            </a:r>
          </a:p>
        </p:txBody>
      </p:sp>
    </p:spTree>
    <p:extLst>
      <p:ext uri="{BB962C8B-B14F-4D97-AF65-F5344CB8AC3E}">
        <p14:creationId xmlns:p14="http://schemas.microsoft.com/office/powerpoint/2010/main" val="200283876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9A6486C6-0463-4377-B953-72B7CB7DA327}"/>
              </a:ext>
            </a:extLst>
          </p:cNvPr>
          <p:cNvSpPr>
            <a:spLocks xmlns:a="http://schemas.openxmlformats.org/drawingml/2006/main" noGrp="1"/>
          </p:cNvSpPr>
          <p:nvPr/>
        </p:nvSpPr>
        <p:spPr>
          <a:xfrm xmlns:a="http://schemas.openxmlformats.org/drawingml/2006/main" flipV="1">
            <a:off x="714375" y="9182100"/>
            <a:ext cx="16868775" cy="0"/>
          </a:xfrm>
          <a:prstGeom xmlns:a="http://schemas.openxmlformats.org/drawingml/2006/main" prst="line">
            <a:avLst/>
          </a:prstGeom>
          <a:ln xmlns:a="http://schemas.openxmlformats.org/drawingml/2006/main" w="38100" cap="flat">
            <a:solidFill>
              <a:srgbClr val="E61E2A"/>
            </a:solidFill>
            <a:prstDash val="solid"/>
            <a:headEnd type="none" w="sm" len="sm"/>
            <a:tailEnd type="none" w="sm" len="sm"/>
          </a:ln>
        </p:spPr>
        <p:txBody>
          <a:bodyPr xmlns:a="http://schemas.openxmlformats.org/drawingml/2006/main"/>
          <a:lstStyle xmlns:a="http://schemas.openxmlformats.org/drawingml/2006/main"/>
          <a:p xmlns:a="http://schemas.openxmlformats.org/drawingml/2006/main">
            <a:endParaRPr/>
          </a:p>
        </p:txBody>
      </p:sp>
      <p:sp>
        <p:nvSpPr>
          <p:cNvPr id="3" name="TextBox 3">
            <a:extLst xmlns:a="http://schemas.openxmlformats.org/drawingml/2006/main">
              <a:ext uri="{FF2B5EF4-FFF2-40B4-BE49-F238E27FC236}">
                <a16:creationId xmlns:a16="http://schemas.microsoft.com/office/drawing/2014/main" id="{DFBDE3F4-5DC9-4AD9-94DB-F2FA5972B115}"/>
              </a:ext>
            </a:extLst>
          </p:cNvPr>
          <p:cNvSpPr>
            <a:spLocks xmlns:a="http://schemas.openxmlformats.org/drawingml/2006/main" noGrp="1"/>
          </p:cNvSpPr>
          <p:nvPr/>
        </p:nvSpPr>
        <p:spPr>
          <a:xfrm xmlns:a="http://schemas.openxmlformats.org/drawingml/2006/main">
            <a:off x="882777" y="1005650"/>
            <a:ext cx="16478250" cy="87147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4477" b="1" i="0">
                <a:solidFill>
                  <a:srgbClr val="000054"/>
                </a:solidFill>
                <a:latin typeface="Aptos Bold"/>
                <a:ea typeface="Aptos Bold"/>
                <a:cs typeface="Aptos Bold"/>
              </a:defRPr>
            </a:defPPr>
          </a:lstStyle>
          <a:p xmlns:a="http://schemas.openxmlformats.org/drawingml/2006/main">
            <a:pPr marL="0" lvl="0" indent="0" algn="l">
              <a:lnSpc>
                <a:spcPts val="6862"/>
              </a:lnSpc>
              <a:spcBef>
                <a:spcPct val="0"/>
              </a:spcBef>
              <a:buNone/>
              <a:defRPr sz="4477" b="1" i="0">
                <a:solidFill>
                  <a:srgbClr val="000054"/>
                </a:solidFill>
                <a:latin typeface="Aptos Bold"/>
                <a:ea typeface="Aptos Bold"/>
                <a:cs typeface="Aptos Bold"/>
              </a:defRPr>
            </a:pPr>
            <a:r>
              <a:rPr sz="4477" b="1" i="0" spc="-223">
                <a:solidFill>
                  <a:srgbClr val="000054"/>
                </a:solidFill>
                <a:latin typeface="Aptos Bold"/>
                <a:ea typeface="Aptos Bold"/>
                <a:cs typeface="Aptos Bold"/>
              </a:rPr>
              <a:t>BỐI CẢNH VÀ VẤN ĐỀ</a:t>
            </a:r>
          </a:p>
        </p:txBody>
      </p:sp>
      <p:sp>
        <p:nvSpPr>
          <p:cNvPr id="4" name="TextBox 4">
            <a:extLst xmlns:a="http://schemas.openxmlformats.org/drawingml/2006/main">
              <a:ext uri="{FF2B5EF4-FFF2-40B4-BE49-F238E27FC236}">
                <a16:creationId xmlns:a16="http://schemas.microsoft.com/office/drawing/2014/main" id="{9E799145-04B6-4EE9-BEEF-A42D32AE3EAF}"/>
              </a:ext>
            </a:extLst>
          </p:cNvPr>
          <p:cNvSpPr>
            <a:spLocks xmlns:a="http://schemas.openxmlformats.org/drawingml/2006/main" noGrp="1"/>
          </p:cNvSpPr>
          <p:nvPr/>
        </p:nvSpPr>
        <p:spPr>
          <a:xfrm xmlns:a="http://schemas.openxmlformats.org/drawingml/2006/main">
            <a:off x="904875" y="2333625"/>
            <a:ext cx="8096250" cy="3144012"/>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3026" b="0" i="0">
                <a:solidFill>
                  <a:srgbClr val="000054"/>
                </a:solidFill>
                <a:latin typeface="Aptos"/>
                <a:ea typeface="Aptos"/>
                <a:cs typeface="Aptos"/>
              </a:defRPr>
            </a:defPPr>
          </a:lstStyle>
          <a:p xmlns:a="http://schemas.openxmlformats.org/drawingml/2006/main">
            <a:pPr marL="292100" indent="-152400" algn="l">
              <a:spcAft>
                <a:spcPts val="2200"/>
              </a:spcAft>
              <a:buChar char="•"/>
              <a:defRPr sz="3026" b="0" i="0">
                <a:solidFill>
                  <a:srgbClr val="000054"/>
                </a:solidFill>
                <a:latin typeface="Aptos"/>
                <a:ea typeface="Aptos"/>
                <a:cs typeface="Aptos"/>
              </a:defRPr>
            </a:pPr>
            <a:r>
              <a:rPr sz="3026" b="0" i="0">
                <a:solidFill>
                  <a:srgbClr val="000054"/>
                </a:solidFill>
                <a:latin typeface="Aptos"/>
                <a:ea typeface="Aptos"/>
                <a:cs typeface="Aptos"/>
              </a:rPr>
              <a:t>Cần duy trì luyện tập ngoài giờ trên lớp.</a:t>
            </a:r>
          </a:p>
          <a:p xmlns:a="http://schemas.openxmlformats.org/drawingml/2006/main">
            <a:pPr marL="292100" indent="-152400" algn="l">
              <a:spcAft>
                <a:spcPts val="2200"/>
              </a:spcAft>
              <a:buChar char="•"/>
              <a:defRPr sz="3026" b="0" i="0">
                <a:solidFill>
                  <a:srgbClr val="000054"/>
                </a:solidFill>
                <a:latin typeface="Aptos"/>
                <a:ea typeface="Aptos"/>
                <a:cs typeface="Aptos"/>
              </a:defRPr>
            </a:pPr>
            <a:r>
              <a:rPr sz="3026" b="0" i="0">
                <a:solidFill>
                  <a:srgbClr val="000054"/>
                </a:solidFill>
                <a:latin typeface="Aptos"/>
                <a:ea typeface="Aptos"/>
                <a:cs typeface="Aptos"/>
              </a:rPr>
              <a:t>Cần theo dõi câu trả lời sai để tránh lặp lại.</a:t>
            </a:r>
          </a:p>
          <a:p xmlns:a="http://schemas.openxmlformats.org/drawingml/2006/main">
            <a:pPr marL="292100" indent="-152400" algn="l">
              <a:spcAft>
                <a:spcPts val="2200"/>
              </a:spcAft>
              <a:buChar char="•"/>
              <a:defRPr sz="3026" b="0" i="0">
                <a:solidFill>
                  <a:srgbClr val="000054"/>
                </a:solidFill>
                <a:latin typeface="Aptos"/>
                <a:ea typeface="Aptos"/>
                <a:cs typeface="Aptos"/>
              </a:defRPr>
            </a:pPr>
            <a:r>
              <a:rPr sz="3026" b="0" i="0">
                <a:solidFill>
                  <a:srgbClr val="000054"/>
                </a:solidFill>
                <a:latin typeface="Aptos"/>
                <a:ea typeface="Aptos"/>
                <a:cs typeface="Aptos"/>
              </a:rPr>
              <a:t>Giáo viên cần quản lý bài tập và tiến độ theo lớp.</a:t>
            </a:r>
          </a:p>
          <a:p xmlns:a="http://schemas.openxmlformats.org/drawingml/2006/main">
            <a:pPr marL="292100" indent="-152400" algn="l">
              <a:spcAft>
                <a:spcPts val="2200"/>
              </a:spcAft>
              <a:buChar char="•"/>
              <a:defRPr sz="3026" b="0" i="0">
                <a:solidFill>
                  <a:srgbClr val="000054"/>
                </a:solidFill>
                <a:latin typeface="Aptos"/>
                <a:ea typeface="Aptos"/>
                <a:cs typeface="Aptos"/>
              </a:defRPr>
            </a:pPr>
            <a:r>
              <a:rPr sz="3026" b="0" i="0">
                <a:solidFill>
                  <a:srgbClr val="000054"/>
                </a:solidFill>
                <a:latin typeface="Aptos"/>
                <a:ea typeface="Aptos"/>
                <a:cs typeface="Aptos"/>
              </a:rPr>
              <a:t>Thi đua theo nỗ lực tạo thêm cơ hội được ghi nhận.</a:t>
            </a:r>
          </a:p>
        </p:txBody>
      </p:sp>
      <p:sp>
        <p:nvSpPr>
          <p:cNvPr id="5" name="Freeform 5">
            <a:extLst xmlns:a="http://schemas.openxmlformats.org/drawingml/2006/main">
              <a:ext uri="{FF2B5EF4-FFF2-40B4-BE49-F238E27FC236}">
                <a16:creationId xmlns:a16="http://schemas.microsoft.com/office/drawing/2014/main" id="{0BF338E0-FBCC-45E2-BC59-C5CC04E7BD08}"/>
              </a:ext>
            </a:extLst>
          </p:cNvPr>
          <p:cNvSpPr>
            <a:spLocks xmlns:a="http://schemas.openxmlformats.org/drawingml/2006/main" noGrp="1"/>
          </p:cNvSpPr>
          <p:nvPr/>
        </p:nvSpPr>
        <p:spPr>
          <a:xfrm xmlns:a="http://schemas.openxmlformats.org/drawingml/2006/main">
            <a:off x="0" y="8919749"/>
            <a:ext cx="18288000" cy="1367251"/>
          </a:xfrm>
          <a:custGeom xmlns:a="http://schemas.openxmlformats.org/drawingml/2006/main">
            <a:rect l="l" t="t" r="r" b="b"/>
            <a:pathLst>
              <a:path w="18288000" h="1367251">
                <a:moveTo>
                  <a:pt x="0" y="0"/>
                </a:moveTo>
                <a:lnTo>
                  <a:pt x="18288000" y="0"/>
                </a:lnTo>
                <a:lnTo>
                  <a:pt x="18288000" y="1367251"/>
                </a:lnTo>
                <a:lnTo>
                  <a:pt x="0" y="1367251"/>
                </a:lnTo>
                <a:lnTo>
                  <a:pt x="0" y="0"/>
                </a:lnTo>
                <a:close/>
              </a:path>
            </a:pathLst>
          </a:custGeom>
          <a:blipFill xmlns:a="http://schemas.openxmlformats.org/drawingml/2006/main">
            <a:blip xmlns:r="http://schemas.openxmlformats.org/officeDocument/2006/relationships" r:embed="R042df55767d64426"/>
            <a:stretch>
              <a:fillRect l="0" t="-652385" r="0" b="0"/>
            </a:stretch>
          </a:blipFill>
        </p:spPr>
        <p:txBody>
          <a:bodyPr xmlns:a="http://schemas.openxmlformats.org/drawingml/2006/main"/>
          <a:lstStyle xmlns:a="http://schemas.openxmlformats.org/drawingml/2006/main"/>
          <a:p xmlns:a="http://schemas.openxmlformats.org/drawingml/2006/main">
            <a:endParaRPr/>
          </a:p>
        </p:txBody>
      </p:sp>
      <p:pic>
        <p:nvPicPr>
          <p:cNvPr id="6" name="">
            <a:extLst xmlns:a="http://schemas.openxmlformats.org/drawingml/2006/main">
              <a:ext uri="{FF2B5EF4-FFF2-40B4-BE49-F238E27FC236}">
                <a16:creationId xmlns:a16="http://schemas.microsoft.com/office/drawing/2014/main" id="{A3A3FF30-68F4-43E0-91BB-C71E0E77DD51}"/>
              </a:ext>
            </a:extLst>
          </p:cNvPr>
          <p:cNvPicPr>
            <a:picLocks xmlns:a="http://schemas.openxmlformats.org/drawingml/2006/main" noChangeAspect="1"/>
          </p:cNvPicPr>
          <p:nvPr/>
        </p:nvPicPr>
        <p:blipFill>
          <a:blip xmlns:r="http://schemas.openxmlformats.org/officeDocument/2006/relationships" xmlns:a="http://schemas.openxmlformats.org/drawingml/2006/main" r:embed="R0c37d860d32f4d3d"/>
          <a:stretch xmlns:a="http://schemas.openxmlformats.org/drawingml/2006/main"/>
        </p:blipFill>
        <p:spPr>
          <a:xfrm xmlns:a="http://schemas.openxmlformats.org/drawingml/2006/main">
            <a:off x="10013156" y="2524125"/>
            <a:ext cx="7215188" cy="4810125"/>
          </a:xfrm>
          <a:prstGeom xmlns:a="http://schemas.openxmlformats.org/drawingml/2006/main" prst="rect">
            <a:avLst/>
          </a:prstGeom>
        </p:spPr>
      </p:pic>
      <p:sp>
        <p:nvSpPr>
          <p:cNvPr id="7" name="GreenEdu Cây kiến thức biểu đạt sự tích l">
            <a:extLst xmlns:a="http://schemas.openxmlformats.org/drawingml/2006/main">
              <a:ext uri="{FF2B5EF4-FFF2-40B4-BE49-F238E27FC236}">
                <a16:creationId xmlns:a16="http://schemas.microsoft.com/office/drawing/2014/main" id="{8FADF0B0-9A95-417E-8D2F-BE20E5FEA6D5}"/>
              </a:ext>
            </a:extLst>
          </p:cNvPr>
          <p:cNvSpPr>
            <a:spLocks xmlns:a="http://schemas.openxmlformats.org/drawingml/2006/main" noGrp="1"/>
          </p:cNvSpPr>
          <p:nvPr/>
        </p:nvSpPr>
        <p:spPr>
          <a:xfrm xmlns:a="http://schemas.openxmlformats.org/drawingml/2006/main">
            <a:off x="10001250" y="7620000"/>
            <a:ext cx="723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i="0">
                <a:solidFill>
                  <a:srgbClr val="000054"/>
                </a:solidFill>
                <a:latin typeface="Aptos"/>
                <a:ea typeface="Aptos"/>
                <a:cs typeface="Aptos"/>
              </a:defRPr>
            </a:defPPr>
          </a:lstStyle>
          <a:p xmlns:a="http://schemas.openxmlformats.org/drawingml/2006/main">
            <a:pPr algn="ctr">
              <a:defRPr sz="2250" b="0" i="0">
                <a:solidFill>
                  <a:srgbClr val="000054"/>
                </a:solidFill>
                <a:latin typeface="Aptos"/>
                <a:ea typeface="Aptos"/>
                <a:cs typeface="Aptos"/>
              </a:defRPr>
            </a:pPr>
            <a:r>
              <a:rPr sz="2250" b="0" i="0">
                <a:solidFill>
                  <a:srgbClr val="000054"/>
                </a:solidFill>
                <a:latin typeface="Aptos"/>
                <a:ea typeface="Aptos"/>
                <a:cs typeface="Aptos"/>
              </a:rPr>
              <a:t>Cây kiến thức biểu đạt sự tích lũy</a:t>
            </a:r>
          </a:p>
          <a:p xmlns:a="http://schemas.openxmlformats.org/drawingml/2006/main">
            <a:pPr algn="ctr">
              <a:defRPr sz="2250" b="0" i="0">
                <a:solidFill>
                  <a:srgbClr val="000054"/>
                </a:solidFill>
                <a:latin typeface="Aptos"/>
                <a:ea typeface="Aptos"/>
                <a:cs typeface="Aptos"/>
              </a:defRPr>
            </a:pPr>
            <a:r>
              <a:rPr sz="2250" b="0" i="0">
                <a:solidFill>
                  <a:srgbClr val="000054"/>
                </a:solidFill>
                <a:latin typeface="Aptos"/>
                <a:ea typeface="Aptos"/>
                <a:cs typeface="Aptos"/>
              </a:rPr>
              <a:t>của từng học sinh</a:t>
            </a:r>
          </a:p>
        </p:txBody>
      </p:sp>
    </p:spTree>
    <p:extLst>
      <p:ext uri="{BB962C8B-B14F-4D97-AF65-F5344CB8AC3E}">
        <p14:creationId xmlns:p14="http://schemas.microsoft.com/office/powerpoint/2010/main" val="210693702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4F8243C0-81A4-4BB3-BABE-B2F626AE866D}"/>
              </a:ext>
            </a:extLst>
          </p:cNvPr>
          <p:cNvSpPr>
            <a:spLocks xmlns:a="http://schemas.openxmlformats.org/drawingml/2006/main" noGrp="1"/>
          </p:cNvSpPr>
          <p:nvPr/>
        </p:nvSpPr>
        <p:spPr>
          <a:xfrm xmlns:a="http://schemas.openxmlformats.org/drawingml/2006/main">
            <a:off x="904875" y="2238375"/>
            <a:ext cx="8334375" cy="360517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3026" b="0" i="0">
                <a:solidFill>
                  <a:srgbClr val="000054"/>
                </a:solidFill>
                <a:latin typeface="Aptos"/>
                <a:ea typeface="Aptos"/>
                <a:cs typeface="Aptos"/>
              </a:defRPr>
            </a:defPPr>
          </a:lstStyle>
          <a:p xmlns:a="http://schemas.openxmlformats.org/drawingml/2006/main">
            <a:pPr marL="292100" indent="-152400" algn="l">
              <a:spcAft>
                <a:spcPts val="2200"/>
              </a:spcAft>
              <a:buChar char="•"/>
              <a:defRPr sz="3026" b="0" i="0">
                <a:solidFill>
                  <a:srgbClr val="000054"/>
                </a:solidFill>
                <a:latin typeface="Aptos"/>
                <a:ea typeface="Aptos"/>
                <a:cs typeface="Aptos"/>
              </a:defRPr>
            </a:pPr>
            <a:r>
              <a:rPr sz="3026" b="0" i="0">
                <a:solidFill>
                  <a:srgbClr val="000054"/>
                </a:solidFill>
                <a:latin typeface="Aptos"/>
                <a:ea typeface="Aptos"/>
                <a:cs typeface="Aptos"/>
              </a:rPr>
              <a:t>Codex hỗ trợ lập trình và rà soát các luồng học tập.</a:t>
            </a:r>
          </a:p>
          <a:p xmlns:a="http://schemas.openxmlformats.org/drawingml/2006/main">
            <a:pPr marL="292100" indent="-152400" algn="l">
              <a:spcAft>
                <a:spcPts val="2200"/>
              </a:spcAft>
              <a:buChar char="•"/>
              <a:defRPr sz="3026" b="0" i="0">
                <a:solidFill>
                  <a:srgbClr val="000054"/>
                </a:solidFill>
                <a:latin typeface="Aptos"/>
                <a:ea typeface="Aptos"/>
                <a:cs typeface="Aptos"/>
              </a:defRPr>
            </a:pPr>
            <a:r>
              <a:rPr sz="3026" b="0" i="0">
                <a:solidFill>
                  <a:srgbClr val="000054"/>
                </a:solidFill>
                <a:latin typeface="Aptos"/>
                <a:ea typeface="Aptos"/>
                <a:cs typeface="Aptos"/>
              </a:rPr>
              <a:t>AI hỗ trợ soạn câu hỏi; giáo viên kiểm tra kiến thức, đáp án.</a:t>
            </a:r>
          </a:p>
          <a:p xmlns:a="http://schemas.openxmlformats.org/drawingml/2006/main">
            <a:pPr marL="292100" indent="-152400" algn="l">
              <a:spcAft>
                <a:spcPts val="2200"/>
              </a:spcAft>
              <a:buChar char="•"/>
              <a:defRPr sz="3026" b="0" i="0">
                <a:solidFill>
                  <a:srgbClr val="000054"/>
                </a:solidFill>
                <a:latin typeface="Aptos"/>
                <a:ea typeface="Aptos"/>
                <a:cs typeface="Aptos"/>
              </a:defRPr>
            </a:pPr>
            <a:r>
              <a:rPr sz="3026" b="0" i="0">
                <a:solidFill>
                  <a:srgbClr val="000054"/>
                </a:solidFill>
                <a:latin typeface="Aptos"/>
                <a:ea typeface="Aptos"/>
                <a:cs typeface="Aptos"/>
              </a:rPr>
              <a:t>ImageGen hỗ trợ minh họa và tài liệu hướng dẫn.</a:t>
            </a:r>
          </a:p>
          <a:p xmlns:a="http://schemas.openxmlformats.org/drawingml/2006/main">
            <a:pPr marL="292100" indent="-152400" algn="l">
              <a:spcAft>
                <a:spcPts val="2200"/>
              </a:spcAft>
              <a:buChar char="•"/>
              <a:defRPr sz="3026" b="0" i="0">
                <a:solidFill>
                  <a:srgbClr val="000054"/>
                </a:solidFill>
                <a:latin typeface="Aptos"/>
                <a:ea typeface="Aptos"/>
                <a:cs typeface="Aptos"/>
              </a:defRPr>
            </a:pPr>
            <a:r>
              <a:rPr sz="3026" b="0" i="0">
                <a:solidFill>
                  <a:srgbClr val="000054"/>
                </a:solidFill>
                <a:latin typeface="Aptos"/>
                <a:ea typeface="Aptos"/>
                <a:cs typeface="Aptos"/>
              </a:rPr>
              <a:t>Phân quyền dữ liệu; giáo viên quyết định nội dung sử dụng.</a:t>
            </a:r>
          </a:p>
        </p:txBody>
      </p:sp>
      <p:sp>
        <p:nvSpPr>
          <p:cNvPr id="3" name="AutoShape 3">
            <a:extLst xmlns:a="http://schemas.openxmlformats.org/drawingml/2006/main">
              <a:ext uri="{FF2B5EF4-FFF2-40B4-BE49-F238E27FC236}">
                <a16:creationId xmlns:a16="http://schemas.microsoft.com/office/drawing/2014/main" id="{AE666BD9-3227-4375-AF75-B071D6A47D24}"/>
              </a:ext>
            </a:extLst>
          </p:cNvPr>
          <p:cNvSpPr>
            <a:spLocks xmlns:a="http://schemas.openxmlformats.org/drawingml/2006/main" noGrp="1"/>
          </p:cNvSpPr>
          <p:nvPr/>
        </p:nvSpPr>
        <p:spPr>
          <a:xfrm xmlns:a="http://schemas.openxmlformats.org/drawingml/2006/main" flipV="1">
            <a:off x="714375" y="9182100"/>
            <a:ext cx="16868775" cy="0"/>
          </a:xfrm>
          <a:prstGeom xmlns:a="http://schemas.openxmlformats.org/drawingml/2006/main" prst="line">
            <a:avLst/>
          </a:prstGeom>
          <a:ln xmlns:a="http://schemas.openxmlformats.org/drawingml/2006/main" w="38100" cap="flat">
            <a:solidFill>
              <a:srgbClr val="E61E2A"/>
            </a:solidFill>
            <a:prstDash val="solid"/>
            <a:headEnd type="none" w="sm" len="sm"/>
            <a:tailEnd type="none" w="sm" len="sm"/>
          </a:ln>
        </p:spPr>
        <p:txBody>
          <a:bodyPr xmlns:a="http://schemas.openxmlformats.org/drawingml/2006/main"/>
          <a:lstStyle xmlns:a="http://schemas.openxmlformats.org/drawingml/2006/main"/>
          <a:p xmlns:a="http://schemas.openxmlformats.org/drawingml/2006/main">
            <a:endParaRPr/>
          </a:p>
        </p:txBody>
      </p:sp>
      <p:sp>
        <p:nvSpPr>
          <p:cNvPr id="5" name="Freeform 5">
            <a:extLst xmlns:a="http://schemas.openxmlformats.org/drawingml/2006/main">
              <a:ext uri="{FF2B5EF4-FFF2-40B4-BE49-F238E27FC236}">
                <a16:creationId xmlns:a16="http://schemas.microsoft.com/office/drawing/2014/main" id="{AE760368-29D3-4D7B-9D1A-F655D2D89E49}"/>
              </a:ext>
            </a:extLst>
          </p:cNvPr>
          <p:cNvSpPr>
            <a:spLocks xmlns:a="http://schemas.openxmlformats.org/drawingml/2006/main" noGrp="1"/>
          </p:cNvSpPr>
          <p:nvPr/>
        </p:nvSpPr>
        <p:spPr>
          <a:xfrm xmlns:a="http://schemas.openxmlformats.org/drawingml/2006/main">
            <a:off x="0" y="8852107"/>
            <a:ext cx="18288000" cy="1434893"/>
          </a:xfrm>
          <a:custGeom xmlns:a="http://schemas.openxmlformats.org/drawingml/2006/main">
            <a:rect l="l" t="t" r="r" b="b"/>
            <a:pathLst>
              <a:path w="18288000" h="1434893">
                <a:moveTo>
                  <a:pt x="0" y="0"/>
                </a:moveTo>
                <a:lnTo>
                  <a:pt x="18288000" y="0"/>
                </a:lnTo>
                <a:lnTo>
                  <a:pt x="18288000" y="1434893"/>
                </a:lnTo>
                <a:lnTo>
                  <a:pt x="0" y="1434893"/>
                </a:lnTo>
                <a:lnTo>
                  <a:pt x="0" y="0"/>
                </a:lnTo>
                <a:close/>
              </a:path>
            </a:pathLst>
          </a:custGeom>
          <a:blipFill xmlns:a="http://schemas.openxmlformats.org/drawingml/2006/main">
            <a:blip xmlns:r="http://schemas.openxmlformats.org/officeDocument/2006/relationships" r:embed="R670d92bfc90e4170"/>
            <a:stretch>
              <a:fillRect l="0" t="-616917" r="0" b="0"/>
            </a:stretch>
          </a:blipFill>
        </p:spPr>
        <p:txBody>
          <a:bodyPr xmlns:a="http://schemas.openxmlformats.org/drawingml/2006/main"/>
          <a:lstStyle xmlns:a="http://schemas.openxmlformats.org/drawingml/2006/main"/>
          <a:p xmlns:a="http://schemas.openxmlformats.org/drawingml/2006/main">
            <a:endParaRPr/>
          </a:p>
        </p:txBody>
      </p:sp>
      <p:sp>
        <p:nvSpPr>
          <p:cNvPr id="6" name="TextBox 6">
            <a:extLst xmlns:a="http://schemas.openxmlformats.org/drawingml/2006/main">
              <a:ext uri="{FF2B5EF4-FFF2-40B4-BE49-F238E27FC236}">
                <a16:creationId xmlns:a16="http://schemas.microsoft.com/office/drawing/2014/main" id="{38E0F9D6-AB82-4423-B442-B9BDBC6925D8}"/>
              </a:ext>
            </a:extLst>
          </p:cNvPr>
          <p:cNvSpPr>
            <a:spLocks xmlns:a="http://schemas.openxmlformats.org/drawingml/2006/main" noGrp="1"/>
          </p:cNvSpPr>
          <p:nvPr/>
        </p:nvSpPr>
        <p:spPr>
          <a:xfrm xmlns:a="http://schemas.openxmlformats.org/drawingml/2006/main">
            <a:off x="882777" y="1005650"/>
            <a:ext cx="16478250" cy="87147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4477" b="1" i="0">
                <a:solidFill>
                  <a:srgbClr val="000054"/>
                </a:solidFill>
                <a:latin typeface="Aptos Bold"/>
                <a:ea typeface="Aptos Bold"/>
                <a:cs typeface="Aptos Bold"/>
              </a:defRPr>
            </a:defPPr>
          </a:lstStyle>
          <a:p xmlns:a="http://schemas.openxmlformats.org/drawingml/2006/main">
            <a:pPr marL="0" lvl="0" indent="0" algn="l">
              <a:lnSpc>
                <a:spcPts val="6862"/>
              </a:lnSpc>
              <a:spcBef>
                <a:spcPct val="0"/>
              </a:spcBef>
              <a:buNone/>
              <a:defRPr sz="4477" b="1" i="0">
                <a:solidFill>
                  <a:srgbClr val="000054"/>
                </a:solidFill>
                <a:latin typeface="Aptos Bold"/>
                <a:ea typeface="Aptos Bold"/>
                <a:cs typeface="Aptos Bold"/>
              </a:defRPr>
            </a:pPr>
            <a:r>
              <a:rPr sz="4477" b="1" i="0" spc="-223">
                <a:solidFill>
                  <a:srgbClr val="000054"/>
                </a:solidFill>
                <a:latin typeface="Aptos Bold"/>
                <a:ea typeface="Aptos Bold"/>
                <a:cs typeface="Aptos Bold"/>
              </a:rPr>
              <a:t>Ý TƯỞNG VÀ GIẢI PHÁP</a:t>
            </a:r>
          </a:p>
        </p:txBody>
      </p:sp>
      <p:pic>
        <p:nvPicPr>
          <p:cNvPr id="7" name="">
            <a:extLst xmlns:a="http://schemas.openxmlformats.org/drawingml/2006/main">
              <a:ext uri="{FF2B5EF4-FFF2-40B4-BE49-F238E27FC236}">
                <a16:creationId xmlns:a16="http://schemas.microsoft.com/office/drawing/2014/main" id="{4D731AFA-21C0-4A2B-9DBC-EF4CE5F6AD13}"/>
              </a:ext>
            </a:extLst>
          </p:cNvPr>
          <p:cNvPicPr>
            <a:picLocks xmlns:a="http://schemas.openxmlformats.org/drawingml/2006/main" noChangeAspect="1"/>
          </p:cNvPicPr>
          <p:nvPr/>
        </p:nvPicPr>
        <p:blipFill>
          <a:blip xmlns:r="http://schemas.openxmlformats.org/officeDocument/2006/relationships" xmlns:a="http://schemas.openxmlformats.org/drawingml/2006/main" r:embed="R20cfb608f4654996"/>
          <a:stretch xmlns:a="http://schemas.openxmlformats.org/drawingml/2006/main"/>
        </p:blipFill>
        <p:spPr>
          <a:xfrm xmlns:a="http://schemas.openxmlformats.org/drawingml/2006/main">
            <a:off x="10001250" y="2995433"/>
            <a:ext cx="7239000" cy="4439009"/>
          </a:xfrm>
          <a:prstGeom xmlns:a="http://schemas.openxmlformats.org/drawingml/2006/main" prst="rect">
            <a:avLst/>
          </a:prstGeom>
        </p:spPr>
      </p:pic>
      <p:sp>
        <p:nvSpPr>
          <p:cNvPr id="8" name="GreenEdu Import Word: một bài học, nhiều ">
            <a:extLst xmlns:a="http://schemas.openxmlformats.org/drawingml/2006/main">
              <a:ext uri="{FF2B5EF4-FFF2-40B4-BE49-F238E27FC236}">
                <a16:creationId xmlns:a16="http://schemas.microsoft.com/office/drawing/2014/main" id="{DA77F5C2-BEDA-4CE1-B019-48A3E7F1C8BD}"/>
              </a:ext>
            </a:extLst>
          </p:cNvPr>
          <p:cNvSpPr>
            <a:spLocks xmlns:a="http://schemas.openxmlformats.org/drawingml/2006/main" noGrp="1"/>
          </p:cNvSpPr>
          <p:nvPr/>
        </p:nvSpPr>
        <p:spPr>
          <a:xfrm xmlns:a="http://schemas.openxmlformats.org/drawingml/2006/main">
            <a:off x="9715500" y="7620000"/>
            <a:ext cx="771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0" i="0">
                <a:solidFill>
                  <a:srgbClr val="000054"/>
                </a:solidFill>
                <a:latin typeface="Aptos"/>
                <a:ea typeface="Aptos"/>
                <a:cs typeface="Aptos"/>
              </a:defRPr>
            </a:defPPr>
          </a:lstStyle>
          <a:p xmlns:a="http://schemas.openxmlformats.org/drawingml/2006/main">
            <a:pPr algn="ctr">
              <a:defRPr sz="2175" b="0" i="0">
                <a:solidFill>
                  <a:srgbClr val="000054"/>
                </a:solidFill>
                <a:latin typeface="Aptos"/>
                <a:ea typeface="Aptos"/>
                <a:cs typeface="Aptos"/>
              </a:defRPr>
            </a:pPr>
            <a:r>
              <a:rPr sz="2175" b="0" i="0">
                <a:solidFill>
                  <a:srgbClr val="000054"/>
                </a:solidFill>
                <a:latin typeface="Aptos"/>
                <a:ea typeface="Aptos"/>
                <a:cs typeface="Aptos"/>
              </a:rPr>
              <a:t>Import Word: một bài học, nhiều chủ đề</a:t>
            </a:r>
          </a:p>
        </p:txBody>
      </p:sp>
      <p:sp>
        <p:nvSpPr>
          <p:cNvPr id="9" name="GreenEdu Gia sư AI cho học sinh thuộc kế ">
            <a:extLst xmlns:a="http://schemas.openxmlformats.org/drawingml/2006/main">
              <a:ext uri="{FF2B5EF4-FFF2-40B4-BE49-F238E27FC236}">
                <a16:creationId xmlns:a16="http://schemas.microsoft.com/office/drawing/2014/main" id="{D7743F28-7740-4A60-B86B-F1B10DB6E52D}"/>
              </a:ext>
            </a:extLst>
          </p:cNvPr>
          <p:cNvSpPr>
            <a:spLocks xmlns:a="http://schemas.openxmlformats.org/drawingml/2006/main" noGrp="1"/>
          </p:cNvSpPr>
          <p:nvPr/>
        </p:nvSpPr>
        <p:spPr>
          <a:xfrm xmlns:a="http://schemas.openxmlformats.org/drawingml/2006/main">
            <a:off x="904875" y="8324850"/>
            <a:ext cx="1647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i="0">
                <a:solidFill>
                  <a:srgbClr val="000054"/>
                </a:solidFill>
                <a:latin typeface="Aptos"/>
                <a:ea typeface="Aptos"/>
                <a:cs typeface="Aptos"/>
              </a:defRPr>
            </a:defPPr>
          </a:lstStyle>
          <a:p xmlns:a="http://schemas.openxmlformats.org/drawingml/2006/main">
            <a:pPr algn="l">
              <a:defRPr sz="2400" b="1" i="0">
                <a:solidFill>
                  <a:srgbClr val="000054"/>
                </a:solidFill>
                <a:latin typeface="Aptos"/>
                <a:ea typeface="Aptos"/>
                <a:cs typeface="Aptos"/>
              </a:defRPr>
            </a:pPr>
            <a:r>
              <a:rPr sz="2400" b="1" i="0">
                <a:solidFill>
                  <a:srgbClr val="000054"/>
                </a:solidFill>
                <a:latin typeface="Aptos"/>
                <a:ea typeface="Aptos"/>
                <a:cs typeface="Aptos"/>
              </a:rPr>
              <a:t>Gia sư AI cho học sinh thuộc kế hoạch phát triển.</a:t>
            </a:r>
          </a:p>
        </p:txBody>
      </p:sp>
    </p:spTree>
    <p:extLst>
      <p:ext uri="{BB962C8B-B14F-4D97-AF65-F5344CB8AC3E}">
        <p14:creationId xmlns:p14="http://schemas.microsoft.com/office/powerpoint/2010/main" val="115374095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0AA8E7F8-AD5A-4779-A5E0-26E856BD65C5}"/>
              </a:ext>
            </a:extLst>
          </p:cNvPr>
          <p:cNvSpPr>
            <a:spLocks xmlns:a="http://schemas.openxmlformats.org/drawingml/2006/main" noGrp="1"/>
          </p:cNvSpPr>
          <p:nvPr/>
        </p:nvSpPr>
        <p:spPr>
          <a:xfrm xmlns:a="http://schemas.openxmlformats.org/drawingml/2006/main">
            <a:off x="882777" y="1005650"/>
            <a:ext cx="16478250" cy="87147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4477" b="1" i="0">
                <a:solidFill>
                  <a:srgbClr val="000054"/>
                </a:solidFill>
                <a:latin typeface="Aptos Bold"/>
                <a:ea typeface="Aptos Bold"/>
                <a:cs typeface="Aptos Bold"/>
              </a:defRPr>
            </a:defPPr>
          </a:lstStyle>
          <a:p xmlns:a="http://schemas.openxmlformats.org/drawingml/2006/main">
            <a:pPr marL="0" lvl="0" indent="0" algn="l">
              <a:lnSpc>
                <a:spcPts val="6862"/>
              </a:lnSpc>
              <a:spcBef>
                <a:spcPct val="0"/>
              </a:spcBef>
              <a:buNone/>
              <a:defRPr sz="4477" b="1" i="0">
                <a:solidFill>
                  <a:srgbClr val="000054"/>
                </a:solidFill>
                <a:latin typeface="Aptos Bold"/>
                <a:ea typeface="Aptos Bold"/>
                <a:cs typeface="Aptos Bold"/>
              </a:defRPr>
            </a:pPr>
            <a:r>
              <a:rPr sz="4477" b="1" i="0" spc="-223">
                <a:solidFill>
                  <a:srgbClr val="000054"/>
                </a:solidFill>
                <a:latin typeface="Aptos Bold"/>
                <a:ea typeface="Aptos Bold"/>
                <a:cs typeface="Aptos Bold"/>
              </a:rPr>
              <a:t>TRIỂN KHAI THỰC TẾ</a:t>
            </a:r>
          </a:p>
        </p:txBody>
      </p:sp>
      <p:sp>
        <p:nvSpPr>
          <p:cNvPr id="3" name="TextBox 3">
            <a:extLst xmlns:a="http://schemas.openxmlformats.org/drawingml/2006/main">
              <a:ext uri="{FF2B5EF4-FFF2-40B4-BE49-F238E27FC236}">
                <a16:creationId xmlns:a16="http://schemas.microsoft.com/office/drawing/2014/main" id="{DC5EC13B-AAC8-4F6C-AEAC-6109505CCA07}"/>
              </a:ext>
            </a:extLst>
          </p:cNvPr>
          <p:cNvSpPr>
            <a:spLocks xmlns:a="http://schemas.openxmlformats.org/drawingml/2006/main" noGrp="1"/>
          </p:cNvSpPr>
          <p:nvPr/>
        </p:nvSpPr>
        <p:spPr>
          <a:xfrm xmlns:a="http://schemas.openxmlformats.org/drawingml/2006/main">
            <a:off x="904875" y="2286000"/>
            <a:ext cx="8286750" cy="4527499"/>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3026" b="0" i="0">
                <a:solidFill>
                  <a:srgbClr val="000054"/>
                </a:solidFill>
                <a:latin typeface="Aptos"/>
                <a:ea typeface="Aptos"/>
                <a:cs typeface="Aptos"/>
              </a:defRPr>
            </a:defPPr>
          </a:lstStyle>
          <a:p xmlns:a="http://schemas.openxmlformats.org/drawingml/2006/main">
            <a:pPr marL="292100" indent="-152400" algn="l">
              <a:spcAft>
                <a:spcPts val="2200"/>
              </a:spcAft>
              <a:buChar char="•"/>
              <a:defRPr sz="3026" b="0" i="0">
                <a:solidFill>
                  <a:srgbClr val="000054"/>
                </a:solidFill>
                <a:latin typeface="Aptos"/>
                <a:ea typeface="Aptos"/>
                <a:cs typeface="Aptos"/>
              </a:defRPr>
            </a:pPr>
            <a:r>
              <a:rPr sz="3026" b="0" i="0">
                <a:solidFill>
                  <a:srgbClr val="000054"/>
                </a:solidFill>
                <a:latin typeface="Aptos"/>
                <a:ea typeface="Aptos"/>
                <a:cs typeface="Aptos"/>
              </a:rPr>
              <a:t>Phạm vi: Vật lý 11, lớp 11/2, THPT Nguyễn Khuyến.</a:t>
            </a:r>
          </a:p>
          <a:p xmlns:a="http://schemas.openxmlformats.org/drawingml/2006/main">
            <a:pPr marL="292100" indent="-152400" algn="l">
              <a:spcAft>
                <a:spcPts val="2200"/>
              </a:spcAft>
              <a:buChar char="•"/>
              <a:defRPr sz="3026" b="0" i="0">
                <a:solidFill>
                  <a:srgbClr val="000054"/>
                </a:solidFill>
                <a:latin typeface="Aptos"/>
                <a:ea typeface="Aptos"/>
                <a:cs typeface="Aptos"/>
              </a:defRPr>
            </a:pPr>
            <a:r>
              <a:rPr sz="3026" b="0" i="0">
                <a:solidFill>
                  <a:srgbClr val="000054"/>
                </a:solidFill>
                <a:latin typeface="Aptos"/>
                <a:ea typeface="Aptos"/>
                <a:cs typeface="Aptos"/>
              </a:rPr>
              <a:t>47 học sinh được cấp tài khoản; 4 chương với 26 bài.</a:t>
            </a:r>
          </a:p>
          <a:p xmlns:a="http://schemas.openxmlformats.org/drawingml/2006/main">
            <a:pPr marL="292100" indent="-152400" algn="l">
              <a:spcAft>
                <a:spcPts val="2200"/>
              </a:spcAft>
              <a:buChar char="•"/>
              <a:defRPr sz="3026" b="0" i="0">
                <a:solidFill>
                  <a:srgbClr val="000054"/>
                </a:solidFill>
                <a:latin typeface="Aptos"/>
                <a:ea typeface="Aptos"/>
                <a:cs typeface="Aptos"/>
              </a:defRPr>
            </a:pPr>
            <a:r>
              <a:rPr sz="3026" b="0" i="0">
                <a:solidFill>
                  <a:srgbClr val="000054"/>
                </a:solidFill>
                <a:latin typeface="Aptos"/>
                <a:ea typeface="Aptos"/>
                <a:cs typeface="Aptos"/>
              </a:rPr>
              <a:t>Giáo viên giao bài, quản lý ngân hàng, theo dõi tiến độ.</a:t>
            </a:r>
          </a:p>
          <a:p xmlns:a="http://schemas.openxmlformats.org/drawingml/2006/main">
            <a:pPr marL="292100" indent="-152400" algn="l">
              <a:spcAft>
                <a:spcPts val="2200"/>
              </a:spcAft>
              <a:buChar char="•"/>
              <a:defRPr sz="3026" b="0" i="0">
                <a:solidFill>
                  <a:srgbClr val="000054"/>
                </a:solidFill>
                <a:latin typeface="Aptos"/>
                <a:ea typeface="Aptos"/>
                <a:cs typeface="Aptos"/>
              </a:defRPr>
            </a:pPr>
            <a:r>
              <a:rPr sz="3026" b="0" i="0">
                <a:solidFill>
                  <a:srgbClr val="000054"/>
                </a:solidFill>
                <a:latin typeface="Aptos"/>
                <a:ea typeface="Aptos"/>
                <a:cs typeface="Aptos"/>
              </a:rPr>
              <a:t>Web trên Railway, dùng trên điện thoại và máy tính.</a:t>
            </a:r>
          </a:p>
        </p:txBody>
      </p:sp>
      <p:sp>
        <p:nvSpPr>
          <p:cNvPr id="4" name="AutoShape 4">
            <a:extLst xmlns:a="http://schemas.openxmlformats.org/drawingml/2006/main">
              <a:ext uri="{FF2B5EF4-FFF2-40B4-BE49-F238E27FC236}">
                <a16:creationId xmlns:a16="http://schemas.microsoft.com/office/drawing/2014/main" id="{6719BADE-E2B4-41B5-B782-EC63F7D2FC7B}"/>
              </a:ext>
            </a:extLst>
          </p:cNvPr>
          <p:cNvSpPr>
            <a:spLocks xmlns:a="http://schemas.openxmlformats.org/drawingml/2006/main" noGrp="1"/>
          </p:cNvSpPr>
          <p:nvPr/>
        </p:nvSpPr>
        <p:spPr>
          <a:xfrm xmlns:a="http://schemas.openxmlformats.org/drawingml/2006/main" flipV="1">
            <a:off x="714375" y="9182100"/>
            <a:ext cx="16868775" cy="0"/>
          </a:xfrm>
          <a:prstGeom xmlns:a="http://schemas.openxmlformats.org/drawingml/2006/main" prst="line">
            <a:avLst/>
          </a:prstGeom>
          <a:ln xmlns:a="http://schemas.openxmlformats.org/drawingml/2006/main" w="38100" cap="flat">
            <a:solidFill>
              <a:srgbClr val="E61E2A"/>
            </a:solidFill>
            <a:prstDash val="solid"/>
            <a:headEnd type="none" w="sm" len="sm"/>
            <a:tailEnd type="none" w="sm" len="sm"/>
          </a:ln>
        </p:spPr>
        <p:txBody>
          <a:bodyPr xmlns:a="http://schemas.openxmlformats.org/drawingml/2006/main"/>
          <a:lstStyle xmlns:a="http://schemas.openxmlformats.org/drawingml/2006/main"/>
          <a:p xmlns:a="http://schemas.openxmlformats.org/drawingml/2006/main">
            <a:endParaRPr/>
          </a:p>
        </p:txBody>
      </p:sp>
      <p:sp>
        <p:nvSpPr>
          <p:cNvPr id="6" name="Freeform 6">
            <a:extLst xmlns:a="http://schemas.openxmlformats.org/drawingml/2006/main">
              <a:ext uri="{FF2B5EF4-FFF2-40B4-BE49-F238E27FC236}">
                <a16:creationId xmlns:a16="http://schemas.microsoft.com/office/drawing/2014/main" id="{850BD70E-F001-4848-9542-0E0C4640691B}"/>
              </a:ext>
            </a:extLst>
          </p:cNvPr>
          <p:cNvSpPr>
            <a:spLocks xmlns:a="http://schemas.openxmlformats.org/drawingml/2006/main" noGrp="1"/>
          </p:cNvSpPr>
          <p:nvPr/>
        </p:nvSpPr>
        <p:spPr>
          <a:xfrm xmlns:a="http://schemas.openxmlformats.org/drawingml/2006/main">
            <a:off x="0" y="8852107"/>
            <a:ext cx="18288000" cy="1434893"/>
          </a:xfrm>
          <a:custGeom xmlns:a="http://schemas.openxmlformats.org/drawingml/2006/main">
            <a:rect l="l" t="t" r="r" b="b"/>
            <a:pathLst>
              <a:path w="18288000" h="1434893">
                <a:moveTo>
                  <a:pt x="0" y="0"/>
                </a:moveTo>
                <a:lnTo>
                  <a:pt x="18288000" y="0"/>
                </a:lnTo>
                <a:lnTo>
                  <a:pt x="18288000" y="1434893"/>
                </a:lnTo>
                <a:lnTo>
                  <a:pt x="0" y="1434893"/>
                </a:lnTo>
                <a:lnTo>
                  <a:pt x="0" y="0"/>
                </a:lnTo>
                <a:close/>
              </a:path>
            </a:pathLst>
          </a:custGeom>
          <a:blipFill xmlns:a="http://schemas.openxmlformats.org/drawingml/2006/main">
            <a:blip xmlns:r="http://schemas.openxmlformats.org/officeDocument/2006/relationships" r:embed="R6aeacf10cd684f37"/>
            <a:stretch>
              <a:fillRect l="0" t="-616917" r="0" b="0"/>
            </a:stretch>
          </a:blipFill>
        </p:spPr>
        <p:txBody>
          <a:bodyPr xmlns:a="http://schemas.openxmlformats.org/drawingml/2006/main"/>
          <a:lstStyle xmlns:a="http://schemas.openxmlformats.org/drawingml/2006/main"/>
          <a:p xmlns:a="http://schemas.openxmlformats.org/drawingml/2006/main">
            <a:endParaRPr/>
          </a:p>
        </p:txBody>
      </p:sp>
      <p:pic>
        <p:nvPicPr>
          <p:cNvPr id="7" name="">
            <a:extLst xmlns:a="http://schemas.openxmlformats.org/drawingml/2006/main">
              <a:ext uri="{FF2B5EF4-FFF2-40B4-BE49-F238E27FC236}">
                <a16:creationId xmlns:a16="http://schemas.microsoft.com/office/drawing/2014/main" id="{B9B1EA03-D7E0-443F-A1A8-9420A2F26E59}"/>
              </a:ext>
            </a:extLst>
          </p:cNvPr>
          <p:cNvPicPr>
            <a:picLocks xmlns:a="http://schemas.openxmlformats.org/drawingml/2006/main" noChangeAspect="1"/>
          </p:cNvPicPr>
          <p:nvPr/>
        </p:nvPicPr>
        <p:blipFill>
          <a:blip xmlns:r="http://schemas.openxmlformats.org/officeDocument/2006/relationships" xmlns:a="http://schemas.openxmlformats.org/drawingml/2006/main" r:embed="R7b47363132334f78"/>
          <a:stretch xmlns:a="http://schemas.openxmlformats.org/drawingml/2006/main"/>
        </p:blipFill>
        <p:spPr>
          <a:xfrm xmlns:a="http://schemas.openxmlformats.org/drawingml/2006/main">
            <a:off x="9811464" y="2667000"/>
            <a:ext cx="7618572" cy="4619625"/>
          </a:xfrm>
          <a:prstGeom xmlns:a="http://schemas.openxmlformats.org/drawingml/2006/main" prst="rect">
            <a:avLst/>
          </a:prstGeom>
        </p:spPr>
      </p:pic>
      <p:sp>
        <p:nvSpPr>
          <p:cNvPr id="8" name="GreenEdu Ảnh thử nghiệm, không phải kết q">
            <a:extLst xmlns:a="http://schemas.openxmlformats.org/drawingml/2006/main">
              <a:ext uri="{FF2B5EF4-FFF2-40B4-BE49-F238E27FC236}">
                <a16:creationId xmlns:a16="http://schemas.microsoft.com/office/drawing/2014/main" id="{E3817F42-E4E1-49C7-A054-0345FBAE2A73}"/>
              </a:ext>
            </a:extLst>
          </p:cNvPr>
          <p:cNvSpPr>
            <a:spLocks xmlns:a="http://schemas.openxmlformats.org/drawingml/2006/main" noGrp="1"/>
          </p:cNvSpPr>
          <p:nvPr/>
        </p:nvSpPr>
        <p:spPr>
          <a:xfrm xmlns:a="http://schemas.openxmlformats.org/drawingml/2006/main">
            <a:off x="9810750" y="7543800"/>
            <a:ext cx="762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0" i="0">
                <a:solidFill>
                  <a:srgbClr val="000054"/>
                </a:solidFill>
                <a:latin typeface="Aptos"/>
                <a:ea typeface="Aptos"/>
                <a:cs typeface="Aptos"/>
              </a:defRPr>
            </a:defPPr>
          </a:lstStyle>
          <a:p xmlns:a="http://schemas.openxmlformats.org/drawingml/2006/main">
            <a:pPr algn="ctr">
              <a:defRPr sz="2100" b="0" i="0">
                <a:solidFill>
                  <a:srgbClr val="000054"/>
                </a:solidFill>
                <a:latin typeface="Aptos"/>
                <a:ea typeface="Aptos"/>
                <a:cs typeface="Aptos"/>
              </a:defRPr>
            </a:pPr>
            <a:r>
              <a:rPr sz="2100" b="0" i="0">
                <a:solidFill>
                  <a:srgbClr val="000054"/>
                </a:solidFill>
                <a:latin typeface="Aptos"/>
                <a:ea typeface="Aptos"/>
                <a:cs typeface="Aptos"/>
              </a:rPr>
              <a:t>Ảnh thử nghiệm, không phải kết quả lớp 11/2.</a:t>
            </a:r>
          </a:p>
        </p:txBody>
      </p:sp>
      <p:sp>
        <p:nvSpPr>
          <p:cNvPr id="9" name="GreenEdu Phạm vi ngày 12/10/2026. Một số ">
            <a:extLst xmlns:a="http://schemas.openxmlformats.org/drawingml/2006/main">
              <a:ext uri="{FF2B5EF4-FFF2-40B4-BE49-F238E27FC236}">
                <a16:creationId xmlns:a16="http://schemas.microsoft.com/office/drawing/2014/main" id="{D57212F0-1652-4069-8549-888FB1A528DB}"/>
              </a:ext>
            </a:extLst>
          </p:cNvPr>
          <p:cNvSpPr>
            <a:spLocks xmlns:a="http://schemas.openxmlformats.org/drawingml/2006/main" noGrp="1"/>
          </p:cNvSpPr>
          <p:nvPr/>
        </p:nvSpPr>
        <p:spPr>
          <a:xfrm xmlns:a="http://schemas.openxmlformats.org/drawingml/2006/main">
            <a:off x="904875" y="8296275"/>
            <a:ext cx="1647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i="0">
                <a:solidFill>
                  <a:srgbClr val="000054"/>
                </a:solidFill>
                <a:latin typeface="Aptos"/>
                <a:ea typeface="Aptos"/>
                <a:cs typeface="Aptos"/>
              </a:defRPr>
            </a:defPPr>
          </a:lstStyle>
          <a:p xmlns:a="http://schemas.openxmlformats.org/drawingml/2006/main">
            <a:pPr algn="l">
              <a:defRPr sz="2250" b="1" i="0">
                <a:solidFill>
                  <a:srgbClr val="000054"/>
                </a:solidFill>
                <a:latin typeface="Aptos"/>
                <a:ea typeface="Aptos"/>
                <a:cs typeface="Aptos"/>
              </a:defRPr>
            </a:pPr>
            <a:r>
              <a:rPr sz="2250" b="1" i="0">
                <a:solidFill>
                  <a:srgbClr val="000054"/>
                </a:solidFill>
                <a:latin typeface="Aptos"/>
                <a:ea typeface="Aptos"/>
                <a:cs typeface="Aptos"/>
              </a:rPr>
              <a:t>Phạm vi ngày 12/10/2026. Một số nâng cấp còn chờ triển khai.</a:t>
            </a:r>
          </a:p>
        </p:txBody>
      </p:sp>
    </p:spTree>
    <p:extLst>
      <p:ext uri="{BB962C8B-B14F-4D97-AF65-F5344CB8AC3E}">
        <p14:creationId xmlns:p14="http://schemas.microsoft.com/office/powerpoint/2010/main" val="111203838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1FA6C0DB-EDEF-42D4-BE21-A4AD42B6E709}"/>
              </a:ext>
            </a:extLst>
          </p:cNvPr>
          <p:cNvSpPr>
            <a:spLocks xmlns:a="http://schemas.openxmlformats.org/drawingml/2006/main" noGrp="1"/>
          </p:cNvSpPr>
          <p:nvPr/>
        </p:nvSpPr>
        <p:spPr>
          <a:xfrm xmlns:a="http://schemas.openxmlformats.org/drawingml/2006/main">
            <a:off x="882777" y="1005650"/>
            <a:ext cx="16478250" cy="87147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4477" b="1" i="0">
                <a:solidFill>
                  <a:srgbClr val="000054"/>
                </a:solidFill>
                <a:latin typeface="Aptos Bold"/>
                <a:ea typeface="Aptos Bold"/>
                <a:cs typeface="Aptos Bold"/>
              </a:defRPr>
            </a:defPPr>
          </a:lstStyle>
          <a:p xmlns:a="http://schemas.openxmlformats.org/drawingml/2006/main">
            <a:pPr marL="0" lvl="0" indent="0" algn="l">
              <a:lnSpc>
                <a:spcPts val="6862"/>
              </a:lnSpc>
              <a:spcBef>
                <a:spcPct val="0"/>
              </a:spcBef>
              <a:buNone/>
              <a:defRPr sz="4477" b="1" i="0">
                <a:solidFill>
                  <a:srgbClr val="000054"/>
                </a:solidFill>
                <a:latin typeface="Aptos Bold"/>
                <a:ea typeface="Aptos Bold"/>
                <a:cs typeface="Aptos Bold"/>
              </a:defRPr>
            </a:pPr>
            <a:r>
              <a:rPr sz="4477" b="1" i="0" spc="-223">
                <a:solidFill>
                  <a:srgbClr val="000054"/>
                </a:solidFill>
                <a:latin typeface="Aptos Bold"/>
                <a:ea typeface="Aptos Bold"/>
                <a:cs typeface="Aptos Bold"/>
              </a:rPr>
              <a:t>KẾT QUẢ VÀ TÁC ĐỘNG</a:t>
            </a:r>
          </a:p>
        </p:txBody>
      </p:sp>
      <p:sp>
        <p:nvSpPr>
          <p:cNvPr id="3" name="TextBox 3">
            <a:extLst xmlns:a="http://schemas.openxmlformats.org/drawingml/2006/main">
              <a:ext uri="{FF2B5EF4-FFF2-40B4-BE49-F238E27FC236}">
                <a16:creationId xmlns:a16="http://schemas.microsoft.com/office/drawing/2014/main" id="{64CAE4AE-E4C0-4BC1-A796-0E9CB7E9873E}"/>
              </a:ext>
            </a:extLst>
          </p:cNvPr>
          <p:cNvSpPr>
            <a:spLocks xmlns:a="http://schemas.openxmlformats.org/drawingml/2006/main" noGrp="1"/>
          </p:cNvSpPr>
          <p:nvPr/>
        </p:nvSpPr>
        <p:spPr>
          <a:xfrm xmlns:a="http://schemas.openxmlformats.org/drawingml/2006/main">
            <a:off x="904875" y="2333625"/>
            <a:ext cx="8953500" cy="332577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3026" b="0" i="0">
                <a:solidFill>
                  <a:srgbClr val="000054"/>
                </a:solidFill>
                <a:latin typeface="Aptos"/>
                <a:ea typeface="Aptos"/>
                <a:cs typeface="Aptos"/>
              </a:defRPr>
            </a:defPPr>
          </a:lstStyle>
          <a:p xmlns:a="http://schemas.openxmlformats.org/drawingml/2006/main">
            <a:pPr marL="292100" indent="-152400" algn="l">
              <a:spcAft>
                <a:spcPts val="2200"/>
              </a:spcAft>
              <a:buChar char="•"/>
              <a:defRPr sz="3026" b="0" i="0">
                <a:solidFill>
                  <a:srgbClr val="000054"/>
                </a:solidFill>
                <a:latin typeface="Aptos"/>
                <a:ea typeface="Aptos"/>
                <a:cs typeface="Aptos"/>
              </a:defRPr>
            </a:pPr>
            <a:r>
              <a:rPr sz="3026" b="0" i="0">
                <a:solidFill>
                  <a:srgbClr val="000054"/>
                </a:solidFill>
                <a:latin typeface="Aptos"/>
                <a:ea typeface="Aptos"/>
                <a:cs typeface="Aptos"/>
              </a:rPr>
              <a:t>Đầu ra: ứng dụng web, nhập Word/CSV, Sổ tay sửa sai, nộp bài nhóm.</a:t>
            </a:r>
          </a:p>
          <a:p xmlns:a="http://schemas.openxmlformats.org/drawingml/2006/main">
            <a:pPr marL="292100" indent="-152400" algn="l">
              <a:spcAft>
                <a:spcPts val="2200"/>
              </a:spcAft>
              <a:buChar char="•"/>
              <a:defRPr sz="3026" b="0" i="0">
                <a:solidFill>
                  <a:srgbClr val="000054"/>
                </a:solidFill>
                <a:latin typeface="Aptos"/>
                <a:ea typeface="Aptos"/>
                <a:cs typeface="Aptos"/>
              </a:defRPr>
            </a:pPr>
            <a:r>
              <a:rPr sz="3026" b="0" i="0">
                <a:solidFill>
                  <a:srgbClr val="000054"/>
                </a:solidFill>
                <a:latin typeface="Aptos"/>
                <a:ea typeface="Aptos"/>
                <a:cs typeface="Aptos"/>
              </a:rPr>
              <a:t>Đã chuẩn bị 50 câu Dao động điều hòa, chia 10 chủ đề.</a:t>
            </a:r>
          </a:p>
          <a:p xmlns:a="http://schemas.openxmlformats.org/drawingml/2006/main">
            <a:pPr marL="292100" indent="-152400" algn="l">
              <a:spcAft>
                <a:spcPts val="2200"/>
              </a:spcAft>
              <a:buChar char="•"/>
              <a:defRPr sz="3026" b="0" i="0">
                <a:solidFill>
                  <a:srgbClr val="000054"/>
                </a:solidFill>
                <a:latin typeface="Aptos"/>
                <a:ea typeface="Aptos"/>
                <a:cs typeface="Aptos"/>
              </a:defRPr>
            </a:pPr>
            <a:r>
              <a:rPr sz="3026" b="0" i="0">
                <a:solidFill>
                  <a:srgbClr val="000054"/>
                </a:solidFill>
                <a:latin typeface="Aptos"/>
                <a:ea typeface="Aptos"/>
                <a:cs typeface="Aptos"/>
              </a:rPr>
              <a:t>Minh chứng: file câu hỏi, ảnh giao diện và nhật kí kiểm thử chức năng.</a:t>
            </a:r>
          </a:p>
        </p:txBody>
      </p:sp>
      <p:sp>
        <p:nvSpPr>
          <p:cNvPr id="4" name="AutoShape 4">
            <a:extLst xmlns:a="http://schemas.openxmlformats.org/drawingml/2006/main">
              <a:ext uri="{FF2B5EF4-FFF2-40B4-BE49-F238E27FC236}">
                <a16:creationId xmlns:a16="http://schemas.microsoft.com/office/drawing/2014/main" id="{5241DD83-825E-4D99-A211-CB90F0EBCC86}"/>
              </a:ext>
            </a:extLst>
          </p:cNvPr>
          <p:cNvSpPr>
            <a:spLocks xmlns:a="http://schemas.openxmlformats.org/drawingml/2006/main" noGrp="1"/>
          </p:cNvSpPr>
          <p:nvPr/>
        </p:nvSpPr>
        <p:spPr>
          <a:xfrm xmlns:a="http://schemas.openxmlformats.org/drawingml/2006/main" flipV="1">
            <a:off x="714375" y="9182100"/>
            <a:ext cx="16868775" cy="0"/>
          </a:xfrm>
          <a:prstGeom xmlns:a="http://schemas.openxmlformats.org/drawingml/2006/main" prst="line">
            <a:avLst/>
          </a:prstGeom>
          <a:ln xmlns:a="http://schemas.openxmlformats.org/drawingml/2006/main" w="38100" cap="flat">
            <a:solidFill>
              <a:srgbClr val="E61E2A"/>
            </a:solidFill>
            <a:prstDash val="solid"/>
            <a:headEnd type="none" w="sm" len="sm"/>
            <a:tailEnd type="none" w="sm" len="sm"/>
          </a:ln>
        </p:spPr>
        <p:txBody>
          <a:bodyPr xmlns:a="http://schemas.openxmlformats.org/drawingml/2006/main"/>
          <a:lstStyle xmlns:a="http://schemas.openxmlformats.org/drawingml/2006/main"/>
          <a:p xmlns:a="http://schemas.openxmlformats.org/drawingml/2006/main">
            <a:endParaRPr/>
          </a:p>
        </p:txBody>
      </p:sp>
      <p:sp>
        <p:nvSpPr>
          <p:cNvPr id="6" name="Freeform 6">
            <a:extLst xmlns:a="http://schemas.openxmlformats.org/drawingml/2006/main">
              <a:ext uri="{FF2B5EF4-FFF2-40B4-BE49-F238E27FC236}">
                <a16:creationId xmlns:a16="http://schemas.microsoft.com/office/drawing/2014/main" id="{6C3B1C84-37FE-4609-A872-C091E4100204}"/>
              </a:ext>
            </a:extLst>
          </p:cNvPr>
          <p:cNvSpPr>
            <a:spLocks xmlns:a="http://schemas.openxmlformats.org/drawingml/2006/main" noGrp="1"/>
          </p:cNvSpPr>
          <p:nvPr/>
        </p:nvSpPr>
        <p:spPr>
          <a:xfrm xmlns:a="http://schemas.openxmlformats.org/drawingml/2006/main">
            <a:off x="0" y="8919749"/>
            <a:ext cx="18288000" cy="1367251"/>
          </a:xfrm>
          <a:custGeom xmlns:a="http://schemas.openxmlformats.org/drawingml/2006/main">
            <a:rect l="l" t="t" r="r" b="b"/>
            <a:pathLst>
              <a:path w="18288000" h="1367251">
                <a:moveTo>
                  <a:pt x="0" y="0"/>
                </a:moveTo>
                <a:lnTo>
                  <a:pt x="18288000" y="0"/>
                </a:lnTo>
                <a:lnTo>
                  <a:pt x="18288000" y="1367251"/>
                </a:lnTo>
                <a:lnTo>
                  <a:pt x="0" y="1367251"/>
                </a:lnTo>
                <a:lnTo>
                  <a:pt x="0" y="0"/>
                </a:lnTo>
                <a:close/>
              </a:path>
            </a:pathLst>
          </a:custGeom>
          <a:blipFill xmlns:a="http://schemas.openxmlformats.org/drawingml/2006/main">
            <a:blip xmlns:r="http://schemas.openxmlformats.org/officeDocument/2006/relationships" r:embed="R4fb197c2a840426c"/>
            <a:stretch>
              <a:fillRect l="0" t="-652385" r="0" b="0"/>
            </a:stretch>
          </a:blipFill>
        </p:spPr>
        <p:txBody>
          <a:bodyPr xmlns:a="http://schemas.openxmlformats.org/drawingml/2006/main"/>
          <a:lstStyle xmlns:a="http://schemas.openxmlformats.org/drawingml/2006/main"/>
          <a:p xmlns:a="http://schemas.openxmlformats.org/drawingml/2006/main">
            <a:endParaRPr/>
          </a:p>
        </p:txBody>
      </p:sp>
      <p:pic>
        <p:nvPicPr>
          <p:cNvPr id="7" name="">
            <a:extLst xmlns:a="http://schemas.openxmlformats.org/drawingml/2006/main">
              <a:ext uri="{FF2B5EF4-FFF2-40B4-BE49-F238E27FC236}">
                <a16:creationId xmlns:a16="http://schemas.microsoft.com/office/drawing/2014/main" id="{3EF89B51-B167-41F7-9103-3E870E40683D}"/>
              </a:ext>
            </a:extLst>
          </p:cNvPr>
          <p:cNvPicPr>
            <a:picLocks xmlns:a="http://schemas.openxmlformats.org/drawingml/2006/main" noChangeAspect="1"/>
          </p:cNvPicPr>
          <p:nvPr/>
        </p:nvPicPr>
        <p:blipFill>
          <a:blip xmlns:r="http://schemas.openxmlformats.org/officeDocument/2006/relationships" xmlns:a="http://schemas.openxmlformats.org/drawingml/2006/main" r:embed="R216b473fc0ad4a7a"/>
          <a:stretch xmlns:a="http://schemas.openxmlformats.org/drawingml/2006/main"/>
        </p:blipFill>
        <p:spPr>
          <a:xfrm xmlns:a="http://schemas.openxmlformats.org/drawingml/2006/main">
            <a:off x="10820114" y="2066925"/>
            <a:ext cx="4648772" cy="6572250"/>
          </a:xfrm>
          <a:prstGeom xmlns:a="http://schemas.openxmlformats.org/drawingml/2006/main" prst="rect">
            <a:avLst/>
          </a:prstGeom>
        </p:spPr>
      </p:pic>
      <p:sp>
        <p:nvSpPr>
          <p:cNvPr id="8" name="GreenEdu Chưa có so sánh trước/sau để kết">
            <a:extLst xmlns:a="http://schemas.openxmlformats.org/drawingml/2006/main">
              <a:ext uri="{FF2B5EF4-FFF2-40B4-BE49-F238E27FC236}">
                <a16:creationId xmlns:a16="http://schemas.microsoft.com/office/drawing/2014/main" id="{66136AA2-D32C-44B7-A1BB-F3236B421B2D}"/>
              </a:ext>
            </a:extLst>
          </p:cNvPr>
          <p:cNvSpPr>
            <a:spLocks xmlns:a="http://schemas.openxmlformats.org/drawingml/2006/main" noGrp="1"/>
          </p:cNvSpPr>
          <p:nvPr/>
        </p:nvSpPr>
        <p:spPr>
          <a:xfrm xmlns:a="http://schemas.openxmlformats.org/drawingml/2006/main">
            <a:off x="904875" y="8286750"/>
            <a:ext cx="16478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i="0">
                <a:solidFill>
                  <a:srgbClr val="000054"/>
                </a:solidFill>
                <a:latin typeface="Aptos"/>
                <a:ea typeface="Aptos"/>
                <a:cs typeface="Aptos"/>
              </a:defRPr>
            </a:defPPr>
          </a:lstStyle>
          <a:p xmlns:a="http://schemas.openxmlformats.org/drawingml/2006/main">
            <a:pPr algn="l">
              <a:defRPr sz="2250" b="1" i="0">
                <a:solidFill>
                  <a:srgbClr val="000054"/>
                </a:solidFill>
                <a:latin typeface="Aptos"/>
                <a:ea typeface="Aptos"/>
                <a:cs typeface="Aptos"/>
              </a:defRPr>
            </a:pPr>
            <a:r>
              <a:rPr sz="2250" b="1" i="0">
                <a:solidFill>
                  <a:srgbClr val="000054"/>
                </a:solidFill>
                <a:latin typeface="Aptos"/>
                <a:ea typeface="Aptos"/>
                <a:cs typeface="Aptos"/>
              </a:rPr>
              <a:t>Chưa có so sánh trước/sau để kết luận về điểm số hoặc thời gian tiết kiệm.</a:t>
            </a:r>
          </a:p>
        </p:txBody>
      </p:sp>
    </p:spTree>
    <p:extLst>
      <p:ext uri="{BB962C8B-B14F-4D97-AF65-F5344CB8AC3E}">
        <p14:creationId xmlns:p14="http://schemas.microsoft.com/office/powerpoint/2010/main" val="139333085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3A75C65D-74F3-4202-8840-3E58D09C02E5}"/>
              </a:ext>
            </a:extLst>
          </p:cNvPr>
          <p:cNvSpPr>
            <a:spLocks xmlns:a="http://schemas.openxmlformats.org/drawingml/2006/main" noGrp="1"/>
          </p:cNvSpPr>
          <p:nvPr/>
        </p:nvSpPr>
        <p:spPr>
          <a:xfrm xmlns:a="http://schemas.openxmlformats.org/drawingml/2006/main">
            <a:off x="882777" y="1005650"/>
            <a:ext cx="16478250" cy="87147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4477" b="1" i="0">
                <a:solidFill>
                  <a:srgbClr val="000054"/>
                </a:solidFill>
                <a:latin typeface="Aptos Bold"/>
                <a:ea typeface="Aptos Bold"/>
                <a:cs typeface="Aptos Bold"/>
              </a:defRPr>
            </a:defPPr>
          </a:lstStyle>
          <a:p xmlns:a="http://schemas.openxmlformats.org/drawingml/2006/main">
            <a:pPr marL="0" lvl="0" indent="0" algn="l">
              <a:lnSpc>
                <a:spcPts val="6862"/>
              </a:lnSpc>
              <a:spcBef>
                <a:spcPct val="0"/>
              </a:spcBef>
              <a:buNone/>
              <a:defRPr sz="4477" b="1" i="0">
                <a:solidFill>
                  <a:srgbClr val="000054"/>
                </a:solidFill>
                <a:latin typeface="Aptos Bold"/>
                <a:ea typeface="Aptos Bold"/>
                <a:cs typeface="Aptos Bold"/>
              </a:defRPr>
            </a:pPr>
            <a:r>
              <a:rPr sz="4477" b="1" i="0" spc="-223">
                <a:solidFill>
                  <a:srgbClr val="000054"/>
                </a:solidFill>
                <a:latin typeface="Aptos Bold"/>
                <a:ea typeface="Aptos Bold"/>
                <a:cs typeface="Aptos Bold"/>
              </a:rPr>
              <a:t>THẢO LUẬN VÀ TỔNG KẾT</a:t>
            </a:r>
          </a:p>
        </p:txBody>
      </p:sp>
      <p:sp>
        <p:nvSpPr>
          <p:cNvPr id="4" name="AutoShape 4">
            <a:extLst xmlns:a="http://schemas.openxmlformats.org/drawingml/2006/main">
              <a:ext uri="{FF2B5EF4-FFF2-40B4-BE49-F238E27FC236}">
                <a16:creationId xmlns:a16="http://schemas.microsoft.com/office/drawing/2014/main" id="{DB26C210-4C2E-46C5-AD48-1E34476B4BA1}"/>
              </a:ext>
            </a:extLst>
          </p:cNvPr>
          <p:cNvSpPr>
            <a:spLocks xmlns:a="http://schemas.openxmlformats.org/drawingml/2006/main" noGrp="1"/>
          </p:cNvSpPr>
          <p:nvPr/>
        </p:nvSpPr>
        <p:spPr>
          <a:xfrm xmlns:a="http://schemas.openxmlformats.org/drawingml/2006/main" flipV="1">
            <a:off x="714375" y="9182100"/>
            <a:ext cx="16868775" cy="0"/>
          </a:xfrm>
          <a:prstGeom xmlns:a="http://schemas.openxmlformats.org/drawingml/2006/main" prst="line">
            <a:avLst/>
          </a:prstGeom>
          <a:ln xmlns:a="http://schemas.openxmlformats.org/drawingml/2006/main" w="38100" cap="flat">
            <a:solidFill>
              <a:srgbClr val="E61E2A"/>
            </a:solidFill>
            <a:prstDash val="solid"/>
            <a:headEnd type="none" w="sm" len="sm"/>
            <a:tailEnd type="none" w="sm" len="sm"/>
          </a:ln>
        </p:spPr>
        <p:txBody>
          <a:bodyPr xmlns:a="http://schemas.openxmlformats.org/drawingml/2006/main"/>
          <a:lstStyle xmlns:a="http://schemas.openxmlformats.org/drawingml/2006/main"/>
          <a:p xmlns:a="http://schemas.openxmlformats.org/drawingml/2006/main">
            <a:endParaRPr/>
          </a:p>
        </p:txBody>
      </p:sp>
      <p:sp>
        <p:nvSpPr>
          <p:cNvPr id="6" name="Freeform 6">
            <a:extLst xmlns:a="http://schemas.openxmlformats.org/drawingml/2006/main">
              <a:ext uri="{FF2B5EF4-FFF2-40B4-BE49-F238E27FC236}">
                <a16:creationId xmlns:a16="http://schemas.microsoft.com/office/drawing/2014/main" id="{DC2791EC-205A-4340-ACAB-3C7E2CD1D5B0}"/>
              </a:ext>
            </a:extLst>
          </p:cNvPr>
          <p:cNvSpPr>
            <a:spLocks xmlns:a="http://schemas.openxmlformats.org/drawingml/2006/main" noGrp="1"/>
          </p:cNvSpPr>
          <p:nvPr/>
        </p:nvSpPr>
        <p:spPr>
          <a:xfrm xmlns:a="http://schemas.openxmlformats.org/drawingml/2006/main">
            <a:off x="0" y="8852107"/>
            <a:ext cx="18288000" cy="1434893"/>
          </a:xfrm>
          <a:custGeom xmlns:a="http://schemas.openxmlformats.org/drawingml/2006/main">
            <a:rect l="l" t="t" r="r" b="b"/>
            <a:pathLst>
              <a:path w="18288000" h="1434893">
                <a:moveTo>
                  <a:pt x="0" y="0"/>
                </a:moveTo>
                <a:lnTo>
                  <a:pt x="18288000" y="0"/>
                </a:lnTo>
                <a:lnTo>
                  <a:pt x="18288000" y="1434893"/>
                </a:lnTo>
                <a:lnTo>
                  <a:pt x="0" y="1434893"/>
                </a:lnTo>
                <a:lnTo>
                  <a:pt x="0" y="0"/>
                </a:lnTo>
                <a:close/>
              </a:path>
            </a:pathLst>
          </a:custGeom>
          <a:blipFill xmlns:a="http://schemas.openxmlformats.org/drawingml/2006/main">
            <a:blip xmlns:r="http://schemas.openxmlformats.org/officeDocument/2006/relationships" r:embed="R7e8a4b946cec4950"/>
            <a:stretch>
              <a:fillRect l="0" t="-616917" r="0" b="0"/>
            </a:stretch>
          </a:blipFill>
        </p:spPr>
        <p:txBody>
          <a:bodyPr xmlns:a="http://schemas.openxmlformats.org/drawingml/2006/main"/>
          <a:lstStyle xmlns:a="http://schemas.openxmlformats.org/drawingml/2006/main"/>
          <a:p xmlns:a="http://schemas.openxmlformats.org/drawingml/2006/main">
            <a:endParaRPr/>
          </a:p>
        </p:txBody>
      </p:sp>
      <p:sp>
        <p:nvSpPr>
          <p:cNvPr id="7" name="GreenEdu Điểm mới">
            <a:extLst xmlns:a="http://schemas.openxmlformats.org/drawingml/2006/main">
              <a:ext uri="{FF2B5EF4-FFF2-40B4-BE49-F238E27FC236}">
                <a16:creationId xmlns:a16="http://schemas.microsoft.com/office/drawing/2014/main" id="{1C2958A1-9C37-465B-8509-4AE6CC461259}"/>
              </a:ext>
            </a:extLst>
          </p:cNvPr>
          <p:cNvSpPr>
            <a:spLocks xmlns:a="http://schemas.openxmlformats.org/drawingml/2006/main" noGrp="1"/>
          </p:cNvSpPr>
          <p:nvPr/>
        </p:nvSpPr>
        <p:spPr>
          <a:xfrm xmlns:a="http://schemas.openxmlformats.org/drawingml/2006/main">
            <a:off x="904875" y="2266950"/>
            <a:ext cx="800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i="0">
                <a:solidFill>
                  <a:srgbClr val="000054"/>
                </a:solidFill>
                <a:latin typeface="Aptos"/>
                <a:ea typeface="Aptos"/>
                <a:cs typeface="Aptos"/>
              </a:defRPr>
            </a:defPPr>
          </a:lstStyle>
          <a:p xmlns:a="http://schemas.openxmlformats.org/drawingml/2006/main">
            <a:pPr algn="l">
              <a:defRPr sz="3075" b="1" i="0">
                <a:solidFill>
                  <a:srgbClr val="000054"/>
                </a:solidFill>
                <a:latin typeface="Aptos"/>
                <a:ea typeface="Aptos"/>
                <a:cs typeface="Aptos"/>
              </a:defRPr>
            </a:pPr>
            <a:r>
              <a:rPr sz="3075" b="1" i="0">
                <a:solidFill>
                  <a:srgbClr val="000054"/>
                </a:solidFill>
                <a:latin typeface="Aptos"/>
                <a:ea typeface="Aptos"/>
                <a:cs typeface="Aptos"/>
              </a:rPr>
              <a:t>Điểm mới</a:t>
            </a:r>
          </a:p>
        </p:txBody>
      </p:sp>
      <p:sp>
        <p:nvSpPr>
          <p:cNvPr id="8" name="GreenEdu ">
            <a:extLst xmlns:a="http://schemas.openxmlformats.org/drawingml/2006/main">
              <a:ext uri="{FF2B5EF4-FFF2-40B4-BE49-F238E27FC236}">
                <a16:creationId xmlns:a16="http://schemas.microsoft.com/office/drawing/2014/main" id="{0B81FBE7-3B8C-4C7D-886E-1D41206069EB}"/>
              </a:ext>
            </a:extLst>
          </p:cNvPr>
          <p:cNvSpPr>
            <a:spLocks xmlns:a="http://schemas.openxmlformats.org/drawingml/2006/main" noGrp="1"/>
          </p:cNvSpPr>
          <p:nvPr/>
        </p:nvSpPr>
        <p:spPr>
          <a:xfrm xmlns:a="http://schemas.openxmlformats.org/drawingml/2006/main">
            <a:off x="904875" y="3067050"/>
            <a:ext cx="809625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26" b="0" i="0">
                <a:solidFill>
                  <a:srgbClr val="000054"/>
                </a:solidFill>
                <a:latin typeface="Aptos"/>
                <a:ea typeface="Aptos"/>
                <a:cs typeface="Aptos"/>
              </a:defRPr>
            </a:defPPr>
          </a:lstStyle>
          <a:p xmlns:a="http://schemas.openxmlformats.org/drawingml/2006/main">
            <a:pPr marL="292100" indent="-152400" algn="l">
              <a:spcAft>
                <a:spcPts val="2200"/>
              </a:spcAft>
              <a:buChar char="•"/>
              <a:defRPr sz="3026" b="0" i="0">
                <a:solidFill>
                  <a:srgbClr val="000054"/>
                </a:solidFill>
                <a:latin typeface="Aptos"/>
                <a:ea typeface="Aptos"/>
                <a:cs typeface="Aptos"/>
              </a:defRPr>
            </a:pPr>
            <a:r>
              <a:t>Gắn luyện tập, sửa sai với tiến độ cây theo chương.</a:t>
            </a:r>
          </a:p>
          <a:p xmlns:a="http://schemas.openxmlformats.org/drawingml/2006/main">
            <a:pPr marL="292100" indent="-152400" algn="l">
              <a:spcAft>
                <a:spcPts val="2200"/>
              </a:spcAft>
              <a:buChar char="•"/>
              <a:defRPr sz="3026" b="0" i="0">
                <a:solidFill>
                  <a:srgbClr val="000054"/>
                </a:solidFill>
                <a:latin typeface="Aptos"/>
                <a:ea typeface="Aptos"/>
                <a:cs typeface="Aptos"/>
              </a:defRPr>
            </a:pPr>
            <a:r>
              <a:t>Trộn theo chủ đề để đa dạng câu hỏi trong một lượt học.</a:t>
            </a:r>
          </a:p>
          <a:p xmlns:a="http://schemas.openxmlformats.org/drawingml/2006/main">
            <a:pPr marL="292100" indent="-152400" algn="l">
              <a:spcAft>
                <a:spcPts val="2200"/>
              </a:spcAft>
              <a:buChar char="•"/>
              <a:defRPr sz="3026" b="0" i="0">
                <a:solidFill>
                  <a:srgbClr val="000054"/>
                </a:solidFill>
                <a:latin typeface="Aptos"/>
                <a:ea typeface="Aptos"/>
                <a:cs typeface="Aptos"/>
              </a:defRPr>
            </a:pPr>
            <a:r>
              <a:t>Quản lý theo bài, giữ lịch sử khi sửa câu hỏi.</a:t>
            </a:r>
          </a:p>
        </p:txBody>
      </p:sp>
      <p:sp>
        <p:nvSpPr>
          <p:cNvPr id="9" name="GreenEdu Ưu tiên tiếp theo">
            <a:extLst xmlns:a="http://schemas.openxmlformats.org/drawingml/2006/main">
              <a:ext uri="{FF2B5EF4-FFF2-40B4-BE49-F238E27FC236}">
                <a16:creationId xmlns:a16="http://schemas.microsoft.com/office/drawing/2014/main" id="{66169761-4AE2-44D4-89C1-AE6049ADABEF}"/>
              </a:ext>
            </a:extLst>
          </p:cNvPr>
          <p:cNvSpPr>
            <a:spLocks xmlns:a="http://schemas.openxmlformats.org/drawingml/2006/main" noGrp="1"/>
          </p:cNvSpPr>
          <p:nvPr/>
        </p:nvSpPr>
        <p:spPr>
          <a:xfrm xmlns:a="http://schemas.openxmlformats.org/drawingml/2006/main">
            <a:off x="9810750" y="2266950"/>
            <a:ext cx="762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i="0">
                <a:solidFill>
                  <a:srgbClr val="000054"/>
                </a:solidFill>
                <a:latin typeface="Aptos"/>
                <a:ea typeface="Aptos"/>
                <a:cs typeface="Aptos"/>
              </a:defRPr>
            </a:defPPr>
          </a:lstStyle>
          <a:p xmlns:a="http://schemas.openxmlformats.org/drawingml/2006/main">
            <a:pPr algn="l">
              <a:defRPr sz="3075" b="1" i="0">
                <a:solidFill>
                  <a:srgbClr val="000054"/>
                </a:solidFill>
                <a:latin typeface="Aptos"/>
                <a:ea typeface="Aptos"/>
                <a:cs typeface="Aptos"/>
              </a:defRPr>
            </a:pPr>
            <a:r>
              <a:rPr sz="3075" b="1" i="0">
                <a:solidFill>
                  <a:srgbClr val="000054"/>
                </a:solidFill>
                <a:latin typeface="Aptos"/>
                <a:ea typeface="Aptos"/>
                <a:cs typeface="Aptos"/>
              </a:rPr>
              <a:t>Ưu tiên tiếp theo</a:t>
            </a:r>
          </a:p>
        </p:txBody>
      </p:sp>
      <p:sp>
        <p:nvSpPr>
          <p:cNvPr id="10" name="GreenEdu ">
            <a:extLst xmlns:a="http://schemas.openxmlformats.org/drawingml/2006/main">
              <a:ext uri="{FF2B5EF4-FFF2-40B4-BE49-F238E27FC236}">
                <a16:creationId xmlns:a16="http://schemas.microsoft.com/office/drawing/2014/main" id="{3E290073-B57A-44D6-B512-609678BF6E7B}"/>
              </a:ext>
            </a:extLst>
          </p:cNvPr>
          <p:cNvSpPr>
            <a:spLocks xmlns:a="http://schemas.openxmlformats.org/drawingml/2006/main" noGrp="1"/>
          </p:cNvSpPr>
          <p:nvPr/>
        </p:nvSpPr>
        <p:spPr>
          <a:xfrm xmlns:a="http://schemas.openxmlformats.org/drawingml/2006/main">
            <a:off x="9810750" y="3067050"/>
            <a:ext cx="76200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26" b="0" i="0">
                <a:solidFill>
                  <a:srgbClr val="000054"/>
                </a:solidFill>
                <a:latin typeface="Aptos"/>
                <a:ea typeface="Aptos"/>
                <a:cs typeface="Aptos"/>
              </a:defRPr>
            </a:defPPr>
          </a:lstStyle>
          <a:p xmlns:a="http://schemas.openxmlformats.org/drawingml/2006/main">
            <a:pPr marL="292100" indent="-152400" algn="l">
              <a:spcAft>
                <a:spcPts val="2200"/>
              </a:spcAft>
              <a:buChar char="•"/>
              <a:defRPr sz="3026" b="0" i="0">
                <a:solidFill>
                  <a:srgbClr val="000054"/>
                </a:solidFill>
                <a:latin typeface="Aptos"/>
                <a:ea typeface="Aptos"/>
                <a:cs typeface="Aptos"/>
              </a:defRPr>
            </a:pPr>
            <a:r>
              <a:t>Đo hiệu quả qua nhật kí học, tỷ lệ sửa sai và khảo sát.</a:t>
            </a:r>
          </a:p>
          <a:p xmlns:a="http://schemas.openxmlformats.org/drawingml/2006/main">
            <a:pPr marL="292100" indent="-152400" algn="l">
              <a:spcAft>
                <a:spcPts val="2200"/>
              </a:spcAft>
              <a:buChar char="•"/>
              <a:defRPr sz="3026" b="0" i="0">
                <a:solidFill>
                  <a:srgbClr val="000054"/>
                </a:solidFill>
                <a:latin typeface="Aptos"/>
                <a:ea typeface="Aptos"/>
                <a:cs typeface="Aptos"/>
              </a:defRPr>
            </a:pPr>
            <a:r>
              <a:t>Hoàn thiện nhật kí cảnh báo, kiểm thử vận hành lớp thật.</a:t>
            </a:r>
          </a:p>
          <a:p xmlns:a="http://schemas.openxmlformats.org/drawingml/2006/main">
            <a:pPr marL="292100" indent="-152400" algn="l">
              <a:spcAft>
                <a:spcPts val="2200"/>
              </a:spcAft>
              <a:buChar char="•"/>
              <a:defRPr sz="3026" b="0" i="0">
                <a:solidFill>
                  <a:srgbClr val="000054"/>
                </a:solidFill>
                <a:latin typeface="Aptos"/>
                <a:ea typeface="Aptos"/>
                <a:cs typeface="Aptos"/>
              </a:defRPr>
            </a:pPr>
            <a:r>
              <a:t>Thử nghiệm gia sư AI gợi ý có kiểm duyệt.</a:t>
            </a:r>
          </a:p>
        </p:txBody>
      </p:sp>
      <p:sp>
        <p:nvSpPr>
          <p:cNvPr id="11" name="GreenEdu Nhân rộng theo lớp, môn học và n">
            <a:extLst xmlns:a="http://schemas.openxmlformats.org/drawingml/2006/main">
              <a:ext uri="{FF2B5EF4-FFF2-40B4-BE49-F238E27FC236}">
                <a16:creationId xmlns:a16="http://schemas.microsoft.com/office/drawing/2014/main" id="{76E0C698-B12B-486F-80FC-CFDC2E29B6F2}"/>
              </a:ext>
            </a:extLst>
          </p:cNvPr>
          <p:cNvSpPr>
            <a:spLocks xmlns:a="http://schemas.openxmlformats.org/drawingml/2006/main" noGrp="1"/>
          </p:cNvSpPr>
          <p:nvPr/>
        </p:nvSpPr>
        <p:spPr>
          <a:xfrm xmlns:a="http://schemas.openxmlformats.org/drawingml/2006/main">
            <a:off x="904875" y="8286750"/>
            <a:ext cx="1647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i="0">
                <a:solidFill>
                  <a:srgbClr val="000054"/>
                </a:solidFill>
                <a:latin typeface="Aptos"/>
                <a:ea typeface="Aptos"/>
                <a:cs typeface="Aptos"/>
              </a:defRPr>
            </a:defPPr>
          </a:lstStyle>
          <a:p xmlns:a="http://schemas.openxmlformats.org/drawingml/2006/main">
            <a:pPr algn="l">
              <a:defRPr sz="2325" b="1" i="0">
                <a:solidFill>
                  <a:srgbClr val="000054"/>
                </a:solidFill>
                <a:latin typeface="Aptos"/>
                <a:ea typeface="Aptos"/>
                <a:cs typeface="Aptos"/>
              </a:defRPr>
            </a:pPr>
            <a:r>
              <a:rPr sz="2325" b="1" i="0">
                <a:solidFill>
                  <a:srgbClr val="000054"/>
                </a:solidFill>
                <a:latin typeface="Aptos"/>
                <a:ea typeface="Aptos"/>
                <a:cs typeface="Aptos"/>
              </a:rPr>
              <a:t>Nhân rộng theo lớp, môn học và ngân hàng câu hỏi của giáo viên.</a:t>
            </a:r>
          </a:p>
        </p:txBody>
      </p:sp>
    </p:spTree>
    <p:extLst>
      <p:ext uri="{BB962C8B-B14F-4D97-AF65-F5344CB8AC3E}">
        <p14:creationId xmlns:p14="http://schemas.microsoft.com/office/powerpoint/2010/main" val="213766396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FB8CC767-DD5E-42B2-84D0-331D8E61A954}"/>
              </a:ext>
            </a:extLst>
          </p:cNvPr>
          <p:cNvSpPr>
            <a:spLocks xmlns:a="http://schemas.openxmlformats.org/drawingml/2006/main" noGrp="1"/>
          </p:cNvSpPr>
          <p:nvPr/>
        </p:nvSpPr>
        <p:spPr>
          <a:xfrm xmlns:a="http://schemas.openxmlformats.org/drawingml/2006/main">
            <a:off x="882777" y="1005650"/>
            <a:ext cx="16478250" cy="87147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4477" b="1" i="0">
                <a:solidFill>
                  <a:srgbClr val="000054"/>
                </a:solidFill>
                <a:latin typeface="Aptos Bold"/>
                <a:ea typeface="Aptos Bold"/>
                <a:cs typeface="Aptos Bold"/>
              </a:defRPr>
            </a:defPPr>
          </a:lstStyle>
          <a:p xmlns:a="http://schemas.openxmlformats.org/drawingml/2006/main">
            <a:pPr marL="0" lvl="0" indent="0" algn="l">
              <a:lnSpc>
                <a:spcPts val="6862"/>
              </a:lnSpc>
              <a:spcBef>
                <a:spcPct val="0"/>
              </a:spcBef>
              <a:buNone/>
              <a:defRPr sz="4477" b="1" i="0">
                <a:solidFill>
                  <a:srgbClr val="000054"/>
                </a:solidFill>
                <a:latin typeface="Aptos Bold"/>
                <a:ea typeface="Aptos Bold"/>
                <a:cs typeface="Aptos Bold"/>
              </a:defRPr>
            </a:pPr>
            <a:r>
              <a:rPr sz="4477" b="1" i="0" spc="-223">
                <a:solidFill>
                  <a:srgbClr val="000054"/>
                </a:solidFill>
                <a:latin typeface="Aptos Bold"/>
                <a:ea typeface="Aptos Bold"/>
                <a:cs typeface="Aptos Bold"/>
              </a:rPr>
              <a:t>TÀI LIỆU VÀ ĐƯỜNG DẪN</a:t>
            </a:r>
          </a:p>
        </p:txBody>
      </p:sp>
      <p:sp>
        <p:nvSpPr>
          <p:cNvPr id="4" name="AutoShape 4">
            <a:extLst xmlns:a="http://schemas.openxmlformats.org/drawingml/2006/main">
              <a:ext uri="{FF2B5EF4-FFF2-40B4-BE49-F238E27FC236}">
                <a16:creationId xmlns:a16="http://schemas.microsoft.com/office/drawing/2014/main" id="{6352A1D3-3282-4BD3-B34C-52CE1DA1A2AB}"/>
              </a:ext>
            </a:extLst>
          </p:cNvPr>
          <p:cNvSpPr>
            <a:spLocks xmlns:a="http://schemas.openxmlformats.org/drawingml/2006/main" noGrp="1"/>
          </p:cNvSpPr>
          <p:nvPr/>
        </p:nvSpPr>
        <p:spPr>
          <a:xfrm xmlns:a="http://schemas.openxmlformats.org/drawingml/2006/main" flipV="1">
            <a:off x="714375" y="9182100"/>
            <a:ext cx="16868775" cy="0"/>
          </a:xfrm>
          <a:prstGeom xmlns:a="http://schemas.openxmlformats.org/drawingml/2006/main" prst="line">
            <a:avLst/>
          </a:prstGeom>
          <a:ln xmlns:a="http://schemas.openxmlformats.org/drawingml/2006/main" w="38100" cap="flat">
            <a:solidFill>
              <a:srgbClr val="E61E2A"/>
            </a:solidFill>
            <a:prstDash val="solid"/>
            <a:headEnd type="none" w="sm" len="sm"/>
            <a:tailEnd type="none" w="sm" len="sm"/>
          </a:ln>
        </p:spPr>
        <p:txBody>
          <a:bodyPr xmlns:a="http://schemas.openxmlformats.org/drawingml/2006/main"/>
          <a:lstStyle xmlns:a="http://schemas.openxmlformats.org/drawingml/2006/main"/>
          <a:p xmlns:a="http://schemas.openxmlformats.org/drawingml/2006/main">
            <a:endParaRPr/>
          </a:p>
        </p:txBody>
      </p:sp>
      <p:sp>
        <p:nvSpPr>
          <p:cNvPr id="5" name="Freeform 5">
            <a:extLst xmlns:a="http://schemas.openxmlformats.org/drawingml/2006/main">
              <a:ext uri="{FF2B5EF4-FFF2-40B4-BE49-F238E27FC236}">
                <a16:creationId xmlns:a16="http://schemas.microsoft.com/office/drawing/2014/main" id="{DA7F2144-C64A-45D7-9EAB-CD10609F6C75}"/>
              </a:ext>
            </a:extLst>
          </p:cNvPr>
          <p:cNvSpPr>
            <a:spLocks xmlns:a="http://schemas.openxmlformats.org/drawingml/2006/main" noGrp="1"/>
          </p:cNvSpPr>
          <p:nvPr/>
        </p:nvSpPr>
        <p:spPr>
          <a:xfrm xmlns:a="http://schemas.openxmlformats.org/drawingml/2006/main">
            <a:off x="0" y="8919749"/>
            <a:ext cx="18288000" cy="1367251"/>
          </a:xfrm>
          <a:custGeom xmlns:a="http://schemas.openxmlformats.org/drawingml/2006/main">
            <a:rect l="l" t="t" r="r" b="b"/>
            <a:pathLst>
              <a:path w="18288000" h="1367251">
                <a:moveTo>
                  <a:pt x="0" y="0"/>
                </a:moveTo>
                <a:lnTo>
                  <a:pt x="18288000" y="0"/>
                </a:lnTo>
                <a:lnTo>
                  <a:pt x="18288000" y="1367251"/>
                </a:lnTo>
                <a:lnTo>
                  <a:pt x="0" y="1367251"/>
                </a:lnTo>
                <a:lnTo>
                  <a:pt x="0" y="0"/>
                </a:lnTo>
                <a:close/>
              </a:path>
            </a:pathLst>
          </a:custGeom>
          <a:blipFill xmlns:a="http://schemas.openxmlformats.org/drawingml/2006/main">
            <a:blip xmlns:r="http://schemas.openxmlformats.org/officeDocument/2006/relationships" r:embed="R29a7548c47444dd2"/>
            <a:stretch>
              <a:fillRect l="0" t="-652385" r="0" b="0"/>
            </a:stretch>
          </a:blipFill>
        </p:spPr>
        <p:txBody>
          <a:bodyPr xmlns:a="http://schemas.openxmlformats.org/drawingml/2006/main"/>
          <a:lstStyle xmlns:a="http://schemas.openxmlformats.org/drawingml/2006/main"/>
          <a:p xmlns:a="http://schemas.openxmlformats.org/drawingml/2006/main">
            <a:endParaRPr/>
          </a:p>
        </p:txBody>
      </p:sp>
      <p:sp>
        <p:nvSpPr>
          <p:cNvPr id="6" name="GreenEdu https://greenedu.up.railway.app/">
            <a:extLst xmlns:a="http://schemas.openxmlformats.org/drawingml/2006/main">
              <a:ext uri="{FF2B5EF4-FFF2-40B4-BE49-F238E27FC236}">
                <a16:creationId xmlns:a16="http://schemas.microsoft.com/office/drawing/2014/main" id="{6101CEA2-78C6-48FA-A5E3-D0DA82499834}"/>
              </a:ext>
            </a:extLst>
          </p:cNvPr>
          <p:cNvSpPr>
            <a:spLocks xmlns:a="http://schemas.openxmlformats.org/drawingml/2006/main" noGrp="1"/>
          </p:cNvSpPr>
          <p:nvPr/>
        </p:nvSpPr>
        <p:spPr>
          <a:xfrm xmlns:a="http://schemas.openxmlformats.org/drawingml/2006/main">
            <a:off x="904875" y="24003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i="0">
                <a:solidFill>
                  <a:srgbClr val="000054"/>
                </a:solidFill>
                <a:latin typeface="Aptos"/>
                <a:ea typeface="Aptos"/>
                <a:cs typeface="Aptos"/>
              </a:defRPr>
            </a:defPPr>
          </a:lstStyle>
          <a:p xmlns:a="http://schemas.openxmlformats.org/drawingml/2006/main">
            <a:pPr algn="l">
              <a:defRPr sz="3375" b="1" i="0">
                <a:solidFill>
                  <a:srgbClr val="000054"/>
                </a:solidFill>
                <a:latin typeface="Aptos"/>
                <a:ea typeface="Aptos"/>
                <a:cs typeface="Aptos"/>
              </a:defRPr>
            </a:pPr>
            <a:r>
              <a:rPr u="sng">
                <a:solidFill>
                  <a:srgbClr val="000054"/>
                </a:solidFill>
                <a:hlinkClick xmlns:r="http://schemas.openxmlformats.org/officeDocument/2006/relationships" r:id="Rf5ef77eeede04f2b"/>
              </a:rPr>
              <a:t>https://greenedu.up.railway.app/</a:t>
            </a:r>
          </a:p>
        </p:txBody>
      </p:sp>
      <p:sp>
        <p:nvSpPr>
          <p:cNvPr id="7" name="GreenEdu ">
            <a:extLst xmlns:a="http://schemas.openxmlformats.org/drawingml/2006/main">
              <a:ext uri="{FF2B5EF4-FFF2-40B4-BE49-F238E27FC236}">
                <a16:creationId xmlns:a16="http://schemas.microsoft.com/office/drawing/2014/main" id="{4BC804EF-7B8C-49FE-BC0F-A12B77B2D8EA}"/>
              </a:ext>
            </a:extLst>
          </p:cNvPr>
          <p:cNvSpPr>
            <a:spLocks xmlns:a="http://schemas.openxmlformats.org/drawingml/2006/main" noGrp="1"/>
          </p:cNvSpPr>
          <p:nvPr/>
        </p:nvSpPr>
        <p:spPr>
          <a:xfrm xmlns:a="http://schemas.openxmlformats.org/drawingml/2006/main">
            <a:off x="904875" y="3724275"/>
            <a:ext cx="106680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26" b="0" i="0">
                <a:solidFill>
                  <a:srgbClr val="000054"/>
                </a:solidFill>
                <a:latin typeface="Aptos"/>
                <a:ea typeface="Aptos"/>
                <a:cs typeface="Aptos"/>
              </a:defRPr>
            </a:defPPr>
          </a:lstStyle>
          <a:p xmlns:a="http://schemas.openxmlformats.org/drawingml/2006/main">
            <a:pPr marL="292100" indent="-152400" algn="l">
              <a:spcAft>
                <a:spcPts val="2200"/>
              </a:spcAft>
              <a:buChar char="•"/>
              <a:defRPr sz="3026" b="0" i="0">
                <a:solidFill>
                  <a:srgbClr val="000054"/>
                </a:solidFill>
                <a:latin typeface="Aptos"/>
                <a:ea typeface="Aptos"/>
                <a:cs typeface="Aptos"/>
              </a:defRPr>
            </a:pPr>
            <a:r>
              <a:t>Poster hướng dẫn dành cho học sinh.</a:t>
            </a:r>
          </a:p>
          <a:p xmlns:a="http://schemas.openxmlformats.org/drawingml/2006/main">
            <a:pPr marL="292100" indent="-152400" algn="l">
              <a:spcAft>
                <a:spcPts val="2200"/>
              </a:spcAft>
              <a:buChar char="•"/>
              <a:defRPr sz="3026" b="0" i="0">
                <a:solidFill>
                  <a:srgbClr val="000054"/>
                </a:solidFill>
                <a:latin typeface="Aptos"/>
                <a:ea typeface="Aptos"/>
                <a:cs typeface="Aptos"/>
              </a:defRPr>
            </a:pPr>
            <a:r>
              <a:t>Bộ Word 50 câu Vật lý 11, Bài 1: đáp án và nhãn chủ đề.</a:t>
            </a:r>
          </a:p>
          <a:p xmlns:a="http://schemas.openxmlformats.org/drawingml/2006/main">
            <a:pPr marL="292100" indent="-152400" algn="l">
              <a:spcAft>
                <a:spcPts val="2200"/>
              </a:spcAft>
              <a:buChar char="•"/>
              <a:defRPr sz="3026" b="0" i="0">
                <a:solidFill>
                  <a:srgbClr val="000054"/>
                </a:solidFill>
                <a:latin typeface="Aptos"/>
                <a:ea typeface="Aptos"/>
                <a:cs typeface="Aptos"/>
              </a:defRPr>
            </a:pPr>
            <a:r>
              <a:t>Tài liệu chức năng và hướng dẫn giáo viên.</a:t>
            </a:r>
          </a:p>
        </p:txBody>
      </p:sp>
      <p:pic>
        <p:nvPicPr>
          <p:cNvPr id="8" name="">
            <a:extLst xmlns:a="http://schemas.openxmlformats.org/drawingml/2006/main">
              <a:ext uri="{FF2B5EF4-FFF2-40B4-BE49-F238E27FC236}">
                <a16:creationId xmlns:a16="http://schemas.microsoft.com/office/drawing/2014/main" id="{50A50FFD-53AF-4413-B51F-172B04843A3A}"/>
              </a:ext>
            </a:extLst>
          </p:cNvPr>
          <p:cNvPicPr>
            <a:picLocks xmlns:a="http://schemas.openxmlformats.org/drawingml/2006/main" noChangeAspect="1"/>
          </p:cNvPicPr>
          <p:nvPr/>
        </p:nvPicPr>
        <p:blipFill>
          <a:blip xmlns:r="http://schemas.openxmlformats.org/officeDocument/2006/relationships" xmlns:a="http://schemas.openxmlformats.org/drawingml/2006/main" r:embed="R95fdcb974e594cce"/>
          <a:stretch xmlns:a="http://schemas.openxmlformats.org/drawingml/2006/main"/>
        </p:blipFill>
        <p:spPr>
          <a:xfrm xmlns:a="http://schemas.openxmlformats.org/drawingml/2006/main">
            <a:off x="13049250" y="2647950"/>
            <a:ext cx="3619500" cy="3619500"/>
          </a:xfrm>
          <a:prstGeom xmlns:a="http://schemas.openxmlformats.org/drawingml/2006/main" prst="rect">
            <a:avLst/>
          </a:prstGeom>
        </p:spPr>
      </p:pic>
      <p:sp>
        <p:nvSpPr>
          <p:cNvPr id="9" name="GreenEdu Quét QR để mở GreenEdu">
            <a:extLst xmlns:a="http://schemas.openxmlformats.org/drawingml/2006/main">
              <a:ext uri="{FF2B5EF4-FFF2-40B4-BE49-F238E27FC236}">
                <a16:creationId xmlns:a16="http://schemas.microsoft.com/office/drawing/2014/main" id="{53F6A0E9-7728-4FCF-AFB1-C2029CB1B94E}"/>
              </a:ext>
            </a:extLst>
          </p:cNvPr>
          <p:cNvSpPr>
            <a:spLocks xmlns:a="http://schemas.openxmlformats.org/drawingml/2006/main" noGrp="1"/>
          </p:cNvSpPr>
          <p:nvPr/>
        </p:nvSpPr>
        <p:spPr>
          <a:xfrm xmlns:a="http://schemas.openxmlformats.org/drawingml/2006/main">
            <a:off x="12287250" y="6762750"/>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550" b="1" i="0">
                <a:solidFill>
                  <a:srgbClr val="000054"/>
                </a:solidFill>
                <a:latin typeface="Aptos"/>
                <a:ea typeface="Aptos"/>
                <a:cs typeface="Aptos"/>
              </a:defRPr>
            </a:defPPr>
          </a:lstStyle>
          <a:p xmlns:a="http://schemas.openxmlformats.org/drawingml/2006/main">
            <a:pPr algn="ctr">
              <a:defRPr sz="2550" b="1" i="0">
                <a:solidFill>
                  <a:srgbClr val="000054"/>
                </a:solidFill>
                <a:latin typeface="Aptos"/>
                <a:ea typeface="Aptos"/>
                <a:cs typeface="Aptos"/>
              </a:defRPr>
            </a:pPr>
            <a:r>
              <a:rPr sz="2550" b="1" i="0">
                <a:solidFill>
                  <a:srgbClr val="000054"/>
                </a:solidFill>
                <a:latin typeface="Aptos"/>
                <a:ea typeface="Aptos"/>
                <a:cs typeface="Aptos"/>
              </a:rPr>
              <a:t>Quét QR để mở GreenEdu</a:t>
            </a:r>
          </a:p>
        </p:txBody>
      </p:sp>
      <p:sp>
        <p:nvSpPr>
          <p:cNvPr id="10" name="GreenEdu Đăng nhập bằng tài khoản được cấ">
            <a:extLst xmlns:a="http://schemas.openxmlformats.org/drawingml/2006/main">
              <a:ext uri="{FF2B5EF4-FFF2-40B4-BE49-F238E27FC236}">
                <a16:creationId xmlns:a16="http://schemas.microsoft.com/office/drawing/2014/main" id="{40D7F09E-C70E-43C9-B275-09CB098D07A8}"/>
              </a:ext>
            </a:extLst>
          </p:cNvPr>
          <p:cNvSpPr>
            <a:spLocks xmlns:a="http://schemas.openxmlformats.org/drawingml/2006/main" noGrp="1"/>
          </p:cNvSpPr>
          <p:nvPr/>
        </p:nvSpPr>
        <p:spPr>
          <a:xfrm xmlns:a="http://schemas.openxmlformats.org/drawingml/2006/main">
            <a:off x="12096750" y="7600950"/>
            <a:ext cx="5429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0" i="0">
                <a:solidFill>
                  <a:srgbClr val="000054"/>
                </a:solidFill>
                <a:latin typeface="Aptos"/>
                <a:ea typeface="Aptos"/>
                <a:cs typeface="Aptos"/>
              </a:defRPr>
            </a:defPPr>
          </a:lstStyle>
          <a:p xmlns:a="http://schemas.openxmlformats.org/drawingml/2006/main">
            <a:pPr algn="ctr">
              <a:defRPr sz="2100" b="0" i="0">
                <a:solidFill>
                  <a:srgbClr val="000054"/>
                </a:solidFill>
                <a:latin typeface="Aptos"/>
                <a:ea typeface="Aptos"/>
                <a:cs typeface="Aptos"/>
              </a:defRPr>
            </a:pPr>
            <a:r>
              <a:rPr sz="2100" b="0" i="0">
                <a:solidFill>
                  <a:srgbClr val="000054"/>
                </a:solidFill>
                <a:latin typeface="Aptos"/>
                <a:ea typeface="Aptos"/>
                <a:cs typeface="Aptos"/>
              </a:rPr>
              <a:t>Đăng nhập bằng tài khoản được cấp</a:t>
            </a:r>
          </a:p>
        </p:txBody>
      </p:sp>
      <p:sp>
        <p:nvSpPr>
          <p:cNvPr id="11" name="GreenEdu thanhphuong.0402@gmail.com">
            <a:extLst xmlns:a="http://schemas.openxmlformats.org/drawingml/2006/main">
              <a:ext uri="{FF2B5EF4-FFF2-40B4-BE49-F238E27FC236}">
                <a16:creationId xmlns:a16="http://schemas.microsoft.com/office/drawing/2014/main" id="{59376885-3719-4235-AC14-4B003344C17D}"/>
              </a:ext>
            </a:extLst>
          </p:cNvPr>
          <p:cNvSpPr>
            <a:spLocks xmlns:a="http://schemas.openxmlformats.org/drawingml/2006/main" noGrp="1"/>
          </p:cNvSpPr>
          <p:nvPr/>
        </p:nvSpPr>
        <p:spPr>
          <a:xfrm xmlns:a="http://schemas.openxmlformats.org/drawingml/2006/main">
            <a:off x="904875" y="79629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i="0">
                <a:solidFill>
                  <a:srgbClr val="000054"/>
                </a:solidFill>
                <a:latin typeface="Aptos"/>
                <a:ea typeface="Aptos"/>
                <a:cs typeface="Aptos"/>
              </a:defRPr>
            </a:defPPr>
          </a:lstStyle>
          <a:p xmlns:a="http://schemas.openxmlformats.org/drawingml/2006/main">
            <a:pPr algn="l">
              <a:defRPr sz="2700" b="1" i="0">
                <a:solidFill>
                  <a:srgbClr val="000054"/>
                </a:solidFill>
                <a:latin typeface="Aptos"/>
                <a:ea typeface="Aptos"/>
                <a:cs typeface="Aptos"/>
              </a:defRPr>
            </a:pPr>
            <a:r>
              <a:rPr>
                <a:hlinkClick xmlns:r="http://schemas.openxmlformats.org/officeDocument/2006/relationships" r:id="R19746e0bc0684cc5"/>
              </a:rPr>
              <a:t>thanhphuong.0402@gmail.com</a:t>
            </a:r>
          </a:p>
        </p:txBody>
      </p:sp>
    </p:spTree>
    <p:extLst>
      <p:ext uri="{BB962C8B-B14F-4D97-AF65-F5344CB8AC3E}">
        <p14:creationId xmlns:p14="http://schemas.microsoft.com/office/powerpoint/2010/main" val="93681771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2026-10-11T17:39:43.1490000Z</dcterms:created>
  <dcterms:modified xsi:type="dcterms:W3CDTF">2026-10-11T17:39:43.1490000Z</dcterms:modified>
</coreProperties>
</file>