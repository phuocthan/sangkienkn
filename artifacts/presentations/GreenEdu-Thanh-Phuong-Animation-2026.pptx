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ptos Bold" panose="020B0604020202020204" charset="0"/>
      <p:regular r:id="rId12"/>
    </p:embeddedFont>
  </p:embeddedFont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GreenEdu là dự án hỗ trợ tự học, luyện tập và sửa sai gắn với cây kiến thức. Tác giả Nguyễn Thị Thanh Phương, giáo viên Vật lý, Trường THPT Nguyễn Khuyến. Email do tác giả cung cấp: thanhphuong.0402@gmail.com. Nhận diện giải thưởng trên bìa lấy trực tiếp từ mẫu người dùng. Logo trường lấy nguyên từ public/assets/nguyen-khuyen-background.png. Minh họa là tài sản ImageGen của dự án, không phải ảnh lớp học thật.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Bối cảnh là nhu cầu thiết kế trong docs/requirements-original.md, không phải kết quả khảo sát đã thực hiện. GreenEdu hướng tới thói quen học đều và giúp học sinh nhận ra, làm lại những câu còn sai. Minh họa học sinh học độc lập được tạo bằng ImageGen, không mô tả một cá nhân thật.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docs/learning.md. Học sinh luyện tập theo bài/chương. Câu làm sai được ghi nhận trong Sổ tay, học sinh làm lại để khắc phục. Ảnh .local/notebook-shortcut-e2e-results/.../notebook-filter.png lấy từ kiểm thử với dữ liệu mẫu, không chứng minh kết quả điểm số của lớp thật. Giáo viên có thể giới thiệu từng bước theo lần bấm khi trình chiếu.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docs/student-levels.md, docs/project-status.md. Cây kiến thức tăng cấp theo thời gian học của từng chương. Cấp đại diện khu vườn dùng mức cao nhất theo chương, không cộng gộp thành điểm học tập. Ảnh .local/fenced-garden-crowd-desktop.png sử dụng học sinh và tiến độ mẫu của ca kiểm thử. Không thể dùng ảnh này làm minh chứng thành tích hoặc hiệu quả giáo dục của lớp 11/2.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trong quá trình xây dựng: Codex hỗ trợ lập trình và rà soát luồng, AI hỗ trợ soạn bộ câu hỏi, ImageGen hỗ trợ minh họa. Giáo viên cần kiểm tra kiến thức và đáp án trước khi sử dụng. Gia sư AI/Thần Rừng nêu trong docs/requirements-original.md là hướng phát triển, chưa tích hợp vào ứng dụng theo docs/project-status.md. Minh họa giáo viên là nhân vật tưởng tượng do ImageGen tạo, không phải chân dung tác giả.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docs/session-handoff.md và docs/project-status.md ngày 12/10/2026. Lớp 11/2 Vật lý tại THPT Nguyễn Khuyến có 47 tài khoản học sinh, 4 chương và 26 bài chính thức. Số tài khoản không đồng nghĩa số người sử dụng tích cực. Có bài bổ sung thử nghiệm không tính vào 26 bài chính thức. Giáo viên quản lý ngân hàng, giao bài và theo dõi tiến độ. GreenEdu chạy trên Railway, dùng điện thoại và máy tính. Một số backend mới vẫn cần triển khai Railway theo docs/dev-railway.md. Minh họa nhóm học sinh là hình ý tưởng do ImageGen tạo, không phải ảnh thật của lớp.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Word 50 câu Bài 1 Dao động điều hòa lớp 11 đã được tạo trong đợt trước, có đáp án, giải thích và 10 nhãn chủ đề. Nguồn: docs/question-bank.md và .local/bai-1-questions/final-1500-01.png. Chủ đề chỉ là metadata của câu hỏi, không tạo thêm bài học. Ảnh xem trước import Word có dữ liệu mẫu, nguồn .local/topic-e2e-results/.../topic-word-preview.png. Việc cân bằng chủ đề đã có mã/kiểm thử nhưng mức có mặt trên Railway phụ thuộc triển khai backend. Không khẳng định bộ 50 câu đã được nhập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quả hiện có là ứng dụng, bộ câu hỏi và minh chứng kiểm thử chức năng. Chưa có khảo sát trước/sau hoặc dữ liệu điểm số cho phép kết luận tác động học tập, tiết kiệm thời gian hay hiệu quả giáo dục. Cần thu nhật kí học, tỷ lệ sửa sai và khảo sát dưới sự kiểm soát của giáo viên. Hướng tiếp theo gồm hoàn thiện cảnh báo vận hành, thử nghiệm gia sư AI gợi ý có kiểm duyệt và nhân rộng theo lớp/môn. Nguồn: docs/project-status.md, docs/learning.md, docs/requirements-original.md. Hình là tài sản minh họa public/assets/knowledge-garden-v1.png.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GreenEdu: https://greenedu.up.railway.app/. Học sinh đăng nhập bằng tài khoản giáo viên đã cấp. Email tác giả: thanhphuong.0402@gmail.com. QR nguồn artifacts/posters/greenedu-qr.png. Tài liệu bổ sung gồm poster học sinh, Word 50 câu Dao động điều hòa và hướng dẫn giáo viên. Chưa có thư mục công khai của các tài liệu cục bộ. Có thể giới thiệu QR ngay đầu slide, sau đó trình bày cách đăng nhập và địa chỉ liên hệ.</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F8391-F6ED-45EC-8FF9-96F67B9CE458}"/>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22DA743-2370-448E-93F2-DBC3BE39F82D}"/>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EF83EC46-5E0A-44AB-A976-9817D06DFC80}"/>
              </a:ext>
            </a:extLst>
          </p:cNvPr>
          <p:cNvSpPr>
            <a:spLocks noGrp="1"/>
          </p:cNvSpPr>
          <p:nvPr>
            <p:ph type="dt" idx="10"/>
          </p:nvPr>
        </p:nvSpPr>
        <p:spPr/>
        <p:txBody>
          <a:bodyPr/>
          <a:lstStyle/>
          <a:p>
            <a:fld id="{1D8BD707-D9CF-40AE-B4C6-C98DA3205C09}" type="datetimeFigureOut">
              <a:t>10/12/2026</a:t>
            </a:fld>
            <a:endParaRPr/>
          </a:p>
        </p:txBody>
      </p:sp>
      <p:sp>
        <p:nvSpPr>
          <p:cNvPr id="5" name="Footer Placeholder 4">
            <a:extLst>
              <a:ext uri="{FF2B5EF4-FFF2-40B4-BE49-F238E27FC236}">
                <a16:creationId xmlns:a16="http://schemas.microsoft.com/office/drawing/2014/main" id="{260D88DF-374E-4E9C-A332-DB34628071C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67F31BF-718E-487B-B1D3-4ADF837F01B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ECAC-5DCD-46EC-9AF4-836067D6420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C6E3717D-96EF-4111-9E0C-73D1797C6DE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F9A9F9C-B43A-4DE8-AFAE-373A19C1C94E}"/>
              </a:ext>
            </a:extLst>
          </p:cNvPr>
          <p:cNvSpPr>
            <a:spLocks noGrp="1"/>
          </p:cNvSpPr>
          <p:nvPr>
            <p:ph type="dt" idx="10"/>
          </p:nvPr>
        </p:nvSpPr>
        <p:spPr/>
        <p:txBody>
          <a:bodyPr/>
          <a:lstStyle/>
          <a:p>
            <a:fld id="{1D8BD707-D9CF-40AE-B4C6-C98DA3205C09}" type="datetimeFigureOut">
              <a:t>10/12/2026</a:t>
            </a:fld>
            <a:endParaRPr/>
          </a:p>
        </p:txBody>
      </p:sp>
      <p:sp>
        <p:nvSpPr>
          <p:cNvPr id="5" name="Footer Placeholder 4">
            <a:extLst>
              <a:ext uri="{FF2B5EF4-FFF2-40B4-BE49-F238E27FC236}">
                <a16:creationId xmlns:a16="http://schemas.microsoft.com/office/drawing/2014/main" id="{1C5D4711-4A55-46CF-8109-8DC6F230375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CD3C7D5-C9E1-4954-AFE8-22D0326D32F2}"/>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D1E63-2FCB-4474-B78B-0800F9CCDD80}"/>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C3F127BC-3431-466D-AAD0-56F5B5EB55C0}"/>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11A64A01-E652-4287-973B-409D0F660696}"/>
              </a:ext>
            </a:extLst>
          </p:cNvPr>
          <p:cNvSpPr>
            <a:spLocks noGrp="1"/>
          </p:cNvSpPr>
          <p:nvPr>
            <p:ph type="dt" idx="10"/>
          </p:nvPr>
        </p:nvSpPr>
        <p:spPr/>
        <p:txBody>
          <a:bodyPr/>
          <a:lstStyle/>
          <a:p>
            <a:fld id="{1D8BD707-D9CF-40AE-B4C6-C98DA3205C09}" type="datetimeFigureOut">
              <a:t>10/12/2026</a:t>
            </a:fld>
            <a:endParaRPr/>
          </a:p>
        </p:txBody>
      </p:sp>
      <p:sp>
        <p:nvSpPr>
          <p:cNvPr id="5" name="Footer Placeholder 4">
            <a:extLst>
              <a:ext uri="{FF2B5EF4-FFF2-40B4-BE49-F238E27FC236}">
                <a16:creationId xmlns:a16="http://schemas.microsoft.com/office/drawing/2014/main" id="{3C2883C2-3885-44E0-A957-04D1854DA00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270542F-2FF7-40D4-B04D-5635A13A70A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698D8-96C9-4201-A06F-A057E3753B8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14ACF18-CA55-4814-B678-2A148C089B20}"/>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D5207A0B-7E73-4293-85DE-301378A1A0F0}"/>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66542580-79F9-4165-B716-CA92D3A33C72}"/>
              </a:ext>
            </a:extLst>
          </p:cNvPr>
          <p:cNvSpPr>
            <a:spLocks noGrp="1"/>
          </p:cNvSpPr>
          <p:nvPr>
            <p:ph type="dt" idx="10"/>
          </p:nvPr>
        </p:nvSpPr>
        <p:spPr/>
        <p:txBody>
          <a:bodyPr/>
          <a:lstStyle/>
          <a:p>
            <a:fld id="{1D8BD707-D9CF-40AE-B4C6-C98DA3205C09}" type="datetimeFigureOut">
              <a:t>10/12/2026</a:t>
            </a:fld>
            <a:endParaRPr/>
          </a:p>
        </p:txBody>
      </p:sp>
      <p:sp>
        <p:nvSpPr>
          <p:cNvPr id="6" name="Footer Placeholder 5">
            <a:extLst>
              <a:ext uri="{FF2B5EF4-FFF2-40B4-BE49-F238E27FC236}">
                <a16:creationId xmlns:a16="http://schemas.microsoft.com/office/drawing/2014/main" id="{EE425525-686A-4095-AF09-71A47DB3DD3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50679B6-DA9A-4EAE-B5D3-0FBFCCEF355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32548-EA42-4EFF-AEF0-5E444FAA297C}"/>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A72F16B0-80DE-422D-A150-31A16367E355}"/>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9646BF0-5F4F-4A13-B7EB-16D8BF15C94F}"/>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0211689-FF5C-42D5-850D-F521F6140D28}"/>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4586FD5-B087-4895-9A92-C5F29CE59ABB}"/>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0989EFD-7982-49F5-9B3B-B9F47AEF04D5}"/>
              </a:ext>
            </a:extLst>
          </p:cNvPr>
          <p:cNvSpPr>
            <a:spLocks noGrp="1"/>
          </p:cNvSpPr>
          <p:nvPr>
            <p:ph type="dt" idx="10"/>
          </p:nvPr>
        </p:nvSpPr>
        <p:spPr/>
        <p:txBody>
          <a:bodyPr/>
          <a:lstStyle/>
          <a:p>
            <a:fld id="{1D8BD707-D9CF-40AE-B4C6-C98DA3205C09}" type="datetimeFigureOut">
              <a:t>10/12/2026</a:t>
            </a:fld>
            <a:endParaRPr/>
          </a:p>
        </p:txBody>
      </p:sp>
      <p:sp>
        <p:nvSpPr>
          <p:cNvPr id="8" name="Footer Placeholder 7">
            <a:extLst>
              <a:ext uri="{FF2B5EF4-FFF2-40B4-BE49-F238E27FC236}">
                <a16:creationId xmlns:a16="http://schemas.microsoft.com/office/drawing/2014/main" id="{47A81B02-0102-44F0-B525-C8E272D55A5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DB0B19C-85C4-45B3-85F2-0A239D464C9E}"/>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594ED-35F4-4145-A2F7-CD676046771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08D9077B-36B5-4FAF-9EEE-1C3243B57FCC}"/>
              </a:ext>
            </a:extLst>
          </p:cNvPr>
          <p:cNvSpPr>
            <a:spLocks noGrp="1"/>
          </p:cNvSpPr>
          <p:nvPr>
            <p:ph type="dt" idx="10"/>
          </p:nvPr>
        </p:nvSpPr>
        <p:spPr/>
        <p:txBody>
          <a:bodyPr/>
          <a:lstStyle/>
          <a:p>
            <a:fld id="{1D8BD707-D9CF-40AE-B4C6-C98DA3205C09}" type="datetimeFigureOut">
              <a:t>10/12/2026</a:t>
            </a:fld>
            <a:endParaRPr/>
          </a:p>
        </p:txBody>
      </p:sp>
      <p:sp>
        <p:nvSpPr>
          <p:cNvPr id="4" name="Footer Placeholder 3">
            <a:extLst>
              <a:ext uri="{FF2B5EF4-FFF2-40B4-BE49-F238E27FC236}">
                <a16:creationId xmlns:a16="http://schemas.microsoft.com/office/drawing/2014/main" id="{A6B11457-A6A9-4BB7-B4C9-23416EC4F3A2}"/>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DF051909-CE09-4E5A-B95D-6C0D09CCBB0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FFA398-3EC6-4813-A56E-44D59FFEE88E}"/>
              </a:ext>
            </a:extLst>
          </p:cNvPr>
          <p:cNvSpPr>
            <a:spLocks noGrp="1"/>
          </p:cNvSpPr>
          <p:nvPr>
            <p:ph type="dt" idx="10"/>
          </p:nvPr>
        </p:nvSpPr>
        <p:spPr/>
        <p:txBody>
          <a:bodyPr/>
          <a:lstStyle/>
          <a:p>
            <a:fld id="{1D8BD707-D9CF-40AE-B4C6-C98DA3205C09}" type="datetimeFigureOut">
              <a:t>10/12/2026</a:t>
            </a:fld>
            <a:endParaRPr/>
          </a:p>
        </p:txBody>
      </p:sp>
      <p:sp>
        <p:nvSpPr>
          <p:cNvPr id="3" name="Footer Placeholder 2">
            <a:extLst>
              <a:ext uri="{FF2B5EF4-FFF2-40B4-BE49-F238E27FC236}">
                <a16:creationId xmlns:a16="http://schemas.microsoft.com/office/drawing/2014/main" id="{02876111-93BA-4167-97C9-362B1B56013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AF78AB61-A8FE-4D84-87C8-804E713C264E}"/>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74BF-C43F-46B9-B9AA-0C18AD806C06}"/>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5F39589B-B9AF-4D5D-A1D6-3AA6E3AF4290}"/>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CCBC0FA8-A113-46D9-8EF9-20E3BFD6263F}"/>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EE6FBFB2-A978-4630-8DDD-2A8C86467807}"/>
              </a:ext>
            </a:extLst>
          </p:cNvPr>
          <p:cNvSpPr>
            <a:spLocks noGrp="1"/>
          </p:cNvSpPr>
          <p:nvPr>
            <p:ph type="dt" idx="10"/>
          </p:nvPr>
        </p:nvSpPr>
        <p:spPr/>
        <p:txBody>
          <a:bodyPr/>
          <a:lstStyle/>
          <a:p>
            <a:fld id="{1D8BD707-D9CF-40AE-B4C6-C98DA3205C09}" type="datetimeFigureOut">
              <a:t>10/12/2026</a:t>
            </a:fld>
            <a:endParaRPr/>
          </a:p>
        </p:txBody>
      </p:sp>
      <p:sp>
        <p:nvSpPr>
          <p:cNvPr id="6" name="Footer Placeholder 5">
            <a:extLst>
              <a:ext uri="{FF2B5EF4-FFF2-40B4-BE49-F238E27FC236}">
                <a16:creationId xmlns:a16="http://schemas.microsoft.com/office/drawing/2014/main" id="{35B07879-5C27-4425-AA5B-61714D1E478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4525403-E9B7-49CF-A0BC-17C8D5AD6E47}"/>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088C-578B-431B-8ADD-35A3E8EA75CD}"/>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F81A6AD4-24A2-46B9-9A29-C962EA6C09C2}"/>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6C4E8713-5444-4432-82E3-BA684A538C4E}"/>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C38CAC92-DC16-41F6-AC88-664E567F0274}"/>
              </a:ext>
            </a:extLst>
          </p:cNvPr>
          <p:cNvSpPr>
            <a:spLocks noGrp="1"/>
          </p:cNvSpPr>
          <p:nvPr>
            <p:ph type="dt" idx="10"/>
          </p:nvPr>
        </p:nvSpPr>
        <p:spPr/>
        <p:txBody>
          <a:bodyPr/>
          <a:lstStyle/>
          <a:p>
            <a:fld id="{1D8BD707-D9CF-40AE-B4C6-C98DA3205C09}" type="datetimeFigureOut">
              <a:t>10/12/2026</a:t>
            </a:fld>
            <a:endParaRPr/>
          </a:p>
        </p:txBody>
      </p:sp>
      <p:sp>
        <p:nvSpPr>
          <p:cNvPr id="6" name="Footer Placeholder 5">
            <a:extLst>
              <a:ext uri="{FF2B5EF4-FFF2-40B4-BE49-F238E27FC236}">
                <a16:creationId xmlns:a16="http://schemas.microsoft.com/office/drawing/2014/main" id="{6D7A52B1-932A-4AD0-9EBF-415C8372FCC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4B43D0A-69A0-4332-BA0C-DA6F096C87E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6C78-1120-4158-824A-ED81B7F83B9C}"/>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476BB17-65B0-49C2-886D-52B06C0CA738}"/>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754C83A-B5E3-48ED-BF7E-E1F8F5C9398C}"/>
              </a:ext>
            </a:extLst>
          </p:cNvPr>
          <p:cNvSpPr>
            <a:spLocks noGrp="1"/>
          </p:cNvSpPr>
          <p:nvPr>
            <p:ph type="dt" idx="10"/>
          </p:nvPr>
        </p:nvSpPr>
        <p:spPr/>
        <p:txBody>
          <a:bodyPr/>
          <a:lstStyle/>
          <a:p>
            <a:fld id="{1D8BD707-D9CF-40AE-B4C6-C98DA3205C09}" type="datetimeFigureOut">
              <a:t>10/12/2026</a:t>
            </a:fld>
            <a:endParaRPr/>
          </a:p>
        </p:txBody>
      </p:sp>
      <p:sp>
        <p:nvSpPr>
          <p:cNvPr id="5" name="Footer Placeholder 4">
            <a:extLst>
              <a:ext uri="{FF2B5EF4-FFF2-40B4-BE49-F238E27FC236}">
                <a16:creationId xmlns:a16="http://schemas.microsoft.com/office/drawing/2014/main" id="{85637473-E42D-4BB7-9A3D-FEACF3A6A05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6172B51-38B2-46D0-B65B-E4D77589220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090B39-E19A-482F-B079-8183517423D4}"/>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A823A1B-D352-4096-8ED6-8A0760ACCAD8}"/>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10103D0-9278-49D1-A02E-084D014DFDE2}"/>
              </a:ext>
            </a:extLst>
          </p:cNvPr>
          <p:cNvSpPr>
            <a:spLocks noGrp="1"/>
          </p:cNvSpPr>
          <p:nvPr>
            <p:ph type="dt" idx="10"/>
          </p:nvPr>
        </p:nvSpPr>
        <p:spPr/>
        <p:txBody>
          <a:bodyPr/>
          <a:lstStyle/>
          <a:p>
            <a:fld id="{1D8BD707-D9CF-40AE-B4C6-C98DA3205C09}" type="datetimeFigureOut">
              <a:t>10/12/2026</a:t>
            </a:fld>
            <a:endParaRPr/>
          </a:p>
        </p:txBody>
      </p:sp>
      <p:sp>
        <p:nvSpPr>
          <p:cNvPr id="5" name="Footer Placeholder 4">
            <a:extLst>
              <a:ext uri="{FF2B5EF4-FFF2-40B4-BE49-F238E27FC236}">
                <a16:creationId xmlns:a16="http://schemas.microsoft.com/office/drawing/2014/main" id="{29E6CCB3-A075-4E85-BFDF-BD839106C6C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7009285-15B0-4CF1-BD4A-6ACEC475FA9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D391D4-6614-4F1E-AF13-91FD7933E5A3}"/>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C07C0B6-C2C1-4D98-BEC7-B74197CD25DF}"/>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0AA24E0-4C24-48C9-9D5C-C3CB3E46B9A6}"/>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10/12/2026</a:t>
            </a:fld>
            <a:endParaRPr/>
          </a:p>
        </p:txBody>
      </p:sp>
      <p:sp>
        <p:nvSpPr>
          <p:cNvPr id="5" name="Footer Placeholder 4">
            <a:extLst>
              <a:ext uri="{FF2B5EF4-FFF2-40B4-BE49-F238E27FC236}">
                <a16:creationId xmlns:a16="http://schemas.microsoft.com/office/drawing/2014/main" id="{B5C4E467-61F2-40A3-84E9-31741BF981F0}"/>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2D104870-B1BC-4CC2-9BE7-9FA81B62DF61}"/>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greenedu.up.railway.app/"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hyperlink" Target="mailto:thanhphuong.0402@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p:cNvGrpSpPr/>
        <p:nvPr/>
      </p:nvGrpSpPr>
      <p:grpSpPr>
        <a:xfrm>
          <a:off x="0" y="0"/>
          <a:ext cx="0" cy="0"/>
          <a:chOff x="0" y="0"/>
          <a:chExt cx="0" cy="0"/>
        </a:xfrm>
      </p:grpSpPr>
      <p:sp>
        <p:nvSpPr>
          <p:cNvPr id="9" name="Freeform 9">
            <a:extLst>
              <a:ext uri="{FF2B5EF4-FFF2-40B4-BE49-F238E27FC236}">
                <a16:creationId xmlns:a16="http://schemas.microsoft.com/office/drawing/2014/main" id="{8AA22969-0528-4642-9C6A-7056DF3CB665}"/>
              </a:ext>
            </a:extLst>
          </p:cNvPr>
          <p:cNvSpPr>
            <a:spLocks noGrp="1"/>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3"/>
            <a:stretch>
              <a:fillRect/>
            </a:stretch>
          </a:blipFill>
        </p:spPr>
        <p:txBody>
          <a:bodyPr/>
          <a:lstStyle/>
          <a:p>
            <a:endParaRPr/>
          </a:p>
        </p:txBody>
      </p:sp>
      <p:sp>
        <p:nvSpPr>
          <p:cNvPr id="10" name="Freeform 10">
            <a:extLst>
              <a:ext uri="{FF2B5EF4-FFF2-40B4-BE49-F238E27FC236}">
                <a16:creationId xmlns:a16="http://schemas.microsoft.com/office/drawing/2014/main" id="{F4FD1A6B-F72A-43FD-8B2C-ADA58B132924}"/>
              </a:ext>
            </a:extLst>
          </p:cNvPr>
          <p:cNvSpPr>
            <a:spLocks noGrp="1"/>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4"/>
            <a:stretch>
              <a:fillRect/>
            </a:stretch>
          </a:blipFill>
        </p:spPr>
        <p:txBody>
          <a:bodyPr/>
          <a:lstStyle/>
          <a:p>
            <a:endParaRPr/>
          </a:p>
        </p:txBody>
      </p:sp>
      <p:sp>
        <p:nvSpPr>
          <p:cNvPr id="11" name="GE_Title">
            <a:extLst>
              <a:ext uri="{FF2B5EF4-FFF2-40B4-BE49-F238E27FC236}">
                <a16:creationId xmlns:a16="http://schemas.microsoft.com/office/drawing/2014/main" id="{00BCAB33-5380-44B0-86F6-6E20B23F5072}"/>
              </a:ext>
            </a:extLst>
          </p:cNvPr>
          <p:cNvSpPr>
            <a:spLocks noGrp="1"/>
          </p:cNvSpPr>
          <p:nvPr/>
        </p:nvSpPr>
        <p:spPr>
          <a:xfrm>
            <a:off x="1000125" y="3781425"/>
            <a:ext cx="8810625" cy="1619250"/>
          </a:xfrm>
          <a:prstGeom prst="rect">
            <a:avLst/>
          </a:prstGeom>
          <a:noFill/>
          <a:ln w="0">
            <a:noFill/>
          </a:ln>
        </p:spPr>
        <p:txBody>
          <a:bodyPr wrap="square" lIns="0" tIns="0" rIns="0" bIns="0" anchor="t">
            <a:noAutofit/>
          </a:bodyPr>
          <a:lstStyle>
            <a:defPPr algn="l">
              <a:defRPr sz="11250" b="1">
                <a:solidFill>
                  <a:srgbClr val="FFFFFF"/>
                </a:solidFill>
                <a:latin typeface="Aptos Bold"/>
                <a:ea typeface="Aptos Bold"/>
                <a:cs typeface="Aptos Bold"/>
              </a:defRPr>
            </a:defPPr>
          </a:lstStyle>
          <a:p>
            <a:pPr algn="l">
              <a:defRPr sz="11250" b="1">
                <a:solidFill>
                  <a:srgbClr val="FFFFFF"/>
                </a:solidFill>
                <a:latin typeface="Aptos Bold"/>
                <a:ea typeface="Aptos Bold"/>
                <a:cs typeface="Aptos Bold"/>
              </a:defRPr>
            </a:pPr>
            <a:r>
              <a:rPr sz="11250" b="1">
                <a:solidFill>
                  <a:srgbClr val="FFFFFF"/>
                </a:solidFill>
                <a:latin typeface="Aptos Bold"/>
                <a:ea typeface="Aptos Bold"/>
                <a:cs typeface="Aptos Bold"/>
              </a:rPr>
              <a:t>GREENEDU</a:t>
            </a:r>
          </a:p>
        </p:txBody>
      </p:sp>
      <p:pic>
        <p:nvPicPr>
          <p:cNvPr id="12" name="GE_Visual" descr="Minh họa hoặc ảnh giao diện GreenEdu, nguồn trong ghi chú slide">
            <a:extLst>
              <a:ext uri="{FF2B5EF4-FFF2-40B4-BE49-F238E27FC236}">
                <a16:creationId xmlns:a16="http://schemas.microsoft.com/office/drawing/2014/main" id="{4268DC13-A5AA-4F91-B44F-7F00511B6F01}"/>
              </a:ext>
            </a:extLst>
          </p:cNvPr>
          <p:cNvPicPr>
            <a:picLocks noChangeAspect="1"/>
          </p:cNvPicPr>
          <p:nvPr/>
        </p:nvPicPr>
        <p:blipFill>
          <a:blip r:embed="rId5"/>
          <a:stretch/>
        </p:blipFill>
        <p:spPr>
          <a:xfrm>
            <a:off x="8786813" y="3286125"/>
            <a:ext cx="8715375" cy="5810250"/>
          </a:xfrm>
          <a:prstGeom prst="rect">
            <a:avLst/>
          </a:prstGeom>
        </p:spPr>
      </p:pic>
      <p:sp>
        <p:nvSpPr>
          <p:cNvPr id="13" name="GE_Subtitle">
            <a:extLst>
              <a:ext uri="{FF2B5EF4-FFF2-40B4-BE49-F238E27FC236}">
                <a16:creationId xmlns:a16="http://schemas.microsoft.com/office/drawing/2014/main" id="{5D23CCFC-F82E-4E2F-94E3-35279C64DAF4}"/>
              </a:ext>
            </a:extLst>
          </p:cNvPr>
          <p:cNvSpPr>
            <a:spLocks noGrp="1"/>
          </p:cNvSpPr>
          <p:nvPr/>
        </p:nvSpPr>
        <p:spPr>
          <a:xfrm>
            <a:off x="1047750" y="5543550"/>
            <a:ext cx="8191500" cy="1657350"/>
          </a:xfrm>
          <a:prstGeom prst="rect">
            <a:avLst/>
          </a:prstGeom>
          <a:noFill/>
          <a:ln w="0">
            <a:noFill/>
          </a:ln>
        </p:spPr>
        <p:txBody>
          <a:bodyPr wrap="square" lIns="0" tIns="0" rIns="0" bIns="0" anchor="t">
            <a:noAutofit/>
          </a:bodyPr>
          <a:lstStyle>
            <a:defPPr algn="l">
              <a:defRPr sz="4725" b="1">
                <a:solidFill>
                  <a:srgbClr val="BCE9CC"/>
                </a:solidFill>
                <a:latin typeface="Aptos Bold"/>
                <a:ea typeface="Aptos Bold"/>
                <a:cs typeface="Aptos Bold"/>
              </a:defRPr>
            </a:defPPr>
          </a:lstStyle>
          <a:p>
            <a:pPr algn="l">
              <a:defRPr sz="4725" b="1">
                <a:solidFill>
                  <a:srgbClr val="BCE9CC"/>
                </a:solidFill>
                <a:latin typeface="Aptos Bold"/>
                <a:ea typeface="Aptos Bold"/>
                <a:cs typeface="Aptos Bold"/>
              </a:defRPr>
            </a:pPr>
            <a:r>
              <a:rPr sz="4725" b="1">
                <a:solidFill>
                  <a:srgbClr val="BCE9CC"/>
                </a:solidFill>
                <a:latin typeface="Aptos Bold"/>
                <a:ea typeface="Aptos Bold"/>
                <a:cs typeface="Aptos Bold"/>
              </a:rPr>
              <a:t>Khu vườn kiến thức</a:t>
            </a:r>
          </a:p>
          <a:p>
            <a:pPr algn="l">
              <a:defRPr sz="4725" b="1">
                <a:solidFill>
                  <a:srgbClr val="BCE9CC"/>
                </a:solidFill>
                <a:latin typeface="Aptos Bold"/>
                <a:ea typeface="Aptos Bold"/>
                <a:cs typeface="Aptos Bold"/>
              </a:defRPr>
            </a:pPr>
            <a:r>
              <a:rPr sz="4725" b="1">
                <a:solidFill>
                  <a:srgbClr val="BCE9CC"/>
                </a:solidFill>
                <a:latin typeface="Aptos Bold"/>
                <a:ea typeface="Aptos Bold"/>
                <a:cs typeface="Aptos Bold"/>
              </a:rPr>
              <a:t>cho học sinh</a:t>
            </a:r>
          </a:p>
        </p:txBody>
      </p:sp>
      <p:sp>
        <p:nvSpPr>
          <p:cNvPr id="14" name="GE_Author">
            <a:extLst>
              <a:ext uri="{FF2B5EF4-FFF2-40B4-BE49-F238E27FC236}">
                <a16:creationId xmlns:a16="http://schemas.microsoft.com/office/drawing/2014/main" id="{C4B90103-F61E-4FA4-B993-73B5489A4B32}"/>
              </a:ext>
            </a:extLst>
          </p:cNvPr>
          <p:cNvSpPr>
            <a:spLocks noGrp="1"/>
          </p:cNvSpPr>
          <p:nvPr/>
        </p:nvSpPr>
        <p:spPr>
          <a:xfrm>
            <a:off x="2257425" y="7858125"/>
            <a:ext cx="7762875" cy="1390650"/>
          </a:xfrm>
          <a:prstGeom prst="rect">
            <a:avLst/>
          </a:prstGeom>
          <a:noFill/>
          <a:ln w="0">
            <a:noFill/>
          </a:ln>
        </p:spPr>
        <p:txBody>
          <a:bodyPr wrap="square" lIns="0" tIns="0" rIns="0" bIns="0" anchor="t">
            <a:noAutofit/>
          </a:bodyPr>
          <a:lstStyle>
            <a:defPPr algn="l">
              <a:defRPr sz="2775" b="0">
                <a:solidFill>
                  <a:srgbClr val="FFFFFF"/>
                </a:solidFill>
                <a:latin typeface="Aptos"/>
                <a:ea typeface="Aptos"/>
                <a:cs typeface="Aptos"/>
              </a:defRPr>
            </a:defPPr>
          </a:lstStyle>
          <a:p>
            <a:pPr algn="l">
              <a:defRPr sz="2775" b="0">
                <a:solidFill>
                  <a:srgbClr val="FFFFFF"/>
                </a:solidFill>
                <a:latin typeface="Aptos"/>
                <a:ea typeface="Aptos"/>
                <a:cs typeface="Aptos"/>
              </a:defRPr>
            </a:pPr>
            <a:r>
              <a:rPr sz="2775" b="0">
                <a:solidFill>
                  <a:srgbClr val="FFFFFF"/>
                </a:solidFill>
                <a:latin typeface="Aptos"/>
                <a:ea typeface="Aptos"/>
                <a:cs typeface="Aptos"/>
              </a:rPr>
              <a:t>Nguyễn Thị Thanh Phương</a:t>
            </a:r>
          </a:p>
          <a:p>
            <a:pPr algn="l">
              <a:defRPr sz="2775" b="0">
                <a:solidFill>
                  <a:srgbClr val="FFFFFF"/>
                </a:solidFill>
                <a:latin typeface="Aptos"/>
                <a:ea typeface="Aptos"/>
                <a:cs typeface="Aptos"/>
              </a:defRPr>
            </a:pPr>
            <a:r>
              <a:rPr sz="2775" b="0">
                <a:solidFill>
                  <a:srgbClr val="FFFFFF"/>
                </a:solidFill>
                <a:latin typeface="Aptos"/>
                <a:ea typeface="Aptos"/>
                <a:cs typeface="Aptos"/>
              </a:rPr>
              <a:t>Giáo viên Vật lý</a:t>
            </a:r>
          </a:p>
          <a:p>
            <a:pPr algn="l">
              <a:defRPr sz="2775" b="0">
                <a:solidFill>
                  <a:srgbClr val="FFFFFF"/>
                </a:solidFill>
                <a:latin typeface="Aptos"/>
                <a:ea typeface="Aptos"/>
                <a:cs typeface="Aptos"/>
              </a:defRPr>
            </a:pPr>
            <a:r>
              <a:rPr sz="2775" b="0">
                <a:solidFill>
                  <a:srgbClr val="FFFFFF"/>
                </a:solidFill>
                <a:latin typeface="Aptos"/>
                <a:ea typeface="Aptos"/>
                <a:cs typeface="Aptos"/>
              </a:rPr>
              <a:t>THPT Nguyễn Khuyến</a:t>
            </a:r>
          </a:p>
        </p:txBody>
      </p:sp>
      <p:pic>
        <p:nvPicPr>
          <p:cNvPr id="15" name="GE_SchoolLogo" descr="Logo Trường THPT Nguyễn Khuyến">
            <a:extLst>
              <a:ext uri="{FF2B5EF4-FFF2-40B4-BE49-F238E27FC236}">
                <a16:creationId xmlns:a16="http://schemas.microsoft.com/office/drawing/2014/main" id="{F433A80D-1374-47E2-8824-4BF3ED06F1DB}"/>
              </a:ext>
            </a:extLst>
          </p:cNvPr>
          <p:cNvPicPr>
            <a:picLocks noChangeAspect="1"/>
          </p:cNvPicPr>
          <p:nvPr/>
        </p:nvPicPr>
        <p:blipFill>
          <a:blip r:embed="rId6"/>
          <a:stretch/>
        </p:blipFill>
        <p:spPr>
          <a:xfrm>
            <a:off x="1057275" y="7858125"/>
            <a:ext cx="933450" cy="933450"/>
          </a:xfrm>
          <a:prstGeom prst="diamond">
            <a:avLst/>
          </a:prstGeom>
        </p:spPr>
      </p:pic>
      <p:sp>
        <p:nvSpPr>
          <p:cNvPr id="16" name="GE_Email">
            <a:extLst>
              <a:ext uri="{FF2B5EF4-FFF2-40B4-BE49-F238E27FC236}">
                <a16:creationId xmlns:a16="http://schemas.microsoft.com/office/drawing/2014/main" id="{0DF9293B-D6C5-49FA-8F18-E214538AFF54}"/>
              </a:ext>
            </a:extLst>
          </p:cNvPr>
          <p:cNvSpPr>
            <a:spLocks noGrp="1"/>
          </p:cNvSpPr>
          <p:nvPr/>
        </p:nvSpPr>
        <p:spPr>
          <a:xfrm>
            <a:off x="2257425" y="9305925"/>
            <a:ext cx="7429500" cy="495300"/>
          </a:xfrm>
          <a:prstGeom prst="rect">
            <a:avLst/>
          </a:prstGeom>
          <a:noFill/>
          <a:ln w="0">
            <a:noFill/>
          </a:ln>
        </p:spPr>
        <p:txBody>
          <a:bodyPr wrap="square" lIns="0" tIns="0" rIns="0" bIns="0" anchor="t">
            <a:noAutofit/>
          </a:bodyPr>
          <a:lstStyle>
            <a:defPPr algn="l">
              <a:defRPr sz="2325" b="0">
                <a:solidFill>
                  <a:srgbClr val="BCE9CC"/>
                </a:solidFill>
                <a:latin typeface="Aptos"/>
                <a:ea typeface="Aptos"/>
                <a:cs typeface="Aptos"/>
              </a:defRPr>
            </a:defPPr>
          </a:lstStyle>
          <a:p>
            <a:pPr algn="l">
              <a:defRPr sz="2325" b="0">
                <a:solidFill>
                  <a:srgbClr val="BCE9CC"/>
                </a:solidFill>
                <a:latin typeface="Aptos"/>
                <a:ea typeface="Aptos"/>
                <a:cs typeface="Aptos"/>
              </a:defRPr>
            </a:pPr>
            <a:r>
              <a:rPr sz="2325" b="0">
                <a:solidFill>
                  <a:srgbClr val="BCE9CC"/>
                </a:solidFill>
                <a:latin typeface="Aptos"/>
                <a:ea typeface="Aptos"/>
                <a:cs typeface="Aptos"/>
              </a:rPr>
              <a:t>thanhphuong.0402@gmail.com</a:t>
            </a:r>
          </a:p>
        </p:txBody>
      </p:sp>
    </p:spTree>
    <p:extLst>
      <p:ext uri="{BB962C8B-B14F-4D97-AF65-F5344CB8AC3E}">
        <p14:creationId xmlns:p14="http://schemas.microsoft.com/office/powerpoint/2010/main" val="48007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50"/>
                                        <p:tgtEl>
                                          <p:spTgt spid="11"/>
                                        </p:tgtEl>
                                      </p:cBhvr>
                                    </p:animEffect>
                                  </p:childTnLst>
                                </p:cTn>
                              </p:par>
                              <p:par>
                                <p:cTn id="8" presetID="23" presetClass="entr" presetSubtype="16"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p:cTn id="10" dur="650" fill="hold"/>
                                        <p:tgtEl>
                                          <p:spTgt spid="12"/>
                                        </p:tgtEl>
                                        <p:attrNameLst>
                                          <p:attrName>ppt_w</p:attrName>
                                        </p:attrNameLst>
                                      </p:cBhvr>
                                      <p:tavLst>
                                        <p:tav tm="0">
                                          <p:val>
                                            <p:fltVal val="0"/>
                                          </p:val>
                                        </p:tav>
                                        <p:tav tm="100000">
                                          <p:val>
                                            <p:strVal val="#ppt_w"/>
                                          </p:val>
                                        </p:tav>
                                      </p:tavLst>
                                    </p:anim>
                                    <p:anim calcmode="lin" valueType="num">
                                      <p:cBhvr>
                                        <p:cTn id="11" dur="65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600" fill="hold"/>
                                        <p:tgtEl>
                                          <p:spTgt spid="13"/>
                                        </p:tgtEl>
                                        <p:attrNameLst>
                                          <p:attrName>ppt_x</p:attrName>
                                        </p:attrNameLst>
                                      </p:cBhvr>
                                      <p:tavLst>
                                        <p:tav tm="0">
                                          <p:val>
                                            <p:strVal val="#ppt_x"/>
                                          </p:val>
                                        </p:tav>
                                        <p:tav tm="100000">
                                          <p:val>
                                            <p:strVal val="#ppt_x"/>
                                          </p:val>
                                        </p:tav>
                                      </p:tavLst>
                                    </p:anim>
                                    <p:anim calcmode="lin" valueType="num">
                                      <p:cBhvr additive="base">
                                        <p:cTn id="17" dur="6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7F2"/>
        </a:solidFill>
        <a:effectLst/>
      </p:bgPr>
    </p:bg>
    <p:spTree>
      <p:nvGrpSpPr>
        <p:cNvPr id="1" name=""/>
        <p:cNvGrpSpPr/>
        <p:nvPr/>
      </p:nvGrpSpPr>
      <p:grpSpPr>
        <a:xfrm>
          <a:off x="0" y="0"/>
          <a:ext cx="0" cy="0"/>
          <a:chOff x="0" y="0"/>
          <a:chExt cx="0" cy="0"/>
        </a:xfrm>
      </p:grpSpPr>
      <p:sp>
        <p:nvSpPr>
          <p:cNvPr id="8" name="GE_Footer">
            <a:extLst>
              <a:ext uri="{FF2B5EF4-FFF2-40B4-BE49-F238E27FC236}">
                <a16:creationId xmlns:a16="http://schemas.microsoft.com/office/drawing/2014/main" id="{A98D71EE-824E-4272-A203-72DD711A6C59}"/>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166448"/>
                </a:solidFill>
                <a:latin typeface="Aptos Bold"/>
                <a:ea typeface="Aptos Bold"/>
                <a:cs typeface="Aptos Bold"/>
              </a:defRPr>
            </a:defPPr>
          </a:lstStyle>
          <a:p>
            <a:pPr algn="l">
              <a:defRPr sz="1875" b="1">
                <a:solidFill>
                  <a:srgbClr val="166448"/>
                </a:solidFill>
                <a:latin typeface="Aptos Bold"/>
                <a:ea typeface="Aptos Bold"/>
                <a:cs typeface="Aptos Bold"/>
              </a:defRPr>
            </a:pPr>
            <a:r>
              <a:rPr sz="1875" b="1">
                <a:solidFill>
                  <a:srgbClr val="166448"/>
                </a:solidFill>
                <a:latin typeface="Aptos Bold"/>
                <a:ea typeface="Aptos Bold"/>
                <a:cs typeface="Aptos Bold"/>
              </a:rPr>
              <a:t>GreenEdu</a:t>
            </a:r>
          </a:p>
        </p:txBody>
      </p:sp>
      <p:sp>
        <p:nvSpPr>
          <p:cNvPr id="2" name="GE_Title">
            <a:extLst>
              <a:ext uri="{FF2B5EF4-FFF2-40B4-BE49-F238E27FC236}">
                <a16:creationId xmlns:a16="http://schemas.microsoft.com/office/drawing/2014/main" id="{FFD0EF54-F465-4E3E-A4E1-81D81DB07B1D}"/>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000054"/>
                </a:solidFill>
                <a:latin typeface="Aptos Bold"/>
                <a:ea typeface="Aptos Bold"/>
                <a:cs typeface="Aptos Bold"/>
              </a:defRPr>
            </a:defPPr>
          </a:lstStyle>
          <a:p>
            <a:pPr algn="l">
              <a:defRPr sz="5700" b="1">
                <a:solidFill>
                  <a:srgbClr val="000054"/>
                </a:solidFill>
                <a:latin typeface="Aptos Bold"/>
                <a:ea typeface="Aptos Bold"/>
                <a:cs typeface="Aptos Bold"/>
              </a:defRPr>
            </a:pPr>
            <a:r>
              <a:rPr sz="5700" b="1">
                <a:solidFill>
                  <a:srgbClr val="000054"/>
                </a:solidFill>
                <a:latin typeface="Aptos Bold"/>
                <a:ea typeface="Aptos Bold"/>
                <a:cs typeface="Aptos Bold"/>
              </a:rPr>
              <a:t>Nhu cầu tự học</a:t>
            </a:r>
          </a:p>
        </p:txBody>
      </p:sp>
      <p:pic>
        <p:nvPicPr>
          <p:cNvPr id="3" name="GE_Visual" descr="Minh họa hoặc ảnh giao diện GreenEdu, nguồn trong ghi chú slide">
            <a:extLst>
              <a:ext uri="{FF2B5EF4-FFF2-40B4-BE49-F238E27FC236}">
                <a16:creationId xmlns:a16="http://schemas.microsoft.com/office/drawing/2014/main" id="{6591879C-59DF-478F-AAD5-5947CC315752}"/>
              </a:ext>
            </a:extLst>
          </p:cNvPr>
          <p:cNvPicPr>
            <a:picLocks noChangeAspect="1"/>
          </p:cNvPicPr>
          <p:nvPr/>
        </p:nvPicPr>
        <p:blipFill>
          <a:blip r:embed="rId3"/>
          <a:stretch/>
        </p:blipFill>
        <p:spPr>
          <a:xfrm>
            <a:off x="1382356" y="2257425"/>
            <a:ext cx="7712787" cy="7048500"/>
          </a:xfrm>
          <a:prstGeom prst="rect">
            <a:avLst/>
          </a:prstGeom>
        </p:spPr>
      </p:pic>
      <p:sp>
        <p:nvSpPr>
          <p:cNvPr id="4" name="GE_Line1">
            <a:extLst>
              <a:ext uri="{FF2B5EF4-FFF2-40B4-BE49-F238E27FC236}">
                <a16:creationId xmlns:a16="http://schemas.microsoft.com/office/drawing/2014/main" id="{40021C80-D4DE-4614-96A3-026350D3D15A}"/>
              </a:ext>
            </a:extLst>
          </p:cNvPr>
          <p:cNvSpPr>
            <a:spLocks noGrp="1"/>
          </p:cNvSpPr>
          <p:nvPr/>
        </p:nvSpPr>
        <p:spPr>
          <a:xfrm>
            <a:off x="10668000" y="2867025"/>
            <a:ext cx="6286500" cy="981075"/>
          </a:xfrm>
          <a:prstGeom prst="rect">
            <a:avLst/>
          </a:prstGeom>
          <a:noFill/>
          <a:ln w="0">
            <a:noFill/>
          </a:ln>
        </p:spPr>
        <p:txBody>
          <a:bodyPr wrap="square" lIns="0" tIns="0" rIns="0" bIns="0" anchor="t">
            <a:noAutofit/>
          </a:bodyPr>
          <a:lstStyle>
            <a:defPPr algn="l">
              <a:defRPr sz="6225" b="1">
                <a:solidFill>
                  <a:srgbClr val="166448"/>
                </a:solidFill>
                <a:latin typeface="Aptos Bold"/>
                <a:ea typeface="Aptos Bold"/>
                <a:cs typeface="Aptos Bold"/>
              </a:defRPr>
            </a:defPPr>
          </a:lstStyle>
          <a:p>
            <a:pPr algn="l">
              <a:defRPr sz="6225" b="1">
                <a:solidFill>
                  <a:srgbClr val="166448"/>
                </a:solidFill>
                <a:latin typeface="Aptos Bold"/>
                <a:ea typeface="Aptos Bold"/>
                <a:cs typeface="Aptos Bold"/>
              </a:defRPr>
            </a:pPr>
            <a:r>
              <a:rPr sz="6225" b="1">
                <a:solidFill>
                  <a:srgbClr val="166448"/>
                </a:solidFill>
                <a:latin typeface="Aptos Bold"/>
                <a:ea typeface="Aptos Bold"/>
                <a:cs typeface="Aptos Bold"/>
              </a:rPr>
              <a:t>Ôn đều</a:t>
            </a:r>
          </a:p>
        </p:txBody>
      </p:sp>
      <p:sp>
        <p:nvSpPr>
          <p:cNvPr id="5" name="GE_Detail1">
            <a:extLst>
              <a:ext uri="{FF2B5EF4-FFF2-40B4-BE49-F238E27FC236}">
                <a16:creationId xmlns:a16="http://schemas.microsoft.com/office/drawing/2014/main" id="{AEF9BDD3-D715-46AD-B68A-60053BD4CF8E}"/>
              </a:ext>
            </a:extLst>
          </p:cNvPr>
          <p:cNvSpPr>
            <a:spLocks noGrp="1"/>
          </p:cNvSpPr>
          <p:nvPr/>
        </p:nvSpPr>
        <p:spPr>
          <a:xfrm>
            <a:off x="10715625" y="3943350"/>
            <a:ext cx="6191250" cy="942975"/>
          </a:xfrm>
          <a:prstGeom prst="rect">
            <a:avLst/>
          </a:prstGeom>
          <a:noFill/>
          <a:ln w="0">
            <a:noFill/>
          </a:ln>
        </p:spPr>
        <p:txBody>
          <a:bodyPr wrap="square" lIns="0" tIns="0" rIns="0" bIns="0" anchor="t">
            <a:noAutofit/>
          </a:bodyPr>
          <a:lstStyle>
            <a:defPPr algn="l">
              <a:defRPr sz="2925" b="0">
                <a:solidFill>
                  <a:srgbClr val="163F36"/>
                </a:solidFill>
                <a:latin typeface="Aptos"/>
                <a:ea typeface="Aptos"/>
                <a:cs typeface="Aptos"/>
              </a:defRPr>
            </a:defPPr>
          </a:lstStyle>
          <a:p>
            <a:pPr algn="l">
              <a:defRPr sz="2925" b="0">
                <a:solidFill>
                  <a:srgbClr val="163F36"/>
                </a:solidFill>
                <a:latin typeface="Aptos"/>
                <a:ea typeface="Aptos"/>
                <a:cs typeface="Aptos"/>
              </a:defRPr>
            </a:pPr>
            <a:r>
              <a:rPr sz="2925" b="0">
                <a:solidFill>
                  <a:srgbClr val="163F36"/>
                </a:solidFill>
                <a:latin typeface="Aptos"/>
                <a:ea typeface="Aptos"/>
                <a:cs typeface="Aptos"/>
              </a:rPr>
              <a:t>Duy trì luyện tập ngoài lớp</a:t>
            </a:r>
          </a:p>
        </p:txBody>
      </p:sp>
      <p:sp>
        <p:nvSpPr>
          <p:cNvPr id="6" name="GE_Line2">
            <a:extLst>
              <a:ext uri="{FF2B5EF4-FFF2-40B4-BE49-F238E27FC236}">
                <a16:creationId xmlns:a16="http://schemas.microsoft.com/office/drawing/2014/main" id="{168D3C85-E850-4AE6-B14B-B48189D89BF9}"/>
              </a:ext>
            </a:extLst>
          </p:cNvPr>
          <p:cNvSpPr>
            <a:spLocks noGrp="1"/>
          </p:cNvSpPr>
          <p:nvPr/>
        </p:nvSpPr>
        <p:spPr>
          <a:xfrm>
            <a:off x="10668000" y="5895975"/>
            <a:ext cx="6286500" cy="981075"/>
          </a:xfrm>
          <a:prstGeom prst="rect">
            <a:avLst/>
          </a:prstGeom>
          <a:noFill/>
          <a:ln w="0">
            <a:noFill/>
          </a:ln>
        </p:spPr>
        <p:txBody>
          <a:bodyPr wrap="square" lIns="0" tIns="0" rIns="0" bIns="0" anchor="t">
            <a:noAutofit/>
          </a:bodyPr>
          <a:lstStyle>
            <a:defPPr algn="l">
              <a:defRPr sz="6225" b="1">
                <a:solidFill>
                  <a:srgbClr val="166448"/>
                </a:solidFill>
                <a:latin typeface="Aptos Bold"/>
                <a:ea typeface="Aptos Bold"/>
                <a:cs typeface="Aptos Bold"/>
              </a:defRPr>
            </a:defPPr>
          </a:lstStyle>
          <a:p>
            <a:pPr algn="l">
              <a:defRPr sz="6225" b="1">
                <a:solidFill>
                  <a:srgbClr val="166448"/>
                </a:solidFill>
                <a:latin typeface="Aptos Bold"/>
                <a:ea typeface="Aptos Bold"/>
                <a:cs typeface="Aptos Bold"/>
              </a:defRPr>
            </a:pPr>
            <a:r>
              <a:rPr sz="6225" b="1">
                <a:solidFill>
                  <a:srgbClr val="166448"/>
                </a:solidFill>
                <a:latin typeface="Aptos Bold"/>
                <a:ea typeface="Aptos Bold"/>
                <a:cs typeface="Aptos Bold"/>
              </a:rPr>
              <a:t>Sửa sai</a:t>
            </a:r>
          </a:p>
        </p:txBody>
      </p:sp>
      <p:sp>
        <p:nvSpPr>
          <p:cNvPr id="7" name="GE_Detail2">
            <a:extLst>
              <a:ext uri="{FF2B5EF4-FFF2-40B4-BE49-F238E27FC236}">
                <a16:creationId xmlns:a16="http://schemas.microsoft.com/office/drawing/2014/main" id="{EE7E3F81-E9B2-4D3D-A35A-5FF6893D0572}"/>
              </a:ext>
            </a:extLst>
          </p:cNvPr>
          <p:cNvSpPr>
            <a:spLocks noGrp="1"/>
          </p:cNvSpPr>
          <p:nvPr/>
        </p:nvSpPr>
        <p:spPr>
          <a:xfrm>
            <a:off x="10715625" y="6972300"/>
            <a:ext cx="6191250" cy="952500"/>
          </a:xfrm>
          <a:prstGeom prst="rect">
            <a:avLst/>
          </a:prstGeom>
          <a:noFill/>
          <a:ln w="0">
            <a:noFill/>
          </a:ln>
        </p:spPr>
        <p:txBody>
          <a:bodyPr wrap="square" lIns="0" tIns="0" rIns="0" bIns="0" anchor="t">
            <a:noAutofit/>
          </a:bodyPr>
          <a:lstStyle>
            <a:defPPr algn="l">
              <a:defRPr sz="2925" b="0">
                <a:solidFill>
                  <a:srgbClr val="163F36"/>
                </a:solidFill>
                <a:latin typeface="Aptos"/>
                <a:ea typeface="Aptos"/>
                <a:cs typeface="Aptos"/>
              </a:defRPr>
            </a:defPPr>
          </a:lstStyle>
          <a:p>
            <a:pPr algn="l">
              <a:defRPr sz="2925" b="0">
                <a:solidFill>
                  <a:srgbClr val="163F36"/>
                </a:solidFill>
                <a:latin typeface="Aptos"/>
                <a:ea typeface="Aptos"/>
                <a:cs typeface="Aptos"/>
              </a:defRPr>
            </a:pPr>
            <a:r>
              <a:rPr sz="2925" b="0">
                <a:solidFill>
                  <a:srgbClr val="163F36"/>
                </a:solidFill>
                <a:latin typeface="Aptos"/>
                <a:ea typeface="Aptos"/>
                <a:cs typeface="Aptos"/>
              </a:rPr>
              <a:t>Theo dõi câu cần làm lại</a:t>
            </a:r>
          </a:p>
        </p:txBody>
      </p:sp>
    </p:spTree>
    <p:extLst>
      <p:ext uri="{BB962C8B-B14F-4D97-AF65-F5344CB8AC3E}">
        <p14:creationId xmlns:p14="http://schemas.microsoft.com/office/powerpoint/2010/main" val="21074382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650" fill="hold"/>
                                        <p:tgtEl>
                                          <p:spTgt spid="3"/>
                                        </p:tgtEl>
                                        <p:attrNameLst>
                                          <p:attrName>ppt_w</p:attrName>
                                        </p:attrNameLst>
                                      </p:cBhvr>
                                      <p:tavLst>
                                        <p:tav tm="0">
                                          <p:val>
                                            <p:fltVal val="0"/>
                                          </p:val>
                                        </p:tav>
                                        <p:tav tm="100000">
                                          <p:val>
                                            <p:strVal val="#ppt_w"/>
                                          </p:val>
                                        </p:tav>
                                      </p:tavLst>
                                    </p:anim>
                                    <p:anim calcmode="lin" valueType="num">
                                      <p:cBhvr>
                                        <p:cTn id="11" dur="650" fill="hold"/>
                                        <p:tgtEl>
                                          <p:spTgt spid="3"/>
                                        </p:tgtEl>
                                        <p:attrNameLst>
                                          <p:attrName>ppt_h</p:attrName>
                                        </p:attrNameLst>
                                      </p:cBhvr>
                                      <p:tavLst>
                                        <p:tav tm="0">
                                          <p:val>
                                            <p:fltVal val="0"/>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4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5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GE_Footer">
            <a:extLst>
              <a:ext uri="{FF2B5EF4-FFF2-40B4-BE49-F238E27FC236}">
                <a16:creationId xmlns:a16="http://schemas.microsoft.com/office/drawing/2014/main" id="{8D7CA999-8C59-4CDE-A83E-04A9ACF8647D}"/>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166448"/>
                </a:solidFill>
                <a:latin typeface="Aptos Bold"/>
                <a:ea typeface="Aptos Bold"/>
                <a:cs typeface="Aptos Bold"/>
              </a:defRPr>
            </a:defPPr>
          </a:lstStyle>
          <a:p>
            <a:pPr algn="l">
              <a:defRPr sz="1875" b="1">
                <a:solidFill>
                  <a:srgbClr val="166448"/>
                </a:solidFill>
                <a:latin typeface="Aptos Bold"/>
                <a:ea typeface="Aptos Bold"/>
                <a:cs typeface="Aptos Bold"/>
              </a:defRPr>
            </a:pPr>
            <a:r>
              <a:rPr sz="1875" b="1">
                <a:solidFill>
                  <a:srgbClr val="166448"/>
                </a:solidFill>
                <a:latin typeface="Aptos Bold"/>
                <a:ea typeface="Aptos Bold"/>
                <a:cs typeface="Aptos Bold"/>
              </a:rPr>
              <a:t>GreenEdu</a:t>
            </a:r>
          </a:p>
        </p:txBody>
      </p:sp>
      <p:sp>
        <p:nvSpPr>
          <p:cNvPr id="2" name="GE_Title">
            <a:extLst>
              <a:ext uri="{FF2B5EF4-FFF2-40B4-BE49-F238E27FC236}">
                <a16:creationId xmlns:a16="http://schemas.microsoft.com/office/drawing/2014/main" id="{281472EF-015E-4F98-8977-293221D1CF14}"/>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000054"/>
                </a:solidFill>
                <a:latin typeface="Aptos Bold"/>
                <a:ea typeface="Aptos Bold"/>
                <a:cs typeface="Aptos Bold"/>
              </a:defRPr>
            </a:defPPr>
          </a:lstStyle>
          <a:p>
            <a:pPr algn="l">
              <a:defRPr sz="5700" b="1">
                <a:solidFill>
                  <a:srgbClr val="000054"/>
                </a:solidFill>
                <a:latin typeface="Aptos Bold"/>
                <a:ea typeface="Aptos Bold"/>
                <a:cs typeface="Aptos Bold"/>
              </a:defRPr>
            </a:pPr>
            <a:r>
              <a:rPr sz="5700" b="1">
                <a:solidFill>
                  <a:srgbClr val="000054"/>
                </a:solidFill>
                <a:latin typeface="Aptos Bold"/>
                <a:ea typeface="Aptos Bold"/>
                <a:cs typeface="Aptos Bold"/>
              </a:rPr>
              <a:t>Một lượt học</a:t>
            </a:r>
          </a:p>
        </p:txBody>
      </p:sp>
      <p:pic>
        <p:nvPicPr>
          <p:cNvPr id="3" name="GE_Visual" descr="Minh họa hoặc ảnh giao diện GreenEdu, nguồn trong ghi chú slide">
            <a:extLst>
              <a:ext uri="{FF2B5EF4-FFF2-40B4-BE49-F238E27FC236}">
                <a16:creationId xmlns:a16="http://schemas.microsoft.com/office/drawing/2014/main" id="{FF187565-615D-4785-9F29-6F55A09D123C}"/>
              </a:ext>
            </a:extLst>
          </p:cNvPr>
          <p:cNvPicPr>
            <a:picLocks noChangeAspect="1"/>
          </p:cNvPicPr>
          <p:nvPr/>
        </p:nvPicPr>
        <p:blipFill>
          <a:blip r:embed="rId3"/>
          <a:stretch/>
        </p:blipFill>
        <p:spPr>
          <a:xfrm>
            <a:off x="2228878" y="2362200"/>
            <a:ext cx="8781994" cy="6238875"/>
          </a:xfrm>
          <a:prstGeom prst="rect">
            <a:avLst/>
          </a:prstGeom>
        </p:spPr>
      </p:pic>
      <p:sp>
        <p:nvSpPr>
          <p:cNvPr id="4" name="GE_Step1">
            <a:extLst>
              <a:ext uri="{FF2B5EF4-FFF2-40B4-BE49-F238E27FC236}">
                <a16:creationId xmlns:a16="http://schemas.microsoft.com/office/drawing/2014/main" id="{F3F1B418-5220-4473-9B4F-C0149644BBD9}"/>
              </a:ext>
            </a:extLst>
          </p:cNvPr>
          <p:cNvSpPr>
            <a:spLocks noGrp="1"/>
          </p:cNvSpPr>
          <p:nvPr/>
        </p:nvSpPr>
        <p:spPr>
          <a:xfrm>
            <a:off x="13335000" y="3000375"/>
            <a:ext cx="4048125" cy="838200"/>
          </a:xfrm>
          <a:prstGeom prst="rect">
            <a:avLst/>
          </a:prstGeom>
          <a:noFill/>
          <a:ln w="0">
            <a:noFill/>
          </a:ln>
        </p:spPr>
        <p:txBody>
          <a:bodyPr wrap="square" lIns="0" tIns="0" rIns="0" bIns="0" anchor="t">
            <a:noAutofit/>
          </a:bodyPr>
          <a:lstStyle>
            <a:defPPr algn="l">
              <a:defRPr sz="4425" b="1">
                <a:solidFill>
                  <a:srgbClr val="166448"/>
                </a:solidFill>
                <a:latin typeface="Aptos Bold"/>
                <a:ea typeface="Aptos Bold"/>
                <a:cs typeface="Aptos Bold"/>
              </a:defRPr>
            </a:defPPr>
          </a:lstStyle>
          <a:p>
            <a:pPr algn="l">
              <a:defRPr sz="4425" b="1">
                <a:solidFill>
                  <a:srgbClr val="166448"/>
                </a:solidFill>
                <a:latin typeface="Aptos Bold"/>
                <a:ea typeface="Aptos Bold"/>
                <a:cs typeface="Aptos Bold"/>
              </a:defRPr>
            </a:pPr>
            <a:r>
              <a:rPr sz="4425" b="1">
                <a:solidFill>
                  <a:srgbClr val="166448"/>
                </a:solidFill>
                <a:latin typeface="Aptos Bold"/>
                <a:ea typeface="Aptos Bold"/>
                <a:cs typeface="Aptos Bold"/>
              </a:rPr>
              <a:t>Luyện tập</a:t>
            </a:r>
          </a:p>
        </p:txBody>
      </p:sp>
      <p:sp>
        <p:nvSpPr>
          <p:cNvPr id="5" name="GE_Step2">
            <a:extLst>
              <a:ext uri="{FF2B5EF4-FFF2-40B4-BE49-F238E27FC236}">
                <a16:creationId xmlns:a16="http://schemas.microsoft.com/office/drawing/2014/main" id="{8A0BFBFE-F89D-4F60-8908-E44B76A92D16}"/>
              </a:ext>
            </a:extLst>
          </p:cNvPr>
          <p:cNvSpPr>
            <a:spLocks noGrp="1"/>
          </p:cNvSpPr>
          <p:nvPr/>
        </p:nvSpPr>
        <p:spPr>
          <a:xfrm>
            <a:off x="13335000" y="5048250"/>
            <a:ext cx="4048125" cy="838200"/>
          </a:xfrm>
          <a:prstGeom prst="rect">
            <a:avLst/>
          </a:prstGeom>
          <a:noFill/>
          <a:ln w="0">
            <a:noFill/>
          </a:ln>
        </p:spPr>
        <p:txBody>
          <a:bodyPr wrap="square" lIns="0" tIns="0" rIns="0" bIns="0" anchor="t">
            <a:noAutofit/>
          </a:bodyPr>
          <a:lstStyle>
            <a:defPPr algn="l">
              <a:defRPr sz="4425" b="1">
                <a:solidFill>
                  <a:srgbClr val="166448"/>
                </a:solidFill>
                <a:latin typeface="Aptos Bold"/>
                <a:ea typeface="Aptos Bold"/>
                <a:cs typeface="Aptos Bold"/>
              </a:defRPr>
            </a:defPPr>
          </a:lstStyle>
          <a:p>
            <a:pPr algn="l">
              <a:defRPr sz="4425" b="1">
                <a:solidFill>
                  <a:srgbClr val="166448"/>
                </a:solidFill>
                <a:latin typeface="Aptos Bold"/>
                <a:ea typeface="Aptos Bold"/>
                <a:cs typeface="Aptos Bold"/>
              </a:defRPr>
            </a:pPr>
            <a:r>
              <a:rPr sz="4425" b="1">
                <a:solidFill>
                  <a:srgbClr val="166448"/>
                </a:solidFill>
                <a:latin typeface="Aptos Bold"/>
                <a:ea typeface="Aptos Bold"/>
                <a:cs typeface="Aptos Bold"/>
              </a:rPr>
              <a:t>Sổ tay</a:t>
            </a:r>
          </a:p>
        </p:txBody>
      </p:sp>
      <p:sp>
        <p:nvSpPr>
          <p:cNvPr id="6" name="GE_Step3">
            <a:extLst>
              <a:ext uri="{FF2B5EF4-FFF2-40B4-BE49-F238E27FC236}">
                <a16:creationId xmlns:a16="http://schemas.microsoft.com/office/drawing/2014/main" id="{858017A4-C861-417E-B73A-7AB2D1CA9D94}"/>
              </a:ext>
            </a:extLst>
          </p:cNvPr>
          <p:cNvSpPr>
            <a:spLocks noGrp="1"/>
          </p:cNvSpPr>
          <p:nvPr/>
        </p:nvSpPr>
        <p:spPr>
          <a:xfrm>
            <a:off x="13335000" y="7096125"/>
            <a:ext cx="4048125" cy="838200"/>
          </a:xfrm>
          <a:prstGeom prst="rect">
            <a:avLst/>
          </a:prstGeom>
          <a:noFill/>
          <a:ln w="0">
            <a:noFill/>
          </a:ln>
        </p:spPr>
        <p:txBody>
          <a:bodyPr wrap="square" lIns="0" tIns="0" rIns="0" bIns="0" anchor="t">
            <a:noAutofit/>
          </a:bodyPr>
          <a:lstStyle>
            <a:defPPr algn="l">
              <a:defRPr sz="4425" b="1">
                <a:solidFill>
                  <a:srgbClr val="166448"/>
                </a:solidFill>
                <a:latin typeface="Aptos Bold"/>
                <a:ea typeface="Aptos Bold"/>
                <a:cs typeface="Aptos Bold"/>
              </a:defRPr>
            </a:defPPr>
          </a:lstStyle>
          <a:p>
            <a:pPr algn="l">
              <a:defRPr sz="4425" b="1">
                <a:solidFill>
                  <a:srgbClr val="166448"/>
                </a:solidFill>
                <a:latin typeface="Aptos Bold"/>
                <a:ea typeface="Aptos Bold"/>
                <a:cs typeface="Aptos Bold"/>
              </a:defRPr>
            </a:pPr>
            <a:r>
              <a:rPr sz="4425" b="1">
                <a:solidFill>
                  <a:srgbClr val="166448"/>
                </a:solidFill>
                <a:latin typeface="Aptos Bold"/>
                <a:ea typeface="Aptos Bold"/>
                <a:cs typeface="Aptos Bold"/>
              </a:rPr>
              <a:t>Làm lại</a:t>
            </a:r>
          </a:p>
        </p:txBody>
      </p:sp>
      <p:sp>
        <p:nvSpPr>
          <p:cNvPr id="7" name="GE_Caption">
            <a:extLst>
              <a:ext uri="{FF2B5EF4-FFF2-40B4-BE49-F238E27FC236}">
                <a16:creationId xmlns:a16="http://schemas.microsoft.com/office/drawing/2014/main" id="{3CC2D225-08A8-4693-A8E1-C9ECF9FAC231}"/>
              </a:ext>
            </a:extLst>
          </p:cNvPr>
          <p:cNvSpPr>
            <a:spLocks noGrp="1"/>
          </p:cNvSpPr>
          <p:nvPr/>
        </p:nvSpPr>
        <p:spPr>
          <a:xfrm>
            <a:off x="952500" y="8867775"/>
            <a:ext cx="11334750" cy="409575"/>
          </a:xfrm>
          <a:prstGeom prst="rect">
            <a:avLst/>
          </a:prstGeom>
          <a:noFill/>
          <a:ln w="0">
            <a:noFill/>
          </a:ln>
        </p:spPr>
        <p:txBody>
          <a:bodyPr wrap="square" lIns="0" tIns="0" rIns="0" bIns="0" anchor="t">
            <a:noAutofit/>
          </a:bodyPr>
          <a:lstStyle>
            <a:defPPr algn="l">
              <a:defRPr sz="1950" b="0">
                <a:solidFill>
                  <a:srgbClr val="567467"/>
                </a:solidFill>
                <a:latin typeface="Aptos"/>
                <a:ea typeface="Aptos"/>
                <a:cs typeface="Aptos"/>
              </a:defRPr>
            </a:defPPr>
          </a:lstStyle>
          <a:p>
            <a:pPr algn="l">
              <a:defRPr sz="1950" b="0">
                <a:solidFill>
                  <a:srgbClr val="567467"/>
                </a:solidFill>
                <a:latin typeface="Aptos"/>
                <a:ea typeface="Aptos"/>
                <a:cs typeface="Aptos"/>
              </a:defRPr>
            </a:pPr>
            <a:r>
              <a:rPr sz="1950" b="0">
                <a:solidFill>
                  <a:srgbClr val="567467"/>
                </a:solidFill>
                <a:latin typeface="Aptos"/>
                <a:ea typeface="Aptos"/>
                <a:cs typeface="Aptos"/>
              </a:rPr>
              <a:t>Ảnh giao diện thử nghiệm</a:t>
            </a:r>
          </a:p>
        </p:txBody>
      </p:sp>
    </p:spTree>
    <p:extLst>
      <p:ext uri="{BB962C8B-B14F-4D97-AF65-F5344CB8AC3E}">
        <p14:creationId xmlns:p14="http://schemas.microsoft.com/office/powerpoint/2010/main" val="1741758000"/>
      </p:ext>
    </p:extLst>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650" fill="hold"/>
                                        <p:tgtEl>
                                          <p:spTgt spid="3"/>
                                        </p:tgtEl>
                                        <p:attrNameLst>
                                          <p:attrName>ppt_w</p:attrName>
                                        </p:attrNameLst>
                                      </p:cBhvr>
                                      <p:tavLst>
                                        <p:tav tm="0">
                                          <p:val>
                                            <p:fltVal val="0"/>
                                          </p:val>
                                        </p:tav>
                                        <p:tav tm="100000">
                                          <p:val>
                                            <p:strVal val="#ppt_w"/>
                                          </p:val>
                                        </p:tav>
                                      </p:tavLst>
                                    </p:anim>
                                    <p:anim calcmode="lin" valueType="num">
                                      <p:cBhvr>
                                        <p:cTn id="11" dur="650" fill="hold"/>
                                        <p:tgtEl>
                                          <p:spTgt spid="3"/>
                                        </p:tgtEl>
                                        <p:attrNameLst>
                                          <p:attrName>ppt_h</p:attrName>
                                        </p:attrNameLst>
                                      </p:cBhvr>
                                      <p:tavLst>
                                        <p:tav tm="0">
                                          <p:val>
                                            <p:fltVal val="0"/>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5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p:cNvGrpSpPr/>
        <p:nvPr/>
      </p:nvGrpSpPr>
      <p:grpSpPr>
        <a:xfrm>
          <a:off x="0" y="0"/>
          <a:ext cx="0" cy="0"/>
          <a:chOff x="0" y="0"/>
          <a:chExt cx="0" cy="0"/>
        </a:xfrm>
      </p:grpSpPr>
      <p:sp>
        <p:nvSpPr>
          <p:cNvPr id="7" name="GE_Footer">
            <a:extLst>
              <a:ext uri="{FF2B5EF4-FFF2-40B4-BE49-F238E27FC236}">
                <a16:creationId xmlns:a16="http://schemas.microsoft.com/office/drawing/2014/main" id="{B0220A83-CB1D-4C4A-9ED3-2E4C4DB72ED8}"/>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BCE9CC"/>
                </a:solidFill>
                <a:latin typeface="Aptos Bold"/>
                <a:ea typeface="Aptos Bold"/>
                <a:cs typeface="Aptos Bold"/>
              </a:defRPr>
            </a:defPPr>
          </a:lstStyle>
          <a:p>
            <a:pPr algn="l">
              <a:defRPr sz="1875" b="1">
                <a:solidFill>
                  <a:srgbClr val="BCE9CC"/>
                </a:solidFill>
                <a:latin typeface="Aptos Bold"/>
                <a:ea typeface="Aptos Bold"/>
                <a:cs typeface="Aptos Bold"/>
              </a:defRPr>
            </a:pPr>
            <a:r>
              <a:rPr sz="1875" b="1">
                <a:solidFill>
                  <a:srgbClr val="BCE9CC"/>
                </a:solidFill>
                <a:latin typeface="Aptos Bold"/>
                <a:ea typeface="Aptos Bold"/>
                <a:cs typeface="Aptos Bold"/>
              </a:rPr>
              <a:t>GreenEdu</a:t>
            </a:r>
          </a:p>
        </p:txBody>
      </p:sp>
      <p:sp>
        <p:nvSpPr>
          <p:cNvPr id="2" name="GE_Title">
            <a:extLst>
              <a:ext uri="{FF2B5EF4-FFF2-40B4-BE49-F238E27FC236}">
                <a16:creationId xmlns:a16="http://schemas.microsoft.com/office/drawing/2014/main" id="{2FFE20C6-5569-4616-86CB-2AD2A04540C0}"/>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FFFFFF"/>
                </a:solidFill>
                <a:latin typeface="Aptos Bold"/>
                <a:ea typeface="Aptos Bold"/>
                <a:cs typeface="Aptos Bold"/>
              </a:defRPr>
            </a:defPPr>
          </a:lstStyle>
          <a:p>
            <a:pPr algn="l">
              <a:defRPr sz="5700" b="1">
                <a:solidFill>
                  <a:srgbClr val="FFFFFF"/>
                </a:solidFill>
                <a:latin typeface="Aptos Bold"/>
                <a:ea typeface="Aptos Bold"/>
                <a:cs typeface="Aptos Bold"/>
              </a:defRPr>
            </a:pPr>
            <a:r>
              <a:rPr sz="5700" b="1">
                <a:solidFill>
                  <a:srgbClr val="FFFFFF"/>
                </a:solidFill>
                <a:latin typeface="Aptos Bold"/>
                <a:ea typeface="Aptos Bold"/>
                <a:cs typeface="Aptos Bold"/>
              </a:rPr>
              <a:t>Khu vườn kiến thức</a:t>
            </a:r>
          </a:p>
        </p:txBody>
      </p:sp>
      <p:pic>
        <p:nvPicPr>
          <p:cNvPr id="3" name="GE_Visual" descr="Minh họa hoặc ảnh giao diện GreenEdu, nguồn trong ghi chú slide">
            <a:extLst>
              <a:ext uri="{FF2B5EF4-FFF2-40B4-BE49-F238E27FC236}">
                <a16:creationId xmlns:a16="http://schemas.microsoft.com/office/drawing/2014/main" id="{210B3BE1-2F5D-4166-8530-B8C860E11D14}"/>
              </a:ext>
            </a:extLst>
          </p:cNvPr>
          <p:cNvPicPr>
            <a:picLocks noChangeAspect="1"/>
          </p:cNvPicPr>
          <p:nvPr/>
        </p:nvPicPr>
        <p:blipFill>
          <a:blip r:embed="rId3"/>
          <a:stretch/>
        </p:blipFill>
        <p:spPr>
          <a:xfrm>
            <a:off x="3803145" y="2514600"/>
            <a:ext cx="10681709" cy="6477000"/>
          </a:xfrm>
          <a:prstGeom prst="rect">
            <a:avLst/>
          </a:prstGeom>
        </p:spPr>
      </p:pic>
      <p:sp>
        <p:nvSpPr>
          <p:cNvPr id="4" name="GE_Line1">
            <a:extLst>
              <a:ext uri="{FF2B5EF4-FFF2-40B4-BE49-F238E27FC236}">
                <a16:creationId xmlns:a16="http://schemas.microsoft.com/office/drawing/2014/main" id="{D5C083DB-B801-48EA-BDE7-10B375DD9D4A}"/>
              </a:ext>
            </a:extLst>
          </p:cNvPr>
          <p:cNvSpPr>
            <a:spLocks noGrp="1"/>
          </p:cNvSpPr>
          <p:nvPr/>
        </p:nvSpPr>
        <p:spPr>
          <a:xfrm>
            <a:off x="952500" y="1962150"/>
            <a:ext cx="8096250" cy="571500"/>
          </a:xfrm>
          <a:prstGeom prst="rect">
            <a:avLst/>
          </a:prstGeom>
          <a:noFill/>
          <a:ln w="0">
            <a:noFill/>
          </a:ln>
        </p:spPr>
        <p:txBody>
          <a:bodyPr wrap="square" lIns="0" tIns="0" rIns="0" bIns="0" anchor="t">
            <a:noAutofit/>
          </a:bodyPr>
          <a:lstStyle>
            <a:defPPr algn="l">
              <a:defRPr sz="3075" b="1">
                <a:solidFill>
                  <a:srgbClr val="BCE9CC"/>
                </a:solidFill>
                <a:latin typeface="Aptos Bold"/>
                <a:ea typeface="Aptos Bold"/>
                <a:cs typeface="Aptos Bold"/>
              </a:defRPr>
            </a:defPPr>
          </a:lstStyle>
          <a:p>
            <a:pPr algn="l">
              <a:defRPr sz="3075" b="1">
                <a:solidFill>
                  <a:srgbClr val="BCE9CC"/>
                </a:solidFill>
                <a:latin typeface="Aptos Bold"/>
                <a:ea typeface="Aptos Bold"/>
                <a:cs typeface="Aptos Bold"/>
              </a:defRPr>
            </a:pPr>
            <a:r>
              <a:rPr sz="3075" b="1">
                <a:solidFill>
                  <a:srgbClr val="BCE9CC"/>
                </a:solidFill>
                <a:latin typeface="Aptos Bold"/>
                <a:ea typeface="Aptos Bold"/>
                <a:cs typeface="Aptos Bold"/>
              </a:rPr>
              <a:t>Tiến độ theo chương</a:t>
            </a:r>
          </a:p>
        </p:txBody>
      </p:sp>
      <p:sp>
        <p:nvSpPr>
          <p:cNvPr id="5" name="GE_Line2">
            <a:extLst>
              <a:ext uri="{FF2B5EF4-FFF2-40B4-BE49-F238E27FC236}">
                <a16:creationId xmlns:a16="http://schemas.microsoft.com/office/drawing/2014/main" id="{79131336-2C66-4AFD-AEB2-E7DFFA40AF7B}"/>
              </a:ext>
            </a:extLst>
          </p:cNvPr>
          <p:cNvSpPr>
            <a:spLocks noGrp="1"/>
          </p:cNvSpPr>
          <p:nvPr/>
        </p:nvSpPr>
        <p:spPr>
          <a:xfrm>
            <a:off x="10858500" y="1962150"/>
            <a:ext cx="6477000" cy="571500"/>
          </a:xfrm>
          <a:prstGeom prst="rect">
            <a:avLst/>
          </a:prstGeom>
          <a:noFill/>
          <a:ln w="0">
            <a:noFill/>
          </a:ln>
        </p:spPr>
        <p:txBody>
          <a:bodyPr wrap="square" lIns="0" tIns="0" rIns="0" bIns="0" anchor="t">
            <a:noAutofit/>
          </a:bodyPr>
          <a:lstStyle>
            <a:defPPr algn="r">
              <a:defRPr sz="3075" b="1">
                <a:solidFill>
                  <a:srgbClr val="BCE9CC"/>
                </a:solidFill>
                <a:latin typeface="Aptos Bold"/>
                <a:ea typeface="Aptos Bold"/>
                <a:cs typeface="Aptos Bold"/>
              </a:defRPr>
            </a:defPPr>
          </a:lstStyle>
          <a:p>
            <a:pPr algn="r">
              <a:defRPr sz="3075" b="1">
                <a:solidFill>
                  <a:srgbClr val="BCE9CC"/>
                </a:solidFill>
                <a:latin typeface="Aptos Bold"/>
                <a:ea typeface="Aptos Bold"/>
                <a:cs typeface="Aptos Bold"/>
              </a:defRPr>
            </a:pPr>
            <a:r>
              <a:rPr sz="3075" b="1">
                <a:solidFill>
                  <a:srgbClr val="BCE9CC"/>
                </a:solidFill>
                <a:latin typeface="Aptos Bold"/>
                <a:ea typeface="Aptos Bold"/>
                <a:cs typeface="Aptos Bold"/>
              </a:rPr>
              <a:t>Ghi nhận nỗ lực</a:t>
            </a:r>
          </a:p>
        </p:txBody>
      </p:sp>
      <p:sp>
        <p:nvSpPr>
          <p:cNvPr id="6" name="GE_Caption">
            <a:extLst>
              <a:ext uri="{FF2B5EF4-FFF2-40B4-BE49-F238E27FC236}">
                <a16:creationId xmlns:a16="http://schemas.microsoft.com/office/drawing/2014/main" id="{98803193-826F-441F-B6D0-02986BB450C1}"/>
              </a:ext>
            </a:extLst>
          </p:cNvPr>
          <p:cNvSpPr>
            <a:spLocks noGrp="1"/>
          </p:cNvSpPr>
          <p:nvPr/>
        </p:nvSpPr>
        <p:spPr>
          <a:xfrm>
            <a:off x="952500" y="9039225"/>
            <a:ext cx="13335000" cy="400050"/>
          </a:xfrm>
          <a:prstGeom prst="rect">
            <a:avLst/>
          </a:prstGeom>
          <a:noFill/>
          <a:ln w="0">
            <a:noFill/>
          </a:ln>
        </p:spPr>
        <p:txBody>
          <a:bodyPr wrap="square" lIns="0" tIns="0" rIns="0" bIns="0" anchor="t">
            <a:noAutofit/>
          </a:bodyPr>
          <a:lstStyle>
            <a:defPPr algn="l">
              <a:defRPr sz="1950" b="0">
                <a:solidFill>
                  <a:srgbClr val="BCE9CC"/>
                </a:solidFill>
                <a:latin typeface="Aptos"/>
                <a:ea typeface="Aptos"/>
                <a:cs typeface="Aptos"/>
              </a:defRPr>
            </a:defPPr>
          </a:lstStyle>
          <a:p>
            <a:pPr algn="l">
              <a:defRPr sz="1950" b="0">
                <a:solidFill>
                  <a:srgbClr val="BCE9CC"/>
                </a:solidFill>
                <a:latin typeface="Aptos"/>
                <a:ea typeface="Aptos"/>
                <a:cs typeface="Aptos"/>
              </a:defRPr>
            </a:pPr>
            <a:r>
              <a:rPr sz="1950" b="0">
                <a:solidFill>
                  <a:srgbClr val="BCE9CC"/>
                </a:solidFill>
                <a:latin typeface="Aptos"/>
                <a:ea typeface="Aptos"/>
                <a:cs typeface="Aptos"/>
              </a:rPr>
              <a:t>Ảnh thử nghiệm với dữ liệu mẫu</a:t>
            </a:r>
          </a:p>
        </p:txBody>
      </p:sp>
    </p:spTree>
    <p:extLst>
      <p:ext uri="{BB962C8B-B14F-4D97-AF65-F5344CB8AC3E}">
        <p14:creationId xmlns:p14="http://schemas.microsoft.com/office/powerpoint/2010/main" val="651571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650" fill="hold"/>
                                        <p:tgtEl>
                                          <p:spTgt spid="3"/>
                                        </p:tgtEl>
                                        <p:attrNameLst>
                                          <p:attrName>ppt_w</p:attrName>
                                        </p:attrNameLst>
                                      </p:cBhvr>
                                      <p:tavLst>
                                        <p:tav tm="0">
                                          <p:val>
                                            <p:fltVal val="0"/>
                                          </p:val>
                                        </p:tav>
                                        <p:tav tm="100000">
                                          <p:val>
                                            <p:strVal val="#ppt_w"/>
                                          </p:val>
                                        </p:tav>
                                      </p:tavLst>
                                    </p:anim>
                                    <p:anim calcmode="lin" valueType="num">
                                      <p:cBhvr>
                                        <p:cTn id="11" dur="650" fill="hold"/>
                                        <p:tgtEl>
                                          <p:spTgt spid="3"/>
                                        </p:tgtEl>
                                        <p:attrNameLst>
                                          <p:attrName>ppt_h</p:attrName>
                                        </p:attrNameLst>
                                      </p:cBhvr>
                                      <p:tavLst>
                                        <p:tav tm="0">
                                          <p:val>
                                            <p:fltVal val="0"/>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5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7F2"/>
        </a:solidFill>
        <a:effectLst/>
      </p:bgPr>
    </p:bg>
    <p:spTree>
      <p:nvGrpSpPr>
        <p:cNvPr id="1" name=""/>
        <p:cNvGrpSpPr/>
        <p:nvPr/>
      </p:nvGrpSpPr>
      <p:grpSpPr>
        <a:xfrm>
          <a:off x="0" y="0"/>
          <a:ext cx="0" cy="0"/>
          <a:chOff x="0" y="0"/>
          <a:chExt cx="0" cy="0"/>
        </a:xfrm>
      </p:grpSpPr>
      <p:sp>
        <p:nvSpPr>
          <p:cNvPr id="9" name="GE_Footer">
            <a:extLst>
              <a:ext uri="{FF2B5EF4-FFF2-40B4-BE49-F238E27FC236}">
                <a16:creationId xmlns:a16="http://schemas.microsoft.com/office/drawing/2014/main" id="{4768CCB6-BBC0-4351-96C5-F5EA58474E21}"/>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166448"/>
                </a:solidFill>
                <a:latin typeface="Aptos Bold"/>
                <a:ea typeface="Aptos Bold"/>
                <a:cs typeface="Aptos Bold"/>
              </a:defRPr>
            </a:defPPr>
          </a:lstStyle>
          <a:p>
            <a:pPr algn="l">
              <a:defRPr sz="1875" b="1">
                <a:solidFill>
                  <a:srgbClr val="166448"/>
                </a:solidFill>
                <a:latin typeface="Aptos Bold"/>
                <a:ea typeface="Aptos Bold"/>
                <a:cs typeface="Aptos Bold"/>
              </a:defRPr>
            </a:pPr>
            <a:r>
              <a:rPr sz="1875" b="1">
                <a:solidFill>
                  <a:srgbClr val="166448"/>
                </a:solidFill>
                <a:latin typeface="Aptos Bold"/>
                <a:ea typeface="Aptos Bold"/>
                <a:cs typeface="Aptos Bold"/>
              </a:rPr>
              <a:t>GreenEdu</a:t>
            </a:r>
          </a:p>
        </p:txBody>
      </p:sp>
      <p:sp>
        <p:nvSpPr>
          <p:cNvPr id="2" name="GE_Title">
            <a:extLst>
              <a:ext uri="{FF2B5EF4-FFF2-40B4-BE49-F238E27FC236}">
                <a16:creationId xmlns:a16="http://schemas.microsoft.com/office/drawing/2014/main" id="{E4D2E05B-F02C-410E-9311-F4CF27613666}"/>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000054"/>
                </a:solidFill>
                <a:latin typeface="Aptos Bold"/>
                <a:ea typeface="Aptos Bold"/>
                <a:cs typeface="Aptos Bold"/>
              </a:defRPr>
            </a:defPPr>
          </a:lstStyle>
          <a:p>
            <a:pPr algn="l">
              <a:defRPr sz="5700" b="1">
                <a:solidFill>
                  <a:srgbClr val="000054"/>
                </a:solidFill>
                <a:latin typeface="Aptos Bold"/>
                <a:ea typeface="Aptos Bold"/>
                <a:cs typeface="Aptos Bold"/>
              </a:defRPr>
            </a:pPr>
            <a:r>
              <a:rPr sz="5700" b="1">
                <a:solidFill>
                  <a:srgbClr val="000054"/>
                </a:solidFill>
                <a:latin typeface="Aptos Bold"/>
                <a:ea typeface="Aptos Bold"/>
                <a:cs typeface="Aptos Bold"/>
              </a:rPr>
              <a:t>Giáo viên kiểm duyệt</a:t>
            </a:r>
          </a:p>
        </p:txBody>
      </p:sp>
      <p:pic>
        <p:nvPicPr>
          <p:cNvPr id="3" name="GE_Visual" descr="Minh họa hoặc ảnh giao diện GreenEdu, nguồn trong ghi chú slide">
            <a:extLst>
              <a:ext uri="{FF2B5EF4-FFF2-40B4-BE49-F238E27FC236}">
                <a16:creationId xmlns:a16="http://schemas.microsoft.com/office/drawing/2014/main" id="{EA766AA4-2F96-4EA2-8479-B96AF27683FC}"/>
              </a:ext>
            </a:extLst>
          </p:cNvPr>
          <p:cNvPicPr>
            <a:picLocks noChangeAspect="1"/>
          </p:cNvPicPr>
          <p:nvPr/>
        </p:nvPicPr>
        <p:blipFill>
          <a:blip r:embed="rId3"/>
          <a:stretch/>
        </p:blipFill>
        <p:spPr>
          <a:xfrm>
            <a:off x="1738313" y="2143125"/>
            <a:ext cx="5953125" cy="7143750"/>
          </a:xfrm>
          <a:prstGeom prst="rect">
            <a:avLst/>
          </a:prstGeom>
        </p:spPr>
      </p:pic>
      <p:sp>
        <p:nvSpPr>
          <p:cNvPr id="4" name="GE_Line1">
            <a:extLst>
              <a:ext uri="{FF2B5EF4-FFF2-40B4-BE49-F238E27FC236}">
                <a16:creationId xmlns:a16="http://schemas.microsoft.com/office/drawing/2014/main" id="{EA28AFC3-E465-4EB9-9B79-4FDC3E639313}"/>
              </a:ext>
            </a:extLst>
          </p:cNvPr>
          <p:cNvSpPr>
            <a:spLocks noGrp="1"/>
          </p:cNvSpPr>
          <p:nvPr/>
        </p:nvSpPr>
        <p:spPr>
          <a:xfrm>
            <a:off x="9620250" y="3105150"/>
            <a:ext cx="7334250" cy="952500"/>
          </a:xfrm>
          <a:prstGeom prst="rect">
            <a:avLst/>
          </a:prstGeom>
          <a:noFill/>
          <a:ln w="0">
            <a:noFill/>
          </a:ln>
        </p:spPr>
        <p:txBody>
          <a:bodyPr wrap="square" lIns="0" tIns="0" rIns="0" bIns="0" anchor="t">
            <a:noAutofit/>
          </a:bodyPr>
          <a:lstStyle>
            <a:defPPr algn="l">
              <a:defRPr sz="6075" b="1">
                <a:solidFill>
                  <a:srgbClr val="166448"/>
                </a:solidFill>
                <a:latin typeface="Aptos Bold"/>
                <a:ea typeface="Aptos Bold"/>
                <a:cs typeface="Aptos Bold"/>
              </a:defRPr>
            </a:defPPr>
          </a:lstStyle>
          <a:p>
            <a:pPr algn="l">
              <a:defRPr sz="6075" b="1">
                <a:solidFill>
                  <a:srgbClr val="166448"/>
                </a:solidFill>
                <a:latin typeface="Aptos Bold"/>
                <a:ea typeface="Aptos Bold"/>
                <a:cs typeface="Aptos Bold"/>
              </a:defRPr>
            </a:pPr>
            <a:r>
              <a:rPr sz="6075" b="1">
                <a:solidFill>
                  <a:srgbClr val="166448"/>
                </a:solidFill>
                <a:latin typeface="Aptos Bold"/>
                <a:ea typeface="Aptos Bold"/>
                <a:cs typeface="Aptos Bold"/>
              </a:rPr>
              <a:t>AI hỗ trợ</a:t>
            </a:r>
          </a:p>
        </p:txBody>
      </p:sp>
      <p:sp>
        <p:nvSpPr>
          <p:cNvPr id="5" name="GE_Detail1">
            <a:extLst>
              <a:ext uri="{FF2B5EF4-FFF2-40B4-BE49-F238E27FC236}">
                <a16:creationId xmlns:a16="http://schemas.microsoft.com/office/drawing/2014/main" id="{6890C2E3-8730-4B1D-9883-47C801D1778A}"/>
              </a:ext>
            </a:extLst>
          </p:cNvPr>
          <p:cNvSpPr>
            <a:spLocks noGrp="1"/>
          </p:cNvSpPr>
          <p:nvPr/>
        </p:nvSpPr>
        <p:spPr>
          <a:xfrm>
            <a:off x="9667875" y="4181475"/>
            <a:ext cx="7524750" cy="742950"/>
          </a:xfrm>
          <a:prstGeom prst="rect">
            <a:avLst/>
          </a:prstGeom>
          <a:noFill/>
          <a:ln w="0">
            <a:noFill/>
          </a:ln>
        </p:spPr>
        <p:txBody>
          <a:bodyPr wrap="square" lIns="0" tIns="0" rIns="0" bIns="0" anchor="t">
            <a:noAutofit/>
          </a:bodyPr>
          <a:lstStyle>
            <a:defPPr algn="l">
              <a:defRPr sz="3000" b="0">
                <a:solidFill>
                  <a:srgbClr val="163F36"/>
                </a:solidFill>
                <a:latin typeface="Aptos"/>
                <a:ea typeface="Aptos"/>
                <a:cs typeface="Aptos"/>
              </a:defRPr>
            </a:defPPr>
          </a:lstStyle>
          <a:p>
            <a:pPr algn="l">
              <a:defRPr sz="3000" b="0">
                <a:solidFill>
                  <a:srgbClr val="163F36"/>
                </a:solidFill>
                <a:latin typeface="Aptos"/>
                <a:ea typeface="Aptos"/>
                <a:cs typeface="Aptos"/>
              </a:defRPr>
            </a:pPr>
            <a:r>
              <a:rPr sz="3000" b="0">
                <a:solidFill>
                  <a:srgbClr val="163F36"/>
                </a:solidFill>
                <a:latin typeface="Aptos"/>
                <a:ea typeface="Aptos"/>
                <a:cs typeface="Aptos"/>
              </a:rPr>
              <a:t>Lập trình, câu hỏi, minh họa</a:t>
            </a:r>
          </a:p>
        </p:txBody>
      </p:sp>
      <p:sp>
        <p:nvSpPr>
          <p:cNvPr id="6" name="GE_Line2">
            <a:extLst>
              <a:ext uri="{FF2B5EF4-FFF2-40B4-BE49-F238E27FC236}">
                <a16:creationId xmlns:a16="http://schemas.microsoft.com/office/drawing/2014/main" id="{BD10789A-DC46-4935-B67E-886463D2757F}"/>
              </a:ext>
            </a:extLst>
          </p:cNvPr>
          <p:cNvSpPr>
            <a:spLocks noGrp="1"/>
          </p:cNvSpPr>
          <p:nvPr/>
        </p:nvSpPr>
        <p:spPr>
          <a:xfrm>
            <a:off x="9620250" y="6219825"/>
            <a:ext cx="7715250" cy="819150"/>
          </a:xfrm>
          <a:prstGeom prst="rect">
            <a:avLst/>
          </a:prstGeom>
          <a:noFill/>
          <a:ln w="0">
            <a:noFill/>
          </a:ln>
        </p:spPr>
        <p:txBody>
          <a:bodyPr wrap="square" lIns="0" tIns="0" rIns="0" bIns="0" anchor="t">
            <a:noAutofit/>
          </a:bodyPr>
          <a:lstStyle>
            <a:defPPr algn="l">
              <a:defRPr sz="4500" b="1">
                <a:solidFill>
                  <a:srgbClr val="000054"/>
                </a:solidFill>
                <a:latin typeface="Aptos Bold"/>
                <a:ea typeface="Aptos Bold"/>
                <a:cs typeface="Aptos Bold"/>
              </a:defRPr>
            </a:defPPr>
          </a:lstStyle>
          <a:p>
            <a:pPr algn="l">
              <a:defRPr sz="4500" b="1">
                <a:solidFill>
                  <a:srgbClr val="000054"/>
                </a:solidFill>
                <a:latin typeface="Aptos Bold"/>
                <a:ea typeface="Aptos Bold"/>
                <a:cs typeface="Aptos Bold"/>
              </a:defRPr>
            </a:pPr>
            <a:r>
              <a:rPr sz="4500" b="1">
                <a:solidFill>
                  <a:srgbClr val="000054"/>
                </a:solidFill>
                <a:latin typeface="Aptos Bold"/>
                <a:ea typeface="Aptos Bold"/>
                <a:cs typeface="Aptos Bold"/>
              </a:rPr>
              <a:t>Giáo viên quyết định</a:t>
            </a:r>
          </a:p>
        </p:txBody>
      </p:sp>
      <p:sp>
        <p:nvSpPr>
          <p:cNvPr id="7" name="GE_Detail2">
            <a:extLst>
              <a:ext uri="{FF2B5EF4-FFF2-40B4-BE49-F238E27FC236}">
                <a16:creationId xmlns:a16="http://schemas.microsoft.com/office/drawing/2014/main" id="{D81B84D8-ADFC-4959-BBD6-387E7C5743CE}"/>
              </a:ext>
            </a:extLst>
          </p:cNvPr>
          <p:cNvSpPr>
            <a:spLocks noGrp="1"/>
          </p:cNvSpPr>
          <p:nvPr/>
        </p:nvSpPr>
        <p:spPr>
          <a:xfrm>
            <a:off x="9667875" y="7162800"/>
            <a:ext cx="7048500" cy="695325"/>
          </a:xfrm>
          <a:prstGeom prst="rect">
            <a:avLst/>
          </a:prstGeom>
          <a:noFill/>
          <a:ln w="0">
            <a:noFill/>
          </a:ln>
        </p:spPr>
        <p:txBody>
          <a:bodyPr wrap="square" lIns="0" tIns="0" rIns="0" bIns="0" anchor="t">
            <a:noAutofit/>
          </a:bodyPr>
          <a:lstStyle>
            <a:defPPr algn="l">
              <a:defRPr sz="3075" b="0">
                <a:solidFill>
                  <a:srgbClr val="163F36"/>
                </a:solidFill>
                <a:latin typeface="Aptos"/>
                <a:ea typeface="Aptos"/>
                <a:cs typeface="Aptos"/>
              </a:defRPr>
            </a:defPPr>
          </a:lstStyle>
          <a:p>
            <a:pPr algn="l">
              <a:defRPr sz="3075" b="0">
                <a:solidFill>
                  <a:srgbClr val="163F36"/>
                </a:solidFill>
                <a:latin typeface="Aptos"/>
                <a:ea typeface="Aptos"/>
                <a:cs typeface="Aptos"/>
              </a:defRPr>
            </a:pPr>
            <a:r>
              <a:rPr sz="3075" b="0">
                <a:solidFill>
                  <a:srgbClr val="163F36"/>
                </a:solidFill>
                <a:latin typeface="Aptos"/>
                <a:ea typeface="Aptos"/>
                <a:cs typeface="Aptos"/>
              </a:rPr>
              <a:t>Kiến thức và đáp án</a:t>
            </a:r>
          </a:p>
        </p:txBody>
      </p:sp>
      <p:sp>
        <p:nvSpPr>
          <p:cNvPr id="8" name="GE_Caption">
            <a:extLst>
              <a:ext uri="{FF2B5EF4-FFF2-40B4-BE49-F238E27FC236}">
                <a16:creationId xmlns:a16="http://schemas.microsoft.com/office/drawing/2014/main" id="{C6B9BE49-AD32-4EF5-B6CC-10C281E61E6F}"/>
              </a:ext>
            </a:extLst>
          </p:cNvPr>
          <p:cNvSpPr>
            <a:spLocks noGrp="1"/>
          </p:cNvSpPr>
          <p:nvPr/>
        </p:nvSpPr>
        <p:spPr>
          <a:xfrm>
            <a:off x="9667875" y="8543925"/>
            <a:ext cx="7524750" cy="771525"/>
          </a:xfrm>
          <a:prstGeom prst="rect">
            <a:avLst/>
          </a:prstGeom>
          <a:noFill/>
          <a:ln w="0">
            <a:noFill/>
          </a:ln>
        </p:spPr>
        <p:txBody>
          <a:bodyPr wrap="square" lIns="0" tIns="0" rIns="0" bIns="0" anchor="t">
            <a:noAutofit/>
          </a:bodyPr>
          <a:lstStyle>
            <a:defPPr algn="l">
              <a:defRPr sz="1950" b="0">
                <a:solidFill>
                  <a:srgbClr val="567467"/>
                </a:solidFill>
                <a:latin typeface="Aptos"/>
                <a:ea typeface="Aptos"/>
                <a:cs typeface="Aptos"/>
              </a:defRPr>
            </a:defPPr>
          </a:lstStyle>
          <a:p>
            <a:pPr algn="l">
              <a:defRPr sz="1950" b="0">
                <a:solidFill>
                  <a:srgbClr val="567467"/>
                </a:solidFill>
                <a:latin typeface="Aptos"/>
                <a:ea typeface="Aptos"/>
                <a:cs typeface="Aptos"/>
              </a:defRPr>
            </a:pPr>
            <a:r>
              <a:rPr sz="1950" b="0">
                <a:solidFill>
                  <a:srgbClr val="567467"/>
                </a:solidFill>
                <a:latin typeface="Aptos"/>
                <a:ea typeface="Aptos"/>
                <a:cs typeface="Aptos"/>
              </a:rPr>
              <a:t>Gia sư AI cho học sinh đang ở bước dự kiến</a:t>
            </a:r>
          </a:p>
        </p:txBody>
      </p:sp>
    </p:spTree>
    <p:extLst>
      <p:ext uri="{BB962C8B-B14F-4D97-AF65-F5344CB8AC3E}">
        <p14:creationId xmlns:p14="http://schemas.microsoft.com/office/powerpoint/2010/main" val="2026510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650" fill="hold"/>
                                        <p:tgtEl>
                                          <p:spTgt spid="3"/>
                                        </p:tgtEl>
                                        <p:attrNameLst>
                                          <p:attrName>ppt_w</p:attrName>
                                        </p:attrNameLst>
                                      </p:cBhvr>
                                      <p:tavLst>
                                        <p:tav tm="0">
                                          <p:val>
                                            <p:fltVal val="0"/>
                                          </p:val>
                                        </p:tav>
                                        <p:tav tm="100000">
                                          <p:val>
                                            <p:strVal val="#ppt_w"/>
                                          </p:val>
                                        </p:tav>
                                      </p:tavLst>
                                    </p:anim>
                                    <p:anim calcmode="lin" valueType="num">
                                      <p:cBhvr>
                                        <p:cTn id="11" dur="650" fill="hold"/>
                                        <p:tgtEl>
                                          <p:spTgt spid="3"/>
                                        </p:tgtEl>
                                        <p:attrNameLst>
                                          <p:attrName>ppt_h</p:attrName>
                                        </p:attrNameLst>
                                      </p:cBhvr>
                                      <p:tavLst>
                                        <p:tav tm="0">
                                          <p:val>
                                            <p:fltVal val="0"/>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4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5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GE_Footer">
            <a:extLst>
              <a:ext uri="{FF2B5EF4-FFF2-40B4-BE49-F238E27FC236}">
                <a16:creationId xmlns:a16="http://schemas.microsoft.com/office/drawing/2014/main" id="{FFB7CEA8-43C1-4B9C-BBEF-68FF4C9CDFE2}"/>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166448"/>
                </a:solidFill>
                <a:latin typeface="Aptos Bold"/>
                <a:ea typeface="Aptos Bold"/>
                <a:cs typeface="Aptos Bold"/>
              </a:defRPr>
            </a:defPPr>
          </a:lstStyle>
          <a:p>
            <a:pPr algn="l">
              <a:defRPr sz="1875" b="1">
                <a:solidFill>
                  <a:srgbClr val="166448"/>
                </a:solidFill>
                <a:latin typeface="Aptos Bold"/>
                <a:ea typeface="Aptos Bold"/>
                <a:cs typeface="Aptos Bold"/>
              </a:defRPr>
            </a:pPr>
            <a:r>
              <a:rPr sz="1875" b="1">
                <a:solidFill>
                  <a:srgbClr val="166448"/>
                </a:solidFill>
                <a:latin typeface="Aptos Bold"/>
                <a:ea typeface="Aptos Bold"/>
                <a:cs typeface="Aptos Bold"/>
              </a:rPr>
              <a:t>GreenEdu</a:t>
            </a:r>
          </a:p>
        </p:txBody>
      </p:sp>
      <p:sp>
        <p:nvSpPr>
          <p:cNvPr id="2" name="GE_Title">
            <a:extLst>
              <a:ext uri="{FF2B5EF4-FFF2-40B4-BE49-F238E27FC236}">
                <a16:creationId xmlns:a16="http://schemas.microsoft.com/office/drawing/2014/main" id="{1183AAD2-704E-4F8B-9FB8-3DDEC419619C}"/>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000054"/>
                </a:solidFill>
                <a:latin typeface="Aptos Bold"/>
                <a:ea typeface="Aptos Bold"/>
                <a:cs typeface="Aptos Bold"/>
              </a:defRPr>
            </a:defPPr>
          </a:lstStyle>
          <a:p>
            <a:pPr algn="l">
              <a:defRPr sz="5700" b="1">
                <a:solidFill>
                  <a:srgbClr val="000054"/>
                </a:solidFill>
                <a:latin typeface="Aptos Bold"/>
                <a:ea typeface="Aptos Bold"/>
                <a:cs typeface="Aptos Bold"/>
              </a:defRPr>
            </a:pPr>
            <a:r>
              <a:rPr sz="5700" b="1">
                <a:solidFill>
                  <a:srgbClr val="000054"/>
                </a:solidFill>
                <a:latin typeface="Aptos Bold"/>
                <a:ea typeface="Aptos Bold"/>
                <a:cs typeface="Aptos Bold"/>
              </a:rPr>
              <a:t>Phạm vi triển khai</a:t>
            </a:r>
          </a:p>
        </p:txBody>
      </p:sp>
      <p:sp>
        <p:nvSpPr>
          <p:cNvPr id="3" name="GE_Scope">
            <a:extLst>
              <a:ext uri="{FF2B5EF4-FFF2-40B4-BE49-F238E27FC236}">
                <a16:creationId xmlns:a16="http://schemas.microsoft.com/office/drawing/2014/main" id="{10460BD4-D7BA-4314-8833-C496DA904DAA}"/>
              </a:ext>
            </a:extLst>
          </p:cNvPr>
          <p:cNvSpPr>
            <a:spLocks noGrp="1"/>
          </p:cNvSpPr>
          <p:nvPr/>
        </p:nvSpPr>
        <p:spPr>
          <a:xfrm>
            <a:off x="971550" y="2133600"/>
            <a:ext cx="8667750" cy="800100"/>
          </a:xfrm>
          <a:prstGeom prst="rect">
            <a:avLst/>
          </a:prstGeom>
          <a:noFill/>
          <a:ln w="0">
            <a:noFill/>
          </a:ln>
        </p:spPr>
        <p:txBody>
          <a:bodyPr wrap="square" lIns="0" tIns="0" rIns="0" bIns="0" anchor="t">
            <a:noAutofit/>
          </a:bodyPr>
          <a:lstStyle>
            <a:defPPr algn="l">
              <a:defRPr sz="3900" b="1">
                <a:solidFill>
                  <a:srgbClr val="166448"/>
                </a:solidFill>
                <a:latin typeface="Aptos Bold"/>
                <a:ea typeface="Aptos Bold"/>
                <a:cs typeface="Aptos Bold"/>
              </a:defRPr>
            </a:defPPr>
          </a:lstStyle>
          <a:p>
            <a:pPr algn="l">
              <a:defRPr sz="3900" b="1">
                <a:solidFill>
                  <a:srgbClr val="166448"/>
                </a:solidFill>
                <a:latin typeface="Aptos Bold"/>
                <a:ea typeface="Aptos Bold"/>
                <a:cs typeface="Aptos Bold"/>
              </a:defRPr>
            </a:pPr>
            <a:r>
              <a:rPr sz="3900" b="1">
                <a:solidFill>
                  <a:srgbClr val="166448"/>
                </a:solidFill>
                <a:latin typeface="Aptos Bold"/>
                <a:ea typeface="Aptos Bold"/>
                <a:cs typeface="Aptos Bold"/>
              </a:rPr>
              <a:t>Vật lý 11, lớp 11/2</a:t>
            </a:r>
          </a:p>
        </p:txBody>
      </p:sp>
      <p:sp>
        <p:nvSpPr>
          <p:cNvPr id="4" name="GE_Count1">
            <a:extLst>
              <a:ext uri="{FF2B5EF4-FFF2-40B4-BE49-F238E27FC236}">
                <a16:creationId xmlns:a16="http://schemas.microsoft.com/office/drawing/2014/main" id="{793871FC-EEA6-46FB-9033-045C19347D38}"/>
              </a:ext>
            </a:extLst>
          </p:cNvPr>
          <p:cNvSpPr>
            <a:spLocks noGrp="1"/>
          </p:cNvSpPr>
          <p:nvPr/>
        </p:nvSpPr>
        <p:spPr>
          <a:xfrm>
            <a:off x="1000125" y="3581400"/>
            <a:ext cx="3810000" cy="1905000"/>
          </a:xfrm>
          <a:prstGeom prst="rect">
            <a:avLst/>
          </a:prstGeom>
          <a:noFill/>
          <a:ln w="0">
            <a:noFill/>
          </a:ln>
        </p:spPr>
        <p:txBody>
          <a:bodyPr wrap="square" lIns="0" tIns="0" rIns="0" bIns="0" anchor="t">
            <a:noAutofit/>
          </a:bodyPr>
          <a:lstStyle>
            <a:defPPr algn="l">
              <a:defRPr sz="12600" b="1">
                <a:solidFill>
                  <a:srgbClr val="000054"/>
                </a:solidFill>
                <a:latin typeface="Aptos Bold"/>
                <a:ea typeface="Aptos Bold"/>
                <a:cs typeface="Aptos Bold"/>
              </a:defRPr>
            </a:defPPr>
          </a:lstStyle>
          <a:p>
            <a:pPr algn="l">
              <a:defRPr sz="12600" b="1">
                <a:solidFill>
                  <a:srgbClr val="000054"/>
                </a:solidFill>
                <a:latin typeface="Aptos Bold"/>
                <a:ea typeface="Aptos Bold"/>
                <a:cs typeface="Aptos Bold"/>
              </a:defRPr>
            </a:pPr>
            <a:r>
              <a:rPr sz="12600" b="1">
                <a:solidFill>
                  <a:srgbClr val="000054"/>
                </a:solidFill>
                <a:latin typeface="Aptos Bold"/>
                <a:ea typeface="Aptos Bold"/>
                <a:cs typeface="Aptos Bold"/>
              </a:rPr>
              <a:t>47</a:t>
            </a:r>
          </a:p>
        </p:txBody>
      </p:sp>
      <p:sp>
        <p:nvSpPr>
          <p:cNvPr id="5" name="GE_CountLabel1">
            <a:extLst>
              <a:ext uri="{FF2B5EF4-FFF2-40B4-BE49-F238E27FC236}">
                <a16:creationId xmlns:a16="http://schemas.microsoft.com/office/drawing/2014/main" id="{3489885D-83E3-4174-ACC7-75697227AB7B}"/>
              </a:ext>
            </a:extLst>
          </p:cNvPr>
          <p:cNvSpPr>
            <a:spLocks noGrp="1"/>
          </p:cNvSpPr>
          <p:nvPr/>
        </p:nvSpPr>
        <p:spPr>
          <a:xfrm>
            <a:off x="1076325" y="5524500"/>
            <a:ext cx="6762750" cy="733425"/>
          </a:xfrm>
          <a:prstGeom prst="rect">
            <a:avLst/>
          </a:prstGeom>
          <a:noFill/>
          <a:ln w="0">
            <a:noFill/>
          </a:ln>
        </p:spPr>
        <p:txBody>
          <a:bodyPr wrap="square" lIns="0" tIns="0" rIns="0" bIns="0" anchor="t">
            <a:noAutofit/>
          </a:bodyPr>
          <a:lstStyle>
            <a:defPPr algn="l">
              <a:defRPr sz="3225" b="0">
                <a:solidFill>
                  <a:srgbClr val="163F36"/>
                </a:solidFill>
                <a:latin typeface="Aptos"/>
                <a:ea typeface="Aptos"/>
                <a:cs typeface="Aptos"/>
              </a:defRPr>
            </a:defPPr>
          </a:lstStyle>
          <a:p>
            <a:pPr algn="l">
              <a:defRPr sz="3225" b="0">
                <a:solidFill>
                  <a:srgbClr val="163F36"/>
                </a:solidFill>
                <a:latin typeface="Aptos"/>
                <a:ea typeface="Aptos"/>
                <a:cs typeface="Aptos"/>
              </a:defRPr>
            </a:pPr>
            <a:r>
              <a:rPr sz="3225" b="0">
                <a:solidFill>
                  <a:srgbClr val="163F36"/>
                </a:solidFill>
                <a:latin typeface="Aptos"/>
                <a:ea typeface="Aptos"/>
                <a:cs typeface="Aptos"/>
              </a:rPr>
              <a:t>tài khoản học sinh</a:t>
            </a:r>
          </a:p>
        </p:txBody>
      </p:sp>
      <p:sp>
        <p:nvSpPr>
          <p:cNvPr id="6" name="GE_Count2">
            <a:extLst>
              <a:ext uri="{FF2B5EF4-FFF2-40B4-BE49-F238E27FC236}">
                <a16:creationId xmlns:a16="http://schemas.microsoft.com/office/drawing/2014/main" id="{1B1C404E-8E2D-49DC-83E9-2E6502E3F330}"/>
              </a:ext>
            </a:extLst>
          </p:cNvPr>
          <p:cNvSpPr>
            <a:spLocks noGrp="1"/>
          </p:cNvSpPr>
          <p:nvPr/>
        </p:nvSpPr>
        <p:spPr>
          <a:xfrm>
            <a:off x="1000125" y="6953250"/>
            <a:ext cx="2381250" cy="1428750"/>
          </a:xfrm>
          <a:prstGeom prst="rect">
            <a:avLst/>
          </a:prstGeom>
          <a:noFill/>
          <a:ln w="0">
            <a:noFill/>
          </a:ln>
        </p:spPr>
        <p:txBody>
          <a:bodyPr wrap="square" lIns="0" tIns="0" rIns="0" bIns="0" anchor="t">
            <a:noAutofit/>
          </a:bodyPr>
          <a:lstStyle>
            <a:defPPr algn="l">
              <a:defRPr sz="9450" b="1">
                <a:solidFill>
                  <a:srgbClr val="166448"/>
                </a:solidFill>
                <a:latin typeface="Aptos Bold"/>
                <a:ea typeface="Aptos Bold"/>
                <a:cs typeface="Aptos Bold"/>
              </a:defRPr>
            </a:defPPr>
          </a:lstStyle>
          <a:p>
            <a:pPr algn="l">
              <a:defRPr sz="9450" b="1">
                <a:solidFill>
                  <a:srgbClr val="166448"/>
                </a:solidFill>
                <a:latin typeface="Aptos Bold"/>
                <a:ea typeface="Aptos Bold"/>
                <a:cs typeface="Aptos Bold"/>
              </a:defRPr>
            </a:pPr>
            <a:r>
              <a:rPr sz="9450" b="1">
                <a:solidFill>
                  <a:srgbClr val="166448"/>
                </a:solidFill>
                <a:latin typeface="Aptos Bold"/>
                <a:ea typeface="Aptos Bold"/>
                <a:cs typeface="Aptos Bold"/>
              </a:rPr>
              <a:t>4</a:t>
            </a:r>
          </a:p>
        </p:txBody>
      </p:sp>
      <p:sp>
        <p:nvSpPr>
          <p:cNvPr id="7" name="GE_CountLabel2">
            <a:extLst>
              <a:ext uri="{FF2B5EF4-FFF2-40B4-BE49-F238E27FC236}">
                <a16:creationId xmlns:a16="http://schemas.microsoft.com/office/drawing/2014/main" id="{DCCB5369-E150-470E-BC33-16B1DB5F6CD2}"/>
              </a:ext>
            </a:extLst>
          </p:cNvPr>
          <p:cNvSpPr>
            <a:spLocks noGrp="1"/>
          </p:cNvSpPr>
          <p:nvPr/>
        </p:nvSpPr>
        <p:spPr>
          <a:xfrm>
            <a:off x="1076325" y="8391525"/>
            <a:ext cx="2952750" cy="552450"/>
          </a:xfrm>
          <a:prstGeom prst="rect">
            <a:avLst/>
          </a:prstGeom>
          <a:noFill/>
          <a:ln w="0">
            <a:noFill/>
          </a:ln>
        </p:spPr>
        <p:txBody>
          <a:bodyPr wrap="square" lIns="0" tIns="0" rIns="0" bIns="0" anchor="t">
            <a:noAutofit/>
          </a:bodyPr>
          <a:lstStyle>
            <a:defPPr algn="l">
              <a:defRPr sz="3000" b="0">
                <a:solidFill>
                  <a:srgbClr val="163F36"/>
                </a:solidFill>
                <a:latin typeface="Aptos"/>
                <a:ea typeface="Aptos"/>
                <a:cs typeface="Aptos"/>
              </a:defRPr>
            </a:defPPr>
          </a:lstStyle>
          <a:p>
            <a:pPr algn="l">
              <a:defRPr sz="3000" b="0">
                <a:solidFill>
                  <a:srgbClr val="163F36"/>
                </a:solidFill>
                <a:latin typeface="Aptos"/>
                <a:ea typeface="Aptos"/>
                <a:cs typeface="Aptos"/>
              </a:defRPr>
            </a:pPr>
            <a:r>
              <a:rPr sz="3000" b="0">
                <a:solidFill>
                  <a:srgbClr val="163F36"/>
                </a:solidFill>
                <a:latin typeface="Aptos"/>
                <a:ea typeface="Aptos"/>
                <a:cs typeface="Aptos"/>
              </a:rPr>
              <a:t>chương</a:t>
            </a:r>
          </a:p>
        </p:txBody>
      </p:sp>
      <p:sp>
        <p:nvSpPr>
          <p:cNvPr id="8" name="GE_Count3">
            <a:extLst>
              <a:ext uri="{FF2B5EF4-FFF2-40B4-BE49-F238E27FC236}">
                <a16:creationId xmlns:a16="http://schemas.microsoft.com/office/drawing/2014/main" id="{2D211B45-CD87-4487-83C1-907B40E91F92}"/>
              </a:ext>
            </a:extLst>
          </p:cNvPr>
          <p:cNvSpPr>
            <a:spLocks noGrp="1"/>
          </p:cNvSpPr>
          <p:nvPr/>
        </p:nvSpPr>
        <p:spPr>
          <a:xfrm>
            <a:off x="5048250" y="6953250"/>
            <a:ext cx="3524250" cy="1428750"/>
          </a:xfrm>
          <a:prstGeom prst="rect">
            <a:avLst/>
          </a:prstGeom>
          <a:noFill/>
          <a:ln w="0">
            <a:noFill/>
          </a:ln>
        </p:spPr>
        <p:txBody>
          <a:bodyPr wrap="square" lIns="0" tIns="0" rIns="0" bIns="0" anchor="t">
            <a:noAutofit/>
          </a:bodyPr>
          <a:lstStyle>
            <a:defPPr algn="l">
              <a:defRPr sz="9450" b="1">
                <a:solidFill>
                  <a:srgbClr val="166448"/>
                </a:solidFill>
                <a:latin typeface="Aptos Bold"/>
                <a:ea typeface="Aptos Bold"/>
                <a:cs typeface="Aptos Bold"/>
              </a:defRPr>
            </a:defPPr>
          </a:lstStyle>
          <a:p>
            <a:pPr algn="l">
              <a:defRPr sz="9450" b="1">
                <a:solidFill>
                  <a:srgbClr val="166448"/>
                </a:solidFill>
                <a:latin typeface="Aptos Bold"/>
                <a:ea typeface="Aptos Bold"/>
                <a:cs typeface="Aptos Bold"/>
              </a:defRPr>
            </a:pPr>
            <a:r>
              <a:rPr sz="9450" b="1">
                <a:solidFill>
                  <a:srgbClr val="166448"/>
                </a:solidFill>
                <a:latin typeface="Aptos Bold"/>
                <a:ea typeface="Aptos Bold"/>
                <a:cs typeface="Aptos Bold"/>
              </a:rPr>
              <a:t>26</a:t>
            </a:r>
          </a:p>
        </p:txBody>
      </p:sp>
      <p:sp>
        <p:nvSpPr>
          <p:cNvPr id="9" name="GE_CountLabel3">
            <a:extLst>
              <a:ext uri="{FF2B5EF4-FFF2-40B4-BE49-F238E27FC236}">
                <a16:creationId xmlns:a16="http://schemas.microsoft.com/office/drawing/2014/main" id="{783659D0-05C1-403A-BC46-1C162C7FCACE}"/>
              </a:ext>
            </a:extLst>
          </p:cNvPr>
          <p:cNvSpPr>
            <a:spLocks noGrp="1"/>
          </p:cNvSpPr>
          <p:nvPr/>
        </p:nvSpPr>
        <p:spPr>
          <a:xfrm>
            <a:off x="5143500" y="8391525"/>
            <a:ext cx="3381375" cy="552450"/>
          </a:xfrm>
          <a:prstGeom prst="rect">
            <a:avLst/>
          </a:prstGeom>
          <a:noFill/>
          <a:ln w="0">
            <a:noFill/>
          </a:ln>
        </p:spPr>
        <p:txBody>
          <a:bodyPr wrap="square" lIns="0" tIns="0" rIns="0" bIns="0" anchor="t">
            <a:noAutofit/>
          </a:bodyPr>
          <a:lstStyle>
            <a:defPPr algn="l">
              <a:defRPr sz="3000" b="0">
                <a:solidFill>
                  <a:srgbClr val="163F36"/>
                </a:solidFill>
                <a:latin typeface="Aptos"/>
                <a:ea typeface="Aptos"/>
                <a:cs typeface="Aptos"/>
              </a:defRPr>
            </a:defPPr>
          </a:lstStyle>
          <a:p>
            <a:pPr algn="l">
              <a:defRPr sz="3000" b="0">
                <a:solidFill>
                  <a:srgbClr val="163F36"/>
                </a:solidFill>
                <a:latin typeface="Aptos"/>
                <a:ea typeface="Aptos"/>
                <a:cs typeface="Aptos"/>
              </a:defRPr>
            </a:pPr>
            <a:r>
              <a:rPr sz="3000" b="0">
                <a:solidFill>
                  <a:srgbClr val="163F36"/>
                </a:solidFill>
                <a:latin typeface="Aptos"/>
                <a:ea typeface="Aptos"/>
                <a:cs typeface="Aptos"/>
              </a:rPr>
              <a:t>bài học</a:t>
            </a:r>
          </a:p>
        </p:txBody>
      </p:sp>
      <p:pic>
        <p:nvPicPr>
          <p:cNvPr id="10" name="GE_Visual" descr="Minh họa hoặc ảnh giao diện GreenEdu, nguồn trong ghi chú slide">
            <a:extLst>
              <a:ext uri="{FF2B5EF4-FFF2-40B4-BE49-F238E27FC236}">
                <a16:creationId xmlns:a16="http://schemas.microsoft.com/office/drawing/2014/main" id="{612A6125-EDED-4972-B321-3877CAA24499}"/>
              </a:ext>
            </a:extLst>
          </p:cNvPr>
          <p:cNvPicPr>
            <a:picLocks noChangeAspect="1"/>
          </p:cNvPicPr>
          <p:nvPr/>
        </p:nvPicPr>
        <p:blipFill>
          <a:blip r:embed="rId3"/>
          <a:stretch/>
        </p:blipFill>
        <p:spPr>
          <a:xfrm>
            <a:off x="8808244" y="3009900"/>
            <a:ext cx="8672513" cy="5781675"/>
          </a:xfrm>
          <a:prstGeom prst="rect">
            <a:avLst/>
          </a:prstGeom>
        </p:spPr>
      </p:pic>
      <p:sp>
        <p:nvSpPr>
          <p:cNvPr id="11" name="GE_Caption">
            <a:extLst>
              <a:ext uri="{FF2B5EF4-FFF2-40B4-BE49-F238E27FC236}">
                <a16:creationId xmlns:a16="http://schemas.microsoft.com/office/drawing/2014/main" id="{EBCE613C-E447-4A12-8D66-FD6C2BB60B0E}"/>
              </a:ext>
            </a:extLst>
          </p:cNvPr>
          <p:cNvSpPr>
            <a:spLocks noGrp="1"/>
          </p:cNvSpPr>
          <p:nvPr/>
        </p:nvSpPr>
        <p:spPr>
          <a:xfrm>
            <a:off x="9525000" y="9067800"/>
            <a:ext cx="7905750" cy="409575"/>
          </a:xfrm>
          <a:prstGeom prst="rect">
            <a:avLst/>
          </a:prstGeom>
          <a:noFill/>
          <a:ln w="0">
            <a:noFill/>
          </a:ln>
        </p:spPr>
        <p:txBody>
          <a:bodyPr wrap="square" lIns="0" tIns="0" rIns="0" bIns="0" anchor="t">
            <a:noAutofit/>
          </a:bodyPr>
          <a:lstStyle>
            <a:defPPr algn="l">
              <a:defRPr sz="1950" b="0">
                <a:solidFill>
                  <a:srgbClr val="567467"/>
                </a:solidFill>
                <a:latin typeface="Aptos"/>
                <a:ea typeface="Aptos"/>
                <a:cs typeface="Aptos"/>
              </a:defRPr>
            </a:defPPr>
          </a:lstStyle>
          <a:p>
            <a:pPr algn="l">
              <a:defRPr sz="1950" b="0">
                <a:solidFill>
                  <a:srgbClr val="567467"/>
                </a:solidFill>
                <a:latin typeface="Aptos"/>
                <a:ea typeface="Aptos"/>
                <a:cs typeface="Aptos"/>
              </a:defRPr>
            </a:pPr>
            <a:r>
              <a:rPr sz="1950" b="0">
                <a:solidFill>
                  <a:srgbClr val="567467"/>
                </a:solidFill>
                <a:latin typeface="Aptos"/>
                <a:ea typeface="Aptos"/>
                <a:cs typeface="Aptos"/>
              </a:rPr>
              <a:t>Phạm vi ghi nhận ngày 12/10/2026</a:t>
            </a:r>
          </a:p>
        </p:txBody>
      </p:sp>
    </p:spTree>
    <p:extLst>
      <p:ext uri="{BB962C8B-B14F-4D97-AF65-F5344CB8AC3E}">
        <p14:creationId xmlns:p14="http://schemas.microsoft.com/office/powerpoint/2010/main" val="16076023"/>
      </p:ext>
    </p:extLst>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50" fill="hold"/>
                                        <p:tgtEl>
                                          <p:spTgt spid="4"/>
                                        </p:tgtEl>
                                        <p:attrNameLst>
                                          <p:attrName>ppt_w</p:attrName>
                                        </p:attrNameLst>
                                      </p:cBhvr>
                                      <p:tavLst>
                                        <p:tav tm="0">
                                          <p:val>
                                            <p:fltVal val="0"/>
                                          </p:val>
                                        </p:tav>
                                        <p:tav tm="100000">
                                          <p:val>
                                            <p:strVal val="#ppt_w"/>
                                          </p:val>
                                        </p:tav>
                                      </p:tavLst>
                                    </p:anim>
                                    <p:anim calcmode="lin" valueType="num">
                                      <p:cBhvr>
                                        <p:cTn id="18" dur="550" fill="hold"/>
                                        <p:tgtEl>
                                          <p:spTgt spid="4"/>
                                        </p:tgtEl>
                                        <p:attrNameLst>
                                          <p:attrName>ppt_h</p:attrName>
                                        </p:attrNameLst>
                                      </p:cBhvr>
                                      <p:tavLst>
                                        <p:tav tm="0">
                                          <p:val>
                                            <p:fltVal val="0"/>
                                          </p:val>
                                        </p:tav>
                                        <p:tav tm="100000">
                                          <p:val>
                                            <p:strVal val="#ppt_h"/>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4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50" fill="hold"/>
                                        <p:tgtEl>
                                          <p:spTgt spid="6"/>
                                        </p:tgtEl>
                                        <p:attrNameLst>
                                          <p:attrName>ppt_w</p:attrName>
                                        </p:attrNameLst>
                                      </p:cBhvr>
                                      <p:tavLst>
                                        <p:tav tm="0">
                                          <p:val>
                                            <p:fltVal val="0"/>
                                          </p:val>
                                        </p:tav>
                                        <p:tav tm="100000">
                                          <p:val>
                                            <p:strVal val="#ppt_w"/>
                                          </p:val>
                                        </p:tav>
                                      </p:tavLst>
                                    </p:anim>
                                    <p:anim calcmode="lin" valueType="num">
                                      <p:cBhvr>
                                        <p:cTn id="27" dur="550" fill="hold"/>
                                        <p:tgtEl>
                                          <p:spTgt spid="6"/>
                                        </p:tgtEl>
                                        <p:attrNameLst>
                                          <p:attrName>ppt_h</p:attrName>
                                        </p:attrNameLst>
                                      </p:cBhvr>
                                      <p:tavLst>
                                        <p:tav tm="0">
                                          <p:val>
                                            <p:fltVal val="0"/>
                                          </p:val>
                                        </p:tav>
                                        <p:tav tm="100000">
                                          <p:val>
                                            <p:strVal val="#ppt_h"/>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4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50" fill="hold"/>
                                        <p:tgtEl>
                                          <p:spTgt spid="8"/>
                                        </p:tgtEl>
                                        <p:attrNameLst>
                                          <p:attrName>ppt_w</p:attrName>
                                        </p:attrNameLst>
                                      </p:cBhvr>
                                      <p:tavLst>
                                        <p:tav tm="0">
                                          <p:val>
                                            <p:fltVal val="0"/>
                                          </p:val>
                                        </p:tav>
                                        <p:tav tm="100000">
                                          <p:val>
                                            <p:strVal val="#ppt_w"/>
                                          </p:val>
                                        </p:tav>
                                      </p:tavLst>
                                    </p:anim>
                                    <p:anim calcmode="lin" valueType="num">
                                      <p:cBhvr>
                                        <p:cTn id="36" dur="550" fill="hold"/>
                                        <p:tgtEl>
                                          <p:spTgt spid="8"/>
                                        </p:tgtEl>
                                        <p:attrNameLst>
                                          <p:attrName>ppt_h</p:attrName>
                                        </p:attrNameLst>
                                      </p:cBhvr>
                                      <p:tavLst>
                                        <p:tav tm="0">
                                          <p:val>
                                            <p:fltVal val="0"/>
                                          </p:val>
                                        </p:tav>
                                        <p:tav tm="100000">
                                          <p:val>
                                            <p:strVal val="#ppt_h"/>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00"/>
                                        <p:tgtEl>
                                          <p:spTgt spid="9"/>
                                        </p:tgtEl>
                                      </p:cBhvr>
                                    </p:animEffect>
                                  </p:childTnLst>
                                </p:cTn>
                              </p:par>
                              <p:par>
                                <p:cTn id="40" presetID="23" presetClass="entr" presetSubtype="16"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650" fill="hold"/>
                                        <p:tgtEl>
                                          <p:spTgt spid="10"/>
                                        </p:tgtEl>
                                        <p:attrNameLst>
                                          <p:attrName>ppt_w</p:attrName>
                                        </p:attrNameLst>
                                      </p:cBhvr>
                                      <p:tavLst>
                                        <p:tav tm="0">
                                          <p:val>
                                            <p:fltVal val="0"/>
                                          </p:val>
                                        </p:tav>
                                        <p:tav tm="100000">
                                          <p:val>
                                            <p:strVal val="#ppt_w"/>
                                          </p:val>
                                        </p:tav>
                                      </p:tavLst>
                                    </p:anim>
                                    <p:anim calcmode="lin" valueType="num">
                                      <p:cBhvr>
                                        <p:cTn id="43" dur="650" fill="hold"/>
                                        <p:tgtEl>
                                          <p:spTgt spid="10"/>
                                        </p:tgtEl>
                                        <p:attrNameLst>
                                          <p:attrName>ppt_h</p:attrName>
                                        </p:attrNameLst>
                                      </p:cBhvr>
                                      <p:tavLst>
                                        <p:tav tm="0">
                                          <p:val>
                                            <p:fltVal val="0"/>
                                          </p:val>
                                        </p:tav>
                                        <p:tav tm="100000">
                                          <p:val>
                                            <p:strVal val="#ppt_h"/>
                                          </p:val>
                                        </p:tav>
                                      </p:tavLst>
                                    </p:anim>
                                  </p:childTnLst>
                                </p:cTn>
                              </p:par>
                              <p:par>
                                <p:cTn id="44" presetID="10"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GE_Footer">
            <a:extLst>
              <a:ext uri="{FF2B5EF4-FFF2-40B4-BE49-F238E27FC236}">
                <a16:creationId xmlns:a16="http://schemas.microsoft.com/office/drawing/2014/main" id="{5782CCF5-6C86-4BAA-8E2B-C31FF62DAE72}"/>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166448"/>
                </a:solidFill>
                <a:latin typeface="Aptos Bold"/>
                <a:ea typeface="Aptos Bold"/>
                <a:cs typeface="Aptos Bold"/>
              </a:defRPr>
            </a:defPPr>
          </a:lstStyle>
          <a:p>
            <a:pPr algn="l">
              <a:defRPr sz="1875" b="1">
                <a:solidFill>
                  <a:srgbClr val="166448"/>
                </a:solidFill>
                <a:latin typeface="Aptos Bold"/>
                <a:ea typeface="Aptos Bold"/>
                <a:cs typeface="Aptos Bold"/>
              </a:defRPr>
            </a:pPr>
            <a:r>
              <a:rPr sz="1875" b="1">
                <a:solidFill>
                  <a:srgbClr val="166448"/>
                </a:solidFill>
                <a:latin typeface="Aptos Bold"/>
                <a:ea typeface="Aptos Bold"/>
                <a:cs typeface="Aptos Bold"/>
              </a:rPr>
              <a:t>GreenEdu</a:t>
            </a:r>
          </a:p>
        </p:txBody>
      </p:sp>
      <p:sp>
        <p:nvSpPr>
          <p:cNvPr id="2" name="GE_Title">
            <a:extLst>
              <a:ext uri="{FF2B5EF4-FFF2-40B4-BE49-F238E27FC236}">
                <a16:creationId xmlns:a16="http://schemas.microsoft.com/office/drawing/2014/main" id="{C1F5CA79-6A9B-4223-B3FB-41AA942BB58A}"/>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000054"/>
                </a:solidFill>
                <a:latin typeface="Aptos Bold"/>
                <a:ea typeface="Aptos Bold"/>
                <a:cs typeface="Aptos Bold"/>
              </a:defRPr>
            </a:defPPr>
          </a:lstStyle>
          <a:p>
            <a:pPr algn="l">
              <a:defRPr sz="5700" b="1">
                <a:solidFill>
                  <a:srgbClr val="000054"/>
                </a:solidFill>
                <a:latin typeface="Aptos Bold"/>
                <a:ea typeface="Aptos Bold"/>
                <a:cs typeface="Aptos Bold"/>
              </a:defRPr>
            </a:pPr>
            <a:r>
              <a:rPr sz="5700" b="1">
                <a:solidFill>
                  <a:srgbClr val="000054"/>
                </a:solidFill>
                <a:latin typeface="Aptos Bold"/>
                <a:ea typeface="Aptos Bold"/>
                <a:cs typeface="Aptos Bold"/>
              </a:rPr>
              <a:t>Ngân hàng câu hỏi</a:t>
            </a:r>
          </a:p>
        </p:txBody>
      </p:sp>
      <p:sp>
        <p:nvSpPr>
          <p:cNvPr id="3" name="GE_Count1">
            <a:extLst>
              <a:ext uri="{FF2B5EF4-FFF2-40B4-BE49-F238E27FC236}">
                <a16:creationId xmlns:a16="http://schemas.microsoft.com/office/drawing/2014/main" id="{218B4AC5-79B3-4557-92C7-C10E5F73D47B}"/>
              </a:ext>
            </a:extLst>
          </p:cNvPr>
          <p:cNvSpPr>
            <a:spLocks noGrp="1"/>
          </p:cNvSpPr>
          <p:nvPr/>
        </p:nvSpPr>
        <p:spPr>
          <a:xfrm>
            <a:off x="1000125" y="2733675"/>
            <a:ext cx="5334000" cy="2000250"/>
          </a:xfrm>
          <a:prstGeom prst="rect">
            <a:avLst/>
          </a:prstGeom>
          <a:noFill/>
          <a:ln w="0">
            <a:noFill/>
          </a:ln>
        </p:spPr>
        <p:txBody>
          <a:bodyPr wrap="square" lIns="0" tIns="0" rIns="0" bIns="0" anchor="t">
            <a:noAutofit/>
          </a:bodyPr>
          <a:lstStyle>
            <a:defPPr algn="l">
              <a:defRPr sz="13425" b="1">
                <a:solidFill>
                  <a:srgbClr val="000054"/>
                </a:solidFill>
                <a:latin typeface="Aptos Bold"/>
                <a:ea typeface="Aptos Bold"/>
                <a:cs typeface="Aptos Bold"/>
              </a:defRPr>
            </a:defPPr>
          </a:lstStyle>
          <a:p>
            <a:pPr algn="l">
              <a:defRPr sz="13425" b="1">
                <a:solidFill>
                  <a:srgbClr val="000054"/>
                </a:solidFill>
                <a:latin typeface="Aptos Bold"/>
                <a:ea typeface="Aptos Bold"/>
                <a:cs typeface="Aptos Bold"/>
              </a:defRPr>
            </a:pPr>
            <a:r>
              <a:rPr sz="13425" b="1">
                <a:solidFill>
                  <a:srgbClr val="000054"/>
                </a:solidFill>
                <a:latin typeface="Aptos Bold"/>
                <a:ea typeface="Aptos Bold"/>
                <a:cs typeface="Aptos Bold"/>
              </a:rPr>
              <a:t>50</a:t>
            </a:r>
          </a:p>
        </p:txBody>
      </p:sp>
      <p:sp>
        <p:nvSpPr>
          <p:cNvPr id="4" name="GE_CountLabel1">
            <a:extLst>
              <a:ext uri="{FF2B5EF4-FFF2-40B4-BE49-F238E27FC236}">
                <a16:creationId xmlns:a16="http://schemas.microsoft.com/office/drawing/2014/main" id="{F1576F73-41E7-495C-89AF-C8E3BDF31B59}"/>
              </a:ext>
            </a:extLst>
          </p:cNvPr>
          <p:cNvSpPr>
            <a:spLocks noGrp="1"/>
          </p:cNvSpPr>
          <p:nvPr/>
        </p:nvSpPr>
        <p:spPr>
          <a:xfrm>
            <a:off x="1076325" y="4953000"/>
            <a:ext cx="7620000" cy="800100"/>
          </a:xfrm>
          <a:prstGeom prst="rect">
            <a:avLst/>
          </a:prstGeom>
          <a:noFill/>
          <a:ln w="0">
            <a:noFill/>
          </a:ln>
        </p:spPr>
        <p:txBody>
          <a:bodyPr wrap="square" lIns="0" tIns="0" rIns="0" bIns="0" anchor="t">
            <a:noAutofit/>
          </a:bodyPr>
          <a:lstStyle>
            <a:defPPr algn="l">
              <a:defRPr sz="3300" b="1">
                <a:solidFill>
                  <a:srgbClr val="166448"/>
                </a:solidFill>
                <a:latin typeface="Aptos Bold"/>
                <a:ea typeface="Aptos Bold"/>
                <a:cs typeface="Aptos Bold"/>
              </a:defRPr>
            </a:defPPr>
          </a:lstStyle>
          <a:p>
            <a:pPr algn="l">
              <a:defRPr sz="3300" b="1">
                <a:solidFill>
                  <a:srgbClr val="166448"/>
                </a:solidFill>
                <a:latin typeface="Aptos Bold"/>
                <a:ea typeface="Aptos Bold"/>
                <a:cs typeface="Aptos Bold"/>
              </a:defRPr>
            </a:pPr>
            <a:r>
              <a:rPr sz="3300" b="1">
                <a:solidFill>
                  <a:srgbClr val="166448"/>
                </a:solidFill>
                <a:latin typeface="Aptos Bold"/>
                <a:ea typeface="Aptos Bold"/>
                <a:cs typeface="Aptos Bold"/>
              </a:rPr>
              <a:t>câu Dao động điều hòa</a:t>
            </a:r>
          </a:p>
        </p:txBody>
      </p:sp>
      <p:sp>
        <p:nvSpPr>
          <p:cNvPr id="5" name="GE_Count2">
            <a:extLst>
              <a:ext uri="{FF2B5EF4-FFF2-40B4-BE49-F238E27FC236}">
                <a16:creationId xmlns:a16="http://schemas.microsoft.com/office/drawing/2014/main" id="{7244F38B-3115-4E52-8678-B5C478290294}"/>
              </a:ext>
            </a:extLst>
          </p:cNvPr>
          <p:cNvSpPr>
            <a:spLocks noGrp="1"/>
          </p:cNvSpPr>
          <p:nvPr/>
        </p:nvSpPr>
        <p:spPr>
          <a:xfrm>
            <a:off x="1000125" y="6553200"/>
            <a:ext cx="4857750" cy="1657350"/>
          </a:xfrm>
          <a:prstGeom prst="rect">
            <a:avLst/>
          </a:prstGeom>
          <a:noFill/>
          <a:ln w="0">
            <a:noFill/>
          </a:ln>
        </p:spPr>
        <p:txBody>
          <a:bodyPr wrap="square" lIns="0" tIns="0" rIns="0" bIns="0" anchor="t">
            <a:noAutofit/>
          </a:bodyPr>
          <a:lstStyle>
            <a:defPPr algn="l">
              <a:defRPr sz="10500" b="1">
                <a:solidFill>
                  <a:srgbClr val="166448"/>
                </a:solidFill>
                <a:latin typeface="Aptos Bold"/>
                <a:ea typeface="Aptos Bold"/>
                <a:cs typeface="Aptos Bold"/>
              </a:defRPr>
            </a:defPPr>
          </a:lstStyle>
          <a:p>
            <a:pPr algn="l">
              <a:defRPr sz="10500" b="1">
                <a:solidFill>
                  <a:srgbClr val="166448"/>
                </a:solidFill>
                <a:latin typeface="Aptos Bold"/>
                <a:ea typeface="Aptos Bold"/>
                <a:cs typeface="Aptos Bold"/>
              </a:defRPr>
            </a:pPr>
            <a:r>
              <a:rPr sz="10500" b="1">
                <a:solidFill>
                  <a:srgbClr val="166448"/>
                </a:solidFill>
                <a:latin typeface="Aptos Bold"/>
                <a:ea typeface="Aptos Bold"/>
                <a:cs typeface="Aptos Bold"/>
              </a:rPr>
              <a:t>10</a:t>
            </a:r>
          </a:p>
        </p:txBody>
      </p:sp>
      <p:sp>
        <p:nvSpPr>
          <p:cNvPr id="6" name="GE_CountLabel2">
            <a:extLst>
              <a:ext uri="{FF2B5EF4-FFF2-40B4-BE49-F238E27FC236}">
                <a16:creationId xmlns:a16="http://schemas.microsoft.com/office/drawing/2014/main" id="{0D21E3A6-303D-4F20-862B-C151C741F1B2}"/>
              </a:ext>
            </a:extLst>
          </p:cNvPr>
          <p:cNvSpPr>
            <a:spLocks noGrp="1"/>
          </p:cNvSpPr>
          <p:nvPr/>
        </p:nvSpPr>
        <p:spPr>
          <a:xfrm>
            <a:off x="1076325" y="8362950"/>
            <a:ext cx="7715250" cy="762000"/>
          </a:xfrm>
          <a:prstGeom prst="rect">
            <a:avLst/>
          </a:prstGeom>
          <a:noFill/>
          <a:ln w="0">
            <a:noFill/>
          </a:ln>
        </p:spPr>
        <p:txBody>
          <a:bodyPr wrap="square" lIns="0" tIns="0" rIns="0" bIns="0" anchor="t">
            <a:noAutofit/>
          </a:bodyPr>
          <a:lstStyle>
            <a:defPPr algn="l">
              <a:defRPr sz="3000" b="0">
                <a:solidFill>
                  <a:srgbClr val="163F36"/>
                </a:solidFill>
                <a:latin typeface="Aptos"/>
                <a:ea typeface="Aptos"/>
                <a:cs typeface="Aptos"/>
              </a:defRPr>
            </a:defPPr>
          </a:lstStyle>
          <a:p>
            <a:pPr algn="l">
              <a:defRPr sz="3000" b="0">
                <a:solidFill>
                  <a:srgbClr val="163F36"/>
                </a:solidFill>
                <a:latin typeface="Aptos"/>
                <a:ea typeface="Aptos"/>
                <a:cs typeface="Aptos"/>
              </a:defRPr>
            </a:pPr>
            <a:r>
              <a:rPr sz="3000" b="0">
                <a:solidFill>
                  <a:srgbClr val="163F36"/>
                </a:solidFill>
                <a:latin typeface="Aptos"/>
                <a:ea typeface="Aptos"/>
                <a:cs typeface="Aptos"/>
              </a:rPr>
              <a:t>chủ đề trong cùng một bài</a:t>
            </a:r>
          </a:p>
        </p:txBody>
      </p:sp>
      <p:pic>
        <p:nvPicPr>
          <p:cNvPr id="7" name="GE_Visual" descr="Minh họa hoặc ảnh giao diện GreenEdu, nguồn trong ghi chú slide">
            <a:extLst>
              <a:ext uri="{FF2B5EF4-FFF2-40B4-BE49-F238E27FC236}">
                <a16:creationId xmlns:a16="http://schemas.microsoft.com/office/drawing/2014/main" id="{98117B97-C499-48DA-B851-CD921A430213}"/>
              </a:ext>
            </a:extLst>
          </p:cNvPr>
          <p:cNvPicPr>
            <a:picLocks noChangeAspect="1"/>
          </p:cNvPicPr>
          <p:nvPr/>
        </p:nvPicPr>
        <p:blipFill>
          <a:blip r:embed="rId3"/>
          <a:stretch/>
        </p:blipFill>
        <p:spPr>
          <a:xfrm>
            <a:off x="9334500" y="2986267"/>
            <a:ext cx="7905750" cy="4847866"/>
          </a:xfrm>
          <a:prstGeom prst="rect">
            <a:avLst/>
          </a:prstGeom>
        </p:spPr>
      </p:pic>
      <p:sp>
        <p:nvSpPr>
          <p:cNvPr id="8" name="GE_Caption">
            <a:extLst>
              <a:ext uri="{FF2B5EF4-FFF2-40B4-BE49-F238E27FC236}">
                <a16:creationId xmlns:a16="http://schemas.microsoft.com/office/drawing/2014/main" id="{A0560A18-317E-458C-87D1-ECE3FCB22149}"/>
              </a:ext>
            </a:extLst>
          </p:cNvPr>
          <p:cNvSpPr>
            <a:spLocks noGrp="1"/>
          </p:cNvSpPr>
          <p:nvPr/>
        </p:nvSpPr>
        <p:spPr>
          <a:xfrm>
            <a:off x="9334500" y="8486775"/>
            <a:ext cx="7905750" cy="685800"/>
          </a:xfrm>
          <a:prstGeom prst="rect">
            <a:avLst/>
          </a:prstGeom>
          <a:noFill/>
          <a:ln w="0">
            <a:noFill/>
          </a:ln>
        </p:spPr>
        <p:txBody>
          <a:bodyPr wrap="square" lIns="0" tIns="0" rIns="0" bIns="0" anchor="t">
            <a:noAutofit/>
          </a:bodyPr>
          <a:lstStyle>
            <a:defPPr algn="l">
              <a:defRPr sz="1950" b="0">
                <a:solidFill>
                  <a:srgbClr val="567467"/>
                </a:solidFill>
                <a:latin typeface="Aptos"/>
                <a:ea typeface="Aptos"/>
                <a:cs typeface="Aptos"/>
              </a:defRPr>
            </a:defPPr>
          </a:lstStyle>
          <a:p>
            <a:pPr algn="l">
              <a:defRPr sz="1950" b="0">
                <a:solidFill>
                  <a:srgbClr val="567467"/>
                </a:solidFill>
                <a:latin typeface="Aptos"/>
                <a:ea typeface="Aptos"/>
                <a:cs typeface="Aptos"/>
              </a:defRPr>
            </a:pPr>
            <a:r>
              <a:rPr sz="1950" b="0">
                <a:solidFill>
                  <a:srgbClr val="567467"/>
                </a:solidFill>
                <a:latin typeface="Aptos"/>
                <a:ea typeface="Aptos"/>
                <a:cs typeface="Aptos"/>
              </a:rPr>
              <a:t>Ảnh xem trước nhập Word trong môi trường thử nghiệm</a:t>
            </a:r>
          </a:p>
        </p:txBody>
      </p:sp>
    </p:spTree>
    <p:extLst>
      <p:ext uri="{BB962C8B-B14F-4D97-AF65-F5344CB8AC3E}">
        <p14:creationId xmlns:p14="http://schemas.microsoft.com/office/powerpoint/2010/main" val="1301235562"/>
      </p:ext>
    </p:extLst>
  </p:cSld>
  <p:clrMapOvr>
    <a:masterClrMapping/>
  </p:clrMapOvr>
  <mc:AlternateContent xmlns:mc="http://schemas.openxmlformats.org/markup-compatibility/2006">
    <mc:Choice xmlns:p14="http://schemas.microsoft.com/office/powerpoint/2010/main" Requires="p14">
      <p:transition spd="med" p14:dur="700">
        <p:push/>
      </p:transition>
    </mc:Choice>
    <mc:Fallback>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50" fill="hold"/>
                                        <p:tgtEl>
                                          <p:spTgt spid="3"/>
                                        </p:tgtEl>
                                        <p:attrNameLst>
                                          <p:attrName>ppt_w</p:attrName>
                                        </p:attrNameLst>
                                      </p:cBhvr>
                                      <p:tavLst>
                                        <p:tav tm="0">
                                          <p:val>
                                            <p:fltVal val="0"/>
                                          </p:val>
                                        </p:tav>
                                        <p:tav tm="100000">
                                          <p:val>
                                            <p:strVal val="#ppt_w"/>
                                          </p:val>
                                        </p:tav>
                                      </p:tavLst>
                                    </p:anim>
                                    <p:anim calcmode="lin" valueType="num">
                                      <p:cBhvr>
                                        <p:cTn id="13" dur="550" fill="hold"/>
                                        <p:tgtEl>
                                          <p:spTgt spid="3"/>
                                        </p:tgtEl>
                                        <p:attrNameLst>
                                          <p:attrName>ppt_h</p:attrName>
                                        </p:attrNameLst>
                                      </p:cBhvr>
                                      <p:tavLst>
                                        <p:tav tm="0">
                                          <p:val>
                                            <p:fltVal val="0"/>
                                          </p:val>
                                        </p:tav>
                                        <p:tav tm="100000">
                                          <p:val>
                                            <p:strVal val="#ppt_h"/>
                                          </p:val>
                                        </p:tav>
                                      </p:tavLst>
                                    </p:anim>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50" fill="hold"/>
                                        <p:tgtEl>
                                          <p:spTgt spid="5"/>
                                        </p:tgtEl>
                                        <p:attrNameLst>
                                          <p:attrName>ppt_w</p:attrName>
                                        </p:attrNameLst>
                                      </p:cBhvr>
                                      <p:tavLst>
                                        <p:tav tm="0">
                                          <p:val>
                                            <p:fltVal val="0"/>
                                          </p:val>
                                        </p:tav>
                                        <p:tav tm="100000">
                                          <p:val>
                                            <p:strVal val="#ppt_w"/>
                                          </p:val>
                                        </p:tav>
                                      </p:tavLst>
                                    </p:anim>
                                    <p:anim calcmode="lin" valueType="num">
                                      <p:cBhvr>
                                        <p:cTn id="22" dur="550" fill="hold"/>
                                        <p:tgtEl>
                                          <p:spTgt spid="5"/>
                                        </p:tgtEl>
                                        <p:attrNameLst>
                                          <p:attrName>ppt_h</p:attrName>
                                        </p:attrNameLst>
                                      </p:cBhvr>
                                      <p:tavLst>
                                        <p:tav tm="0">
                                          <p:val>
                                            <p:fltVal val="0"/>
                                          </p:val>
                                        </p:tav>
                                        <p:tav tm="100000">
                                          <p:val>
                                            <p:strVal val="#ppt_h"/>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400"/>
                                        <p:tgtEl>
                                          <p:spTgt spid="6"/>
                                        </p:tgtEl>
                                      </p:cBhvr>
                                    </p:animEffect>
                                  </p:childTnLst>
                                </p:cTn>
                              </p:par>
                              <p:par>
                                <p:cTn id="26" presetID="23" presetClass="entr" presetSubtype="16"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650" fill="hold"/>
                                        <p:tgtEl>
                                          <p:spTgt spid="7"/>
                                        </p:tgtEl>
                                        <p:attrNameLst>
                                          <p:attrName>ppt_w</p:attrName>
                                        </p:attrNameLst>
                                      </p:cBhvr>
                                      <p:tavLst>
                                        <p:tav tm="0">
                                          <p:val>
                                            <p:fltVal val="0"/>
                                          </p:val>
                                        </p:tav>
                                        <p:tav tm="100000">
                                          <p:val>
                                            <p:strVal val="#ppt_w"/>
                                          </p:val>
                                        </p:tav>
                                      </p:tavLst>
                                    </p:anim>
                                    <p:anim calcmode="lin" valueType="num">
                                      <p:cBhvr>
                                        <p:cTn id="29" dur="650" fill="hold"/>
                                        <p:tgtEl>
                                          <p:spTgt spid="7"/>
                                        </p:tgtEl>
                                        <p:attrNameLst>
                                          <p:attrName>ppt_h</p:attrName>
                                        </p:attrNameLst>
                                      </p:cBhvr>
                                      <p:tavLst>
                                        <p:tav tm="0">
                                          <p:val>
                                            <p:fltVal val="0"/>
                                          </p:val>
                                        </p:tav>
                                        <p:tav tm="100000">
                                          <p:val>
                                            <p:strVal val="#ppt_h"/>
                                          </p:val>
                                        </p:tav>
                                      </p:tavLst>
                                    </p:anim>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7F2"/>
        </a:solidFill>
        <a:effectLst/>
      </p:bgPr>
    </p:bg>
    <p:spTree>
      <p:nvGrpSpPr>
        <p:cNvPr id="1" name=""/>
        <p:cNvGrpSpPr/>
        <p:nvPr/>
      </p:nvGrpSpPr>
      <p:grpSpPr>
        <a:xfrm>
          <a:off x="0" y="0"/>
          <a:ext cx="0" cy="0"/>
          <a:chOff x="0" y="0"/>
          <a:chExt cx="0" cy="0"/>
        </a:xfrm>
      </p:grpSpPr>
      <p:sp>
        <p:nvSpPr>
          <p:cNvPr id="9" name="GE_Footer">
            <a:extLst>
              <a:ext uri="{FF2B5EF4-FFF2-40B4-BE49-F238E27FC236}">
                <a16:creationId xmlns:a16="http://schemas.microsoft.com/office/drawing/2014/main" id="{7D3349AE-029D-4A50-B6C1-6DB1EB8AF6E7}"/>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166448"/>
                </a:solidFill>
                <a:latin typeface="Aptos Bold"/>
                <a:ea typeface="Aptos Bold"/>
                <a:cs typeface="Aptos Bold"/>
              </a:defRPr>
            </a:defPPr>
          </a:lstStyle>
          <a:p>
            <a:pPr algn="l">
              <a:defRPr sz="1875" b="1">
                <a:solidFill>
                  <a:srgbClr val="166448"/>
                </a:solidFill>
                <a:latin typeface="Aptos Bold"/>
                <a:ea typeface="Aptos Bold"/>
                <a:cs typeface="Aptos Bold"/>
              </a:defRPr>
            </a:pPr>
            <a:r>
              <a:rPr sz="1875" b="1">
                <a:solidFill>
                  <a:srgbClr val="166448"/>
                </a:solidFill>
                <a:latin typeface="Aptos Bold"/>
                <a:ea typeface="Aptos Bold"/>
                <a:cs typeface="Aptos Bold"/>
              </a:rPr>
              <a:t>GreenEdu</a:t>
            </a:r>
          </a:p>
        </p:txBody>
      </p:sp>
      <p:sp>
        <p:nvSpPr>
          <p:cNvPr id="2" name="GE_Title">
            <a:extLst>
              <a:ext uri="{FF2B5EF4-FFF2-40B4-BE49-F238E27FC236}">
                <a16:creationId xmlns:a16="http://schemas.microsoft.com/office/drawing/2014/main" id="{37ECF3CF-549F-467A-827A-53C083995A3F}"/>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000054"/>
                </a:solidFill>
                <a:latin typeface="Aptos Bold"/>
                <a:ea typeface="Aptos Bold"/>
                <a:cs typeface="Aptos Bold"/>
              </a:defRPr>
            </a:defPPr>
          </a:lstStyle>
          <a:p>
            <a:pPr algn="l">
              <a:defRPr sz="5700" b="1">
                <a:solidFill>
                  <a:srgbClr val="000054"/>
                </a:solidFill>
                <a:latin typeface="Aptos Bold"/>
                <a:ea typeface="Aptos Bold"/>
                <a:cs typeface="Aptos Bold"/>
              </a:defRPr>
            </a:pPr>
            <a:r>
              <a:rPr sz="5700" b="1">
                <a:solidFill>
                  <a:srgbClr val="000054"/>
                </a:solidFill>
                <a:latin typeface="Aptos Bold"/>
                <a:ea typeface="Aptos Bold"/>
                <a:cs typeface="Aptos Bold"/>
              </a:rPr>
              <a:t>Đánh giá và phát triển</a:t>
            </a:r>
          </a:p>
        </p:txBody>
      </p:sp>
      <p:pic>
        <p:nvPicPr>
          <p:cNvPr id="3" name="GE_Visual" descr="Minh họa hoặc ảnh giao diện GreenEdu, nguồn trong ghi chú slide">
            <a:extLst>
              <a:ext uri="{FF2B5EF4-FFF2-40B4-BE49-F238E27FC236}">
                <a16:creationId xmlns:a16="http://schemas.microsoft.com/office/drawing/2014/main" id="{D13D083B-1AF3-4694-95A6-819BB5430D53}"/>
              </a:ext>
            </a:extLst>
          </p:cNvPr>
          <p:cNvPicPr>
            <a:picLocks noChangeAspect="1"/>
          </p:cNvPicPr>
          <p:nvPr/>
        </p:nvPicPr>
        <p:blipFill>
          <a:blip r:embed="rId3"/>
          <a:stretch/>
        </p:blipFill>
        <p:spPr>
          <a:xfrm>
            <a:off x="714375" y="2898775"/>
            <a:ext cx="8334375" cy="5556250"/>
          </a:xfrm>
          <a:prstGeom prst="rect">
            <a:avLst/>
          </a:prstGeom>
        </p:spPr>
      </p:pic>
      <p:sp>
        <p:nvSpPr>
          <p:cNvPr id="4" name="GE_Line1">
            <a:extLst>
              <a:ext uri="{FF2B5EF4-FFF2-40B4-BE49-F238E27FC236}">
                <a16:creationId xmlns:a16="http://schemas.microsoft.com/office/drawing/2014/main" id="{EB13706D-A870-4A56-BA89-BF4CB97553A8}"/>
              </a:ext>
            </a:extLst>
          </p:cNvPr>
          <p:cNvSpPr>
            <a:spLocks noGrp="1"/>
          </p:cNvSpPr>
          <p:nvPr/>
        </p:nvSpPr>
        <p:spPr>
          <a:xfrm>
            <a:off x="10001250" y="2933700"/>
            <a:ext cx="7000875" cy="809625"/>
          </a:xfrm>
          <a:prstGeom prst="rect">
            <a:avLst/>
          </a:prstGeom>
          <a:noFill/>
          <a:ln w="0">
            <a:noFill/>
          </a:ln>
        </p:spPr>
        <p:txBody>
          <a:bodyPr wrap="square" lIns="0" tIns="0" rIns="0" bIns="0" anchor="t">
            <a:noAutofit/>
          </a:bodyPr>
          <a:lstStyle>
            <a:defPPr algn="l">
              <a:defRPr sz="5025" b="1">
                <a:solidFill>
                  <a:srgbClr val="166448"/>
                </a:solidFill>
                <a:latin typeface="Aptos Bold"/>
                <a:ea typeface="Aptos Bold"/>
                <a:cs typeface="Aptos Bold"/>
              </a:defRPr>
            </a:defPPr>
          </a:lstStyle>
          <a:p>
            <a:pPr algn="l">
              <a:defRPr sz="5025" b="1">
                <a:solidFill>
                  <a:srgbClr val="166448"/>
                </a:solidFill>
                <a:latin typeface="Aptos Bold"/>
                <a:ea typeface="Aptos Bold"/>
                <a:cs typeface="Aptos Bold"/>
              </a:defRPr>
            </a:pPr>
            <a:r>
              <a:rPr sz="5025" b="1">
                <a:solidFill>
                  <a:srgbClr val="166448"/>
                </a:solidFill>
                <a:latin typeface="Aptos Bold"/>
                <a:ea typeface="Aptos Bold"/>
                <a:cs typeface="Aptos Bold"/>
              </a:rPr>
              <a:t>Đo hiệu quả</a:t>
            </a:r>
          </a:p>
        </p:txBody>
      </p:sp>
      <p:sp>
        <p:nvSpPr>
          <p:cNvPr id="5" name="GE_Detail1">
            <a:extLst>
              <a:ext uri="{FF2B5EF4-FFF2-40B4-BE49-F238E27FC236}">
                <a16:creationId xmlns:a16="http://schemas.microsoft.com/office/drawing/2014/main" id="{27E09BBF-790E-433B-B146-8BCFBBCAAFCD}"/>
              </a:ext>
            </a:extLst>
          </p:cNvPr>
          <p:cNvSpPr>
            <a:spLocks noGrp="1"/>
          </p:cNvSpPr>
          <p:nvPr/>
        </p:nvSpPr>
        <p:spPr>
          <a:xfrm>
            <a:off x="10048875" y="3933825"/>
            <a:ext cx="7143750" cy="857250"/>
          </a:xfrm>
          <a:prstGeom prst="rect">
            <a:avLst/>
          </a:prstGeom>
          <a:noFill/>
          <a:ln w="0">
            <a:noFill/>
          </a:ln>
        </p:spPr>
        <p:txBody>
          <a:bodyPr wrap="square" lIns="0" tIns="0" rIns="0" bIns="0" anchor="t">
            <a:noAutofit/>
          </a:bodyPr>
          <a:lstStyle>
            <a:defPPr algn="l">
              <a:defRPr sz="3000" b="0">
                <a:solidFill>
                  <a:srgbClr val="163F36"/>
                </a:solidFill>
                <a:latin typeface="Aptos"/>
                <a:ea typeface="Aptos"/>
                <a:cs typeface="Aptos"/>
              </a:defRPr>
            </a:defPPr>
          </a:lstStyle>
          <a:p>
            <a:pPr algn="l">
              <a:defRPr sz="3000" b="0">
                <a:solidFill>
                  <a:srgbClr val="163F36"/>
                </a:solidFill>
                <a:latin typeface="Aptos"/>
                <a:ea typeface="Aptos"/>
                <a:cs typeface="Aptos"/>
              </a:defRPr>
            </a:pPr>
            <a:r>
              <a:rPr sz="3000" b="0">
                <a:solidFill>
                  <a:srgbClr val="163F36"/>
                </a:solidFill>
                <a:latin typeface="Aptos"/>
                <a:ea typeface="Aptos"/>
                <a:cs typeface="Aptos"/>
              </a:rPr>
              <a:t>Nhật kí học và tỷ lệ sửa sai</a:t>
            </a:r>
          </a:p>
        </p:txBody>
      </p:sp>
      <p:sp>
        <p:nvSpPr>
          <p:cNvPr id="6" name="GE_Line2">
            <a:extLst>
              <a:ext uri="{FF2B5EF4-FFF2-40B4-BE49-F238E27FC236}">
                <a16:creationId xmlns:a16="http://schemas.microsoft.com/office/drawing/2014/main" id="{9D8DDB01-BFAC-492D-891E-F209CB2E9A87}"/>
              </a:ext>
            </a:extLst>
          </p:cNvPr>
          <p:cNvSpPr>
            <a:spLocks noGrp="1"/>
          </p:cNvSpPr>
          <p:nvPr/>
        </p:nvSpPr>
        <p:spPr>
          <a:xfrm>
            <a:off x="10001250" y="5610225"/>
            <a:ext cx="7000875" cy="809625"/>
          </a:xfrm>
          <a:prstGeom prst="rect">
            <a:avLst/>
          </a:prstGeom>
          <a:noFill/>
          <a:ln w="0">
            <a:noFill/>
          </a:ln>
        </p:spPr>
        <p:txBody>
          <a:bodyPr wrap="square" lIns="0" tIns="0" rIns="0" bIns="0" anchor="t">
            <a:noAutofit/>
          </a:bodyPr>
          <a:lstStyle>
            <a:defPPr algn="l">
              <a:defRPr sz="5025" b="1">
                <a:solidFill>
                  <a:srgbClr val="166448"/>
                </a:solidFill>
                <a:latin typeface="Aptos Bold"/>
                <a:ea typeface="Aptos Bold"/>
                <a:cs typeface="Aptos Bold"/>
              </a:defRPr>
            </a:defPPr>
          </a:lstStyle>
          <a:p>
            <a:pPr algn="l">
              <a:defRPr sz="5025" b="1">
                <a:solidFill>
                  <a:srgbClr val="166448"/>
                </a:solidFill>
                <a:latin typeface="Aptos Bold"/>
                <a:ea typeface="Aptos Bold"/>
                <a:cs typeface="Aptos Bold"/>
              </a:defRPr>
            </a:pPr>
            <a:r>
              <a:rPr sz="5025" b="1">
                <a:solidFill>
                  <a:srgbClr val="166448"/>
                </a:solidFill>
                <a:latin typeface="Aptos Bold"/>
                <a:ea typeface="Aptos Bold"/>
                <a:cs typeface="Aptos Bold"/>
              </a:rPr>
              <a:t>Nhân rộng</a:t>
            </a:r>
          </a:p>
        </p:txBody>
      </p:sp>
      <p:sp>
        <p:nvSpPr>
          <p:cNvPr id="7" name="GE_Detail2">
            <a:extLst>
              <a:ext uri="{FF2B5EF4-FFF2-40B4-BE49-F238E27FC236}">
                <a16:creationId xmlns:a16="http://schemas.microsoft.com/office/drawing/2014/main" id="{65CB1E72-82BF-4893-AFE6-6C352933782F}"/>
              </a:ext>
            </a:extLst>
          </p:cNvPr>
          <p:cNvSpPr>
            <a:spLocks noGrp="1"/>
          </p:cNvSpPr>
          <p:nvPr/>
        </p:nvSpPr>
        <p:spPr>
          <a:xfrm>
            <a:off x="10048875" y="6610350"/>
            <a:ext cx="7143750" cy="733425"/>
          </a:xfrm>
          <a:prstGeom prst="rect">
            <a:avLst/>
          </a:prstGeom>
          <a:noFill/>
          <a:ln w="0">
            <a:noFill/>
          </a:ln>
        </p:spPr>
        <p:txBody>
          <a:bodyPr wrap="square" lIns="0" tIns="0" rIns="0" bIns="0" anchor="t">
            <a:noAutofit/>
          </a:bodyPr>
          <a:lstStyle>
            <a:defPPr algn="l">
              <a:defRPr sz="3000" b="0">
                <a:solidFill>
                  <a:srgbClr val="163F36"/>
                </a:solidFill>
                <a:latin typeface="Aptos"/>
                <a:ea typeface="Aptos"/>
                <a:cs typeface="Aptos"/>
              </a:defRPr>
            </a:defPPr>
          </a:lstStyle>
          <a:p>
            <a:pPr algn="l">
              <a:defRPr sz="3000" b="0">
                <a:solidFill>
                  <a:srgbClr val="163F36"/>
                </a:solidFill>
                <a:latin typeface="Aptos"/>
                <a:ea typeface="Aptos"/>
                <a:cs typeface="Aptos"/>
              </a:defRPr>
            </a:pPr>
            <a:r>
              <a:rPr sz="3000" b="0">
                <a:solidFill>
                  <a:srgbClr val="163F36"/>
                </a:solidFill>
                <a:latin typeface="Aptos"/>
                <a:ea typeface="Aptos"/>
                <a:cs typeface="Aptos"/>
              </a:rPr>
              <a:t>Theo lớp và môn học</a:t>
            </a:r>
          </a:p>
        </p:txBody>
      </p:sp>
      <p:sp>
        <p:nvSpPr>
          <p:cNvPr id="8" name="GE_Caption">
            <a:extLst>
              <a:ext uri="{FF2B5EF4-FFF2-40B4-BE49-F238E27FC236}">
                <a16:creationId xmlns:a16="http://schemas.microsoft.com/office/drawing/2014/main" id="{319C17EC-18EF-4ADA-8783-9CFA7650B40C}"/>
              </a:ext>
            </a:extLst>
          </p:cNvPr>
          <p:cNvSpPr>
            <a:spLocks noGrp="1"/>
          </p:cNvSpPr>
          <p:nvPr/>
        </p:nvSpPr>
        <p:spPr>
          <a:xfrm>
            <a:off x="10048875" y="8391525"/>
            <a:ext cx="7143750" cy="781050"/>
          </a:xfrm>
          <a:prstGeom prst="rect">
            <a:avLst/>
          </a:prstGeom>
          <a:noFill/>
          <a:ln w="0">
            <a:noFill/>
          </a:ln>
        </p:spPr>
        <p:txBody>
          <a:bodyPr wrap="square" lIns="0" tIns="0" rIns="0" bIns="0" anchor="t">
            <a:noAutofit/>
          </a:bodyPr>
          <a:lstStyle>
            <a:defPPr algn="l">
              <a:defRPr sz="1950" b="0">
                <a:solidFill>
                  <a:srgbClr val="567467"/>
                </a:solidFill>
                <a:latin typeface="Aptos"/>
                <a:ea typeface="Aptos"/>
                <a:cs typeface="Aptos"/>
              </a:defRPr>
            </a:defPPr>
          </a:lstStyle>
          <a:p>
            <a:pPr algn="l">
              <a:defRPr sz="1950" b="0">
                <a:solidFill>
                  <a:srgbClr val="567467"/>
                </a:solidFill>
                <a:latin typeface="Aptos"/>
                <a:ea typeface="Aptos"/>
                <a:cs typeface="Aptos"/>
              </a:defRPr>
            </a:pPr>
            <a:r>
              <a:rPr sz="1950" b="0">
                <a:solidFill>
                  <a:srgbClr val="567467"/>
                </a:solidFill>
                <a:latin typeface="Aptos"/>
                <a:ea typeface="Aptos"/>
                <a:cs typeface="Aptos"/>
              </a:rPr>
              <a:t>Chưa có số liệu so sánh kết quả học tập trước/sau</a:t>
            </a:r>
          </a:p>
        </p:txBody>
      </p:sp>
    </p:spTree>
    <p:extLst>
      <p:ext uri="{BB962C8B-B14F-4D97-AF65-F5344CB8AC3E}">
        <p14:creationId xmlns:p14="http://schemas.microsoft.com/office/powerpoint/2010/main" val="2962287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650" fill="hold"/>
                                        <p:tgtEl>
                                          <p:spTgt spid="3"/>
                                        </p:tgtEl>
                                        <p:attrNameLst>
                                          <p:attrName>ppt_w</p:attrName>
                                        </p:attrNameLst>
                                      </p:cBhvr>
                                      <p:tavLst>
                                        <p:tav tm="0">
                                          <p:val>
                                            <p:fltVal val="0"/>
                                          </p:val>
                                        </p:tav>
                                        <p:tav tm="100000">
                                          <p:val>
                                            <p:strVal val="#ppt_w"/>
                                          </p:val>
                                        </p:tav>
                                      </p:tavLst>
                                    </p:anim>
                                    <p:anim calcmode="lin" valueType="num">
                                      <p:cBhvr>
                                        <p:cTn id="11" dur="650" fill="hold"/>
                                        <p:tgtEl>
                                          <p:spTgt spid="3"/>
                                        </p:tgtEl>
                                        <p:attrNameLst>
                                          <p:attrName>ppt_h</p:attrName>
                                        </p:attrNameLst>
                                      </p:cBhvr>
                                      <p:tavLst>
                                        <p:tav tm="0">
                                          <p:val>
                                            <p:fltVal val="0"/>
                                          </p:val>
                                        </p:tav>
                                        <p:tav tm="100000">
                                          <p:val>
                                            <p:strVal val="#ppt_h"/>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4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5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p:cNvGrpSpPr/>
        <p:nvPr/>
      </p:nvGrpSpPr>
      <p:grpSpPr>
        <a:xfrm>
          <a:off x="0" y="0"/>
          <a:ext cx="0" cy="0"/>
          <a:chOff x="0" y="0"/>
          <a:chExt cx="0" cy="0"/>
        </a:xfrm>
      </p:grpSpPr>
      <p:sp>
        <p:nvSpPr>
          <p:cNvPr id="8" name="GE_Footer">
            <a:extLst>
              <a:ext uri="{FF2B5EF4-FFF2-40B4-BE49-F238E27FC236}">
                <a16:creationId xmlns:a16="http://schemas.microsoft.com/office/drawing/2014/main" id="{A063FEFB-41D8-45CC-97FA-05866A493268}"/>
              </a:ext>
            </a:extLst>
          </p:cNvPr>
          <p:cNvSpPr>
            <a:spLocks noGrp="1"/>
          </p:cNvSpPr>
          <p:nvPr/>
        </p:nvSpPr>
        <p:spPr>
          <a:xfrm>
            <a:off x="952500" y="9620250"/>
            <a:ext cx="3238500" cy="342900"/>
          </a:xfrm>
          <a:prstGeom prst="rect">
            <a:avLst/>
          </a:prstGeom>
          <a:noFill/>
          <a:ln w="0">
            <a:noFill/>
          </a:ln>
        </p:spPr>
        <p:txBody>
          <a:bodyPr wrap="square" lIns="0" tIns="0" rIns="0" bIns="0" anchor="t">
            <a:noAutofit/>
          </a:bodyPr>
          <a:lstStyle>
            <a:defPPr algn="l">
              <a:defRPr sz="1875" b="1">
                <a:solidFill>
                  <a:srgbClr val="BCE9CC"/>
                </a:solidFill>
                <a:latin typeface="Aptos Bold"/>
                <a:ea typeface="Aptos Bold"/>
                <a:cs typeface="Aptos Bold"/>
              </a:defRPr>
            </a:defPPr>
          </a:lstStyle>
          <a:p>
            <a:pPr algn="l">
              <a:defRPr sz="1875" b="1">
                <a:solidFill>
                  <a:srgbClr val="BCE9CC"/>
                </a:solidFill>
                <a:latin typeface="Aptos Bold"/>
                <a:ea typeface="Aptos Bold"/>
                <a:cs typeface="Aptos Bold"/>
              </a:defRPr>
            </a:pPr>
            <a:r>
              <a:rPr sz="1875" b="1">
                <a:solidFill>
                  <a:srgbClr val="BCE9CC"/>
                </a:solidFill>
                <a:latin typeface="Aptos Bold"/>
                <a:ea typeface="Aptos Bold"/>
                <a:cs typeface="Aptos Bold"/>
              </a:rPr>
              <a:t>GreenEdu</a:t>
            </a:r>
          </a:p>
        </p:txBody>
      </p:sp>
      <p:sp>
        <p:nvSpPr>
          <p:cNvPr id="2" name="GE_Title">
            <a:extLst>
              <a:ext uri="{FF2B5EF4-FFF2-40B4-BE49-F238E27FC236}">
                <a16:creationId xmlns:a16="http://schemas.microsoft.com/office/drawing/2014/main" id="{0DACC063-93A6-407D-8781-2148B4A7028C}"/>
              </a:ext>
            </a:extLst>
          </p:cNvPr>
          <p:cNvSpPr>
            <a:spLocks noGrp="1"/>
          </p:cNvSpPr>
          <p:nvPr/>
        </p:nvSpPr>
        <p:spPr>
          <a:xfrm>
            <a:off x="952500" y="828675"/>
            <a:ext cx="16383000" cy="1066800"/>
          </a:xfrm>
          <a:prstGeom prst="rect">
            <a:avLst/>
          </a:prstGeom>
          <a:noFill/>
          <a:ln w="0">
            <a:noFill/>
          </a:ln>
        </p:spPr>
        <p:txBody>
          <a:bodyPr wrap="square" lIns="0" tIns="0" rIns="0" bIns="0" anchor="t">
            <a:noAutofit/>
          </a:bodyPr>
          <a:lstStyle>
            <a:defPPr algn="l">
              <a:defRPr sz="5700" b="1">
                <a:solidFill>
                  <a:srgbClr val="FFFFFF"/>
                </a:solidFill>
                <a:latin typeface="Aptos Bold"/>
                <a:ea typeface="Aptos Bold"/>
                <a:cs typeface="Aptos Bold"/>
              </a:defRPr>
            </a:defPPr>
          </a:lstStyle>
          <a:p>
            <a:pPr algn="l">
              <a:defRPr sz="5700" b="1">
                <a:solidFill>
                  <a:srgbClr val="FFFFFF"/>
                </a:solidFill>
                <a:latin typeface="Aptos Bold"/>
                <a:ea typeface="Aptos Bold"/>
                <a:cs typeface="Aptos Bold"/>
              </a:defRPr>
            </a:pPr>
            <a:r>
              <a:rPr sz="5700" b="1">
                <a:solidFill>
                  <a:srgbClr val="FFFFFF"/>
                </a:solidFill>
                <a:latin typeface="Aptos Bold"/>
                <a:ea typeface="Aptos Bold"/>
                <a:cs typeface="Aptos Bold"/>
              </a:rPr>
              <a:t>Trải nghiệm GreenEdu</a:t>
            </a:r>
          </a:p>
        </p:txBody>
      </p:sp>
      <p:sp>
        <p:nvSpPr>
          <p:cNvPr id="3" name="GE_Line1">
            <a:extLst>
              <a:ext uri="{FF2B5EF4-FFF2-40B4-BE49-F238E27FC236}">
                <a16:creationId xmlns:a16="http://schemas.microsoft.com/office/drawing/2014/main" id="{F1D5F497-D38A-4813-BED2-6E031135EF0C}"/>
              </a:ext>
            </a:extLst>
          </p:cNvPr>
          <p:cNvSpPr>
            <a:spLocks noGrp="1"/>
          </p:cNvSpPr>
          <p:nvPr/>
        </p:nvSpPr>
        <p:spPr>
          <a:xfrm>
            <a:off x="952500" y="3228975"/>
            <a:ext cx="8096250" cy="1095375"/>
          </a:xfrm>
          <a:prstGeom prst="rect">
            <a:avLst/>
          </a:prstGeom>
          <a:noFill/>
          <a:ln w="0">
            <a:noFill/>
          </a:ln>
        </p:spPr>
        <p:txBody>
          <a:bodyPr wrap="square" lIns="0" tIns="0" rIns="0" bIns="0" anchor="t">
            <a:noAutofit/>
          </a:bodyPr>
          <a:lstStyle>
            <a:defPPr algn="l">
              <a:defRPr sz="7575" b="1">
                <a:solidFill>
                  <a:srgbClr val="BCE9CC"/>
                </a:solidFill>
                <a:latin typeface="Aptos Bold"/>
                <a:ea typeface="Aptos Bold"/>
                <a:cs typeface="Aptos Bold"/>
              </a:defRPr>
            </a:defPPr>
          </a:lstStyle>
          <a:p>
            <a:pPr algn="l">
              <a:defRPr sz="7575" b="1">
                <a:solidFill>
                  <a:srgbClr val="BCE9CC"/>
                </a:solidFill>
                <a:latin typeface="Aptos Bold"/>
                <a:ea typeface="Aptos Bold"/>
                <a:cs typeface="Aptos Bold"/>
              </a:defRPr>
            </a:pPr>
            <a:r>
              <a:rPr sz="7575" b="1">
                <a:solidFill>
                  <a:srgbClr val="BCE9CC"/>
                </a:solidFill>
                <a:latin typeface="Aptos Bold"/>
                <a:ea typeface="Aptos Bold"/>
                <a:cs typeface="Aptos Bold"/>
              </a:rPr>
              <a:t>Quét QR</a:t>
            </a:r>
          </a:p>
        </p:txBody>
      </p:sp>
      <p:sp>
        <p:nvSpPr>
          <p:cNvPr id="4" name="GE_Line2">
            <a:extLst>
              <a:ext uri="{FF2B5EF4-FFF2-40B4-BE49-F238E27FC236}">
                <a16:creationId xmlns:a16="http://schemas.microsoft.com/office/drawing/2014/main" id="{A3BCCB57-D0B1-4AE9-9236-6B81FCE19CCE}"/>
              </a:ext>
            </a:extLst>
          </p:cNvPr>
          <p:cNvSpPr>
            <a:spLocks noGrp="1"/>
          </p:cNvSpPr>
          <p:nvPr/>
        </p:nvSpPr>
        <p:spPr>
          <a:xfrm>
            <a:off x="1028700" y="4733925"/>
            <a:ext cx="8572500" cy="1085850"/>
          </a:xfrm>
          <a:prstGeom prst="rect">
            <a:avLst/>
          </a:prstGeom>
          <a:noFill/>
          <a:ln w="0">
            <a:noFill/>
          </a:ln>
        </p:spPr>
        <p:txBody>
          <a:bodyPr wrap="square" lIns="0" tIns="0" rIns="0" bIns="0" anchor="t">
            <a:noAutofit/>
          </a:bodyPr>
          <a:lstStyle>
            <a:defPPr algn="l">
              <a:defRPr sz="3675" b="1">
                <a:solidFill>
                  <a:srgbClr val="FFFFFF"/>
                </a:solidFill>
                <a:latin typeface="Aptos Bold"/>
                <a:ea typeface="Aptos Bold"/>
                <a:cs typeface="Aptos Bold"/>
              </a:defRPr>
            </a:defPPr>
          </a:lstStyle>
          <a:p>
            <a:pPr algn="l">
              <a:defRPr sz="3675" b="1">
                <a:solidFill>
                  <a:srgbClr val="FFFFFF"/>
                </a:solidFill>
                <a:latin typeface="Aptos Bold"/>
                <a:ea typeface="Aptos Bold"/>
                <a:cs typeface="Aptos Bold"/>
              </a:defRPr>
            </a:pPr>
            <a:r>
              <a:rPr sz="3675" b="1">
                <a:solidFill>
                  <a:srgbClr val="FFFFFF"/>
                </a:solidFill>
                <a:latin typeface="Aptos Bold"/>
                <a:ea typeface="Aptos Bold"/>
                <a:cs typeface="Aptos Bold"/>
              </a:rPr>
              <a:t>Đăng nhập tài khoản được cấp</a:t>
            </a:r>
          </a:p>
        </p:txBody>
      </p:sp>
      <p:sp>
        <p:nvSpPr>
          <p:cNvPr id="5" name="GE_URL">
            <a:extLst>
              <a:ext uri="{FF2B5EF4-FFF2-40B4-BE49-F238E27FC236}">
                <a16:creationId xmlns:a16="http://schemas.microsoft.com/office/drawing/2014/main" id="{A8618093-A5AC-404F-A3F5-3E9A67C9D576}"/>
              </a:ext>
            </a:extLst>
          </p:cNvPr>
          <p:cNvSpPr>
            <a:spLocks noGrp="1"/>
          </p:cNvSpPr>
          <p:nvPr/>
        </p:nvSpPr>
        <p:spPr>
          <a:xfrm>
            <a:off x="1038225" y="6448425"/>
            <a:ext cx="8953500" cy="752475"/>
          </a:xfrm>
          <a:prstGeom prst="rect">
            <a:avLst/>
          </a:prstGeom>
          <a:noFill/>
          <a:ln w="0">
            <a:noFill/>
          </a:ln>
        </p:spPr>
        <p:txBody>
          <a:bodyPr wrap="square" lIns="0" tIns="0" rIns="0" bIns="0" anchor="t">
            <a:noAutofit/>
          </a:bodyPr>
          <a:lstStyle>
            <a:defPPr algn="l">
              <a:defRPr sz="3600" b="0">
                <a:solidFill>
                  <a:srgbClr val="BCE9CC"/>
                </a:solidFill>
                <a:latin typeface="Aptos"/>
                <a:ea typeface="Aptos"/>
                <a:cs typeface="Aptos"/>
              </a:defRPr>
            </a:defPPr>
          </a:lstStyle>
          <a:p>
            <a:pPr algn="l">
              <a:defRPr sz="3600" b="0">
                <a:solidFill>
                  <a:srgbClr val="BCE9CC"/>
                </a:solidFill>
                <a:latin typeface="Aptos"/>
                <a:ea typeface="Aptos"/>
                <a:cs typeface="Aptos"/>
              </a:defRPr>
            </a:pPr>
            <a:r>
              <a:rPr u="sng">
                <a:hlinkClick r:id="rId3"/>
              </a:rPr>
              <a:t>greenedu.up.railway.app</a:t>
            </a:r>
          </a:p>
        </p:txBody>
      </p:sp>
      <p:sp>
        <p:nvSpPr>
          <p:cNvPr id="6" name="GE_Email">
            <a:extLst>
              <a:ext uri="{FF2B5EF4-FFF2-40B4-BE49-F238E27FC236}">
                <a16:creationId xmlns:a16="http://schemas.microsoft.com/office/drawing/2014/main" id="{49824FBC-F390-4402-BC6A-BC1C0CF595F8}"/>
              </a:ext>
            </a:extLst>
          </p:cNvPr>
          <p:cNvSpPr>
            <a:spLocks noGrp="1"/>
          </p:cNvSpPr>
          <p:nvPr/>
        </p:nvSpPr>
        <p:spPr>
          <a:xfrm>
            <a:off x="1028700" y="8486775"/>
            <a:ext cx="8858250" cy="704850"/>
          </a:xfrm>
          <a:prstGeom prst="rect">
            <a:avLst/>
          </a:prstGeom>
          <a:noFill/>
          <a:ln w="0">
            <a:noFill/>
          </a:ln>
        </p:spPr>
        <p:txBody>
          <a:bodyPr wrap="square" lIns="0" tIns="0" rIns="0" bIns="0" anchor="t">
            <a:noAutofit/>
          </a:bodyPr>
          <a:lstStyle>
            <a:defPPr algn="l">
              <a:defRPr sz="2700" b="0">
                <a:solidFill>
                  <a:srgbClr val="FFFFFF"/>
                </a:solidFill>
                <a:latin typeface="Aptos"/>
                <a:ea typeface="Aptos"/>
                <a:cs typeface="Aptos"/>
              </a:defRPr>
            </a:defPPr>
          </a:lstStyle>
          <a:p>
            <a:pPr algn="l">
              <a:defRPr sz="2700" b="0">
                <a:solidFill>
                  <a:srgbClr val="FFFFFF"/>
                </a:solidFill>
                <a:latin typeface="Aptos"/>
                <a:ea typeface="Aptos"/>
                <a:cs typeface="Aptos"/>
              </a:defRPr>
            </a:pPr>
            <a:r>
              <a:rPr>
                <a:hlinkClick r:id="rId4"/>
              </a:rPr>
              <a:t>thanhphuong.0402@gmail.com</a:t>
            </a:r>
          </a:p>
        </p:txBody>
      </p:sp>
      <p:pic>
        <p:nvPicPr>
          <p:cNvPr id="7" name="GE_QR" descr="QR truy cập GreenEdu">
            <a:extLst>
              <a:ext uri="{FF2B5EF4-FFF2-40B4-BE49-F238E27FC236}">
                <a16:creationId xmlns:a16="http://schemas.microsoft.com/office/drawing/2014/main" id="{BD3A7A01-CA71-4729-9B31-4EE8362CD137}"/>
              </a:ext>
            </a:extLst>
          </p:cNvPr>
          <p:cNvPicPr>
            <a:picLocks noChangeAspect="1"/>
          </p:cNvPicPr>
          <p:nvPr/>
        </p:nvPicPr>
        <p:blipFill>
          <a:blip r:embed="rId5"/>
          <a:stretch/>
        </p:blipFill>
        <p:spPr>
          <a:xfrm>
            <a:off x="10953750" y="2590800"/>
            <a:ext cx="6000750" cy="6000750"/>
          </a:xfrm>
          <a:prstGeom prst="rect">
            <a:avLst/>
          </a:prstGeom>
        </p:spPr>
      </p:pic>
    </p:spTree>
    <p:extLst>
      <p:ext uri="{BB962C8B-B14F-4D97-AF65-F5344CB8AC3E}">
        <p14:creationId xmlns:p14="http://schemas.microsoft.com/office/powerpoint/2010/main" val="21438933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600" fill="hold"/>
                                        <p:tgtEl>
                                          <p:spTgt spid="3"/>
                                        </p:tgtEl>
                                        <p:attrNameLst>
                                          <p:attrName>ppt_x</p:attrName>
                                        </p:attrNameLst>
                                      </p:cBhvr>
                                      <p:tavLst>
                                        <p:tav tm="0">
                                          <p:val>
                                            <p:strVal val="#ppt_x"/>
                                          </p:val>
                                        </p:tav>
                                        <p:tav tm="100000">
                                          <p:val>
                                            <p:strVal val="#ppt_x"/>
                                          </p:val>
                                        </p:tav>
                                      </p:tavLst>
                                    </p:anim>
                                    <p:anim calcmode="lin" valueType="num">
                                      <p:cBhvr additive="base">
                                        <p:cTn id="13" dur="6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5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400"/>
                                        <p:tgtEl>
                                          <p:spTgt spid="6"/>
                                        </p:tgtEl>
                                      </p:cBhvr>
                                    </p:animEffect>
                                  </p:childTnLst>
                                </p:cTn>
                              </p:par>
                              <p:par>
                                <p:cTn id="27" presetID="23" presetClass="entr" presetSubtype="16" fill="hold" nodeType="withEffect">
                                  <p:stCondLst>
                                    <p:cond delay="150"/>
                                  </p:stCondLst>
                                  <p:childTnLst>
                                    <p:set>
                                      <p:cBhvr>
                                        <p:cTn id="28" dur="1" fill="hold">
                                          <p:stCondLst>
                                            <p:cond delay="0"/>
                                          </p:stCondLst>
                                        </p:cTn>
                                        <p:tgtEl>
                                          <p:spTgt spid="7"/>
                                        </p:tgtEl>
                                        <p:attrNameLst>
                                          <p:attrName>style.visibility</p:attrName>
                                        </p:attrNameLst>
                                      </p:cBhvr>
                                      <p:to>
                                        <p:strVal val="visible"/>
                                      </p:to>
                                    </p:set>
                                    <p:anim calcmode="lin" valueType="num">
                                      <p:cBhvr>
                                        <p:cTn id="29" dur="750" fill="hold"/>
                                        <p:tgtEl>
                                          <p:spTgt spid="7"/>
                                        </p:tgtEl>
                                        <p:attrNameLst>
                                          <p:attrName>ppt_w</p:attrName>
                                        </p:attrNameLst>
                                      </p:cBhvr>
                                      <p:tavLst>
                                        <p:tav tm="0">
                                          <p:val>
                                            <p:fltVal val="0"/>
                                          </p:val>
                                        </p:tav>
                                        <p:tav tm="100000">
                                          <p:val>
                                            <p:strVal val="#ppt_w"/>
                                          </p:val>
                                        </p:tav>
                                      </p:tavLst>
                                    </p:anim>
                                    <p:anim calcmode="lin" valueType="num">
                                      <p:cBhvr>
                                        <p:cTn id="30" dur="75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CE9CC"/>
      </a:hlink>
      <a:folHlink>
        <a:srgbClr val="BCE9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1142</Words>
  <Application>Microsoft Office PowerPoint</Application>
  <DocSecurity>0</DocSecurity>
  <PresentationFormat>Custom</PresentationFormat>
  <Paragraphs>70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Aptos Bold</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Tran Phuoc Than (Mark)</cp:lastModifiedBy>
  <cp:revision>1</cp:revision>
  <dcterms:created xsi:type="dcterms:W3CDTF">2026-10-11T23:07:09Z</dcterms:created>
  <dcterms:modified xsi:type="dcterms:W3CDTF">2026-10-11T23:07:12Z</dcterms:modified>
</cp:coreProperties>
</file>